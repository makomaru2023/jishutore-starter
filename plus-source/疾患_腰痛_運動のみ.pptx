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8" r:id="rId4"/>
    <p:sldId id="260" r:id="rId6"/>
    <p:sldId id="261" r:id="rId7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74"/>
    <p:restoredTop sz="92784"/>
  </p:normalViewPr>
  <p:slideViewPr>
    <p:cSldViewPr snapToGrid="0" snapToObjects="1">
      <p:cViewPr varScale="1">
        <p:scale>
          <a:sx n="81" d="100"/>
          <a:sy n="81" d="100"/>
        </p:scale>
        <p:origin x="9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28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60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4500" b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骨盤傾斜(膝立て仰臥位)</a:t>
            </a:r>
          </a:p>
        </p:txBody>
      </p:sp>
      <p:sp>
        <p:nvSpPr>
          <p:cNvPr id="17" name="Shape 15"/>
          <p:cNvSpPr/>
          <p:nvPr/>
        </p:nvSpPr>
        <p:spPr>
          <a:xfrm>
            <a:off x="14497050" y="1807369"/>
            <a:ext cx="2743200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7550" y="1959769"/>
            <a:ext cx="236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7550" y="2331244"/>
            <a:ext cx="23622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2867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377820" y="3319179"/>
            <a:ext cx="7523318" cy="667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仰向けに寝て、両膝を立てます。足は腰幅に開きます。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097275"/>
            <a:ext cx="7712943" cy="834926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76784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374666" y="4235045"/>
            <a:ext cx="7093818" cy="742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息を吐きながら、腰を床に押しつけ骨盤を後ろに傾けます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060397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2232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16956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374666" y="5134765"/>
            <a:ext cx="6688555" cy="639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5秒キープしたら、ゆっくり力を抜きます。</a:t>
            </a:r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716342" y="658759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374666" y="6315581"/>
            <a:ext cx="6786663" cy="109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お腹の奥の筋肉(腹横筋)を使う感覚です。</a:t>
            </a:r>
            <a:endParaRPr lang="en-US" altLang="ja-JP" sz="2000" b="1" dirty="0">
              <a:solidFill>
                <a:srgbClr val="3D280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腰を守る筋肉のスイッチを入れる運動です。</a:t>
            </a:r>
          </a:p>
        </p:txBody>
      </p:sp>
      <p:sp>
        <p:nvSpPr>
          <p:cNvPr id="40" name="Shape 37"/>
          <p:cNvSpPr/>
          <p:nvPr/>
        </p:nvSpPr>
        <p:spPr>
          <a:xfrm>
            <a:off x="9527307" y="748906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9527307" y="748906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9794007" y="775576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9755907" y="775576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10374666" y="7669149"/>
            <a:ext cx="6688555" cy="764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勢いをつけず、痛みのない範囲で行ってください。</a:t>
            </a:r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B48C5DB4-C065-5B49-972C-A5F5B9F4BF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727"/>
          <a:stretch/>
        </p:blipFill>
        <p:spPr>
          <a:xfrm>
            <a:off x="486628" y="3532829"/>
            <a:ext cx="8615180" cy="404887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骨盤を動かし、腰まわりの緊張をやわらげます。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両膝抱え</a:t>
            </a:r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 × 3回</a:t>
            </a:r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81434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396688" y="3346815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097275"/>
            <a:ext cx="7712943" cy="873918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7"/>
          <p:cNvSpPr/>
          <p:nvPr/>
        </p:nvSpPr>
        <p:spPr>
          <a:xfrm>
            <a:off x="9708282" y="424161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396688" y="4259199"/>
            <a:ext cx="7093818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両膝を抱えて、ゆっくり胸に近づけます。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095562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57487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1"/>
          <p:cNvSpPr/>
          <p:nvPr/>
        </p:nvSpPr>
        <p:spPr>
          <a:xfrm>
            <a:off x="9708282" y="522231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396687" y="5239540"/>
            <a:ext cx="6688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30秒キープしたら、ゆっくり戻します。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6F9B30FD-2694-0044-B45F-F85377902FD1}"/>
              </a:ext>
            </a:extLst>
          </p:cNvPr>
          <p:cNvGrpSpPr/>
          <p:nvPr/>
        </p:nvGrpSpPr>
        <p:grpSpPr>
          <a:xfrm>
            <a:off x="9527307" y="6330887"/>
            <a:ext cx="7712943" cy="990600"/>
            <a:chOff x="9527307" y="6910388"/>
            <a:chExt cx="7712943" cy="990600"/>
          </a:xfrm>
        </p:grpSpPr>
        <p:sp>
          <p:nvSpPr>
            <p:cNvPr id="36" name="Shape 33"/>
            <p:cNvSpPr/>
            <p:nvPr/>
          </p:nvSpPr>
          <p:spPr>
            <a:xfrm>
              <a:off x="9527307" y="6910388"/>
              <a:ext cx="7712943" cy="990600"/>
            </a:xfrm>
            <a:prstGeom prst="roundRect">
              <a:avLst>
                <a:gd name="adj" fmla="val 7692"/>
              </a:avLst>
            </a:prstGeom>
            <a:solidFill>
              <a:srgbClr val="FDECE8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527307" y="6910388"/>
              <a:ext cx="57150" cy="990600"/>
            </a:xfrm>
            <a:prstGeom prst="rect">
              <a:avLst/>
            </a:prstGeom>
            <a:solidFill>
              <a:srgbClr val="E87362"/>
            </a:solidFill>
            <a:ln/>
          </p:spPr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D2EC8C07-4157-904C-9CC9-1A754141C2D3}"/>
              </a:ext>
            </a:extLst>
          </p:cNvPr>
          <p:cNvGrpSpPr/>
          <p:nvPr/>
        </p:nvGrpSpPr>
        <p:grpSpPr>
          <a:xfrm>
            <a:off x="9738322" y="6597587"/>
            <a:ext cx="533400" cy="495300"/>
            <a:chOff x="9738322" y="7159503"/>
            <a:chExt cx="533400" cy="495300"/>
          </a:xfrm>
        </p:grpSpPr>
        <p:sp>
          <p:nvSpPr>
            <p:cNvPr id="38" name="Shape 35"/>
            <p:cNvSpPr/>
            <p:nvPr/>
          </p:nvSpPr>
          <p:spPr>
            <a:xfrm>
              <a:off x="9776422" y="7159503"/>
              <a:ext cx="457200" cy="457200"/>
            </a:xfrm>
            <a:prstGeom prst="ellipse">
              <a:avLst/>
            </a:prstGeom>
            <a:solidFill>
              <a:srgbClr val="E87362"/>
            </a:solidFill>
            <a:ln/>
          </p:spPr>
        </p:sp>
        <p:sp>
          <p:nvSpPr>
            <p:cNvPr id="39" name="Text 36"/>
            <p:cNvSpPr/>
            <p:nvPr/>
          </p:nvSpPr>
          <p:spPr>
            <a:xfrm>
              <a:off x="9738322" y="7159503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!</a:t>
              </a:r>
              <a:endParaRPr lang="en-US" sz="2100" dirty="0"/>
            </a:p>
          </p:txBody>
        </p:sp>
      </p:grpSp>
      <p:sp>
        <p:nvSpPr>
          <p:cNvPr id="40" name="Text 37"/>
          <p:cNvSpPr/>
          <p:nvPr/>
        </p:nvSpPr>
        <p:spPr>
          <a:xfrm>
            <a:off x="10527431" y="6303230"/>
            <a:ext cx="6522319" cy="1084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強い痛みがある時は無理せず、片膝抱えに</a:t>
            </a:r>
            <a:endParaRPr lang="en-US" altLang="ja-JP" sz="2000" b="1" dirty="0">
              <a:solidFill>
                <a:srgbClr val="5A1F1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切り替えましょう。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腰をやさしく丸め、こわばりをほぐします。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片膝抱え</a:t>
            </a:r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各30秒</a:t>
            </a:r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仰向けに寝て、片方の膝を立てます。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1153523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両手で膝を抱えてゆっくり胸に近づけ、30秒キープ。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反対側も同様に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55882" y="5374622"/>
            <a:ext cx="7760568" cy="703459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480786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480786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53137" y="5432228"/>
            <a:ext cx="6982376" cy="693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腰の筋肉・お尻の筋肉が</a:t>
            </a: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緩み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ます。朝起きた時や寝る前に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AB395CD1-E90D-6942-93B1-960382CEBC01}"/>
              </a:ext>
            </a:extLst>
          </p:cNvPr>
          <p:cNvGrpSpPr/>
          <p:nvPr/>
        </p:nvGrpSpPr>
        <p:grpSpPr>
          <a:xfrm>
            <a:off x="9527307" y="6195497"/>
            <a:ext cx="7789143" cy="990600"/>
            <a:chOff x="9527307" y="7197030"/>
            <a:chExt cx="7789143" cy="990600"/>
          </a:xfrm>
        </p:grpSpPr>
        <p:sp>
          <p:nvSpPr>
            <p:cNvPr id="36" name="Shape 33"/>
            <p:cNvSpPr/>
            <p:nvPr/>
          </p:nvSpPr>
          <p:spPr>
            <a:xfrm>
              <a:off x="9527307" y="7197030"/>
              <a:ext cx="7789143" cy="990600"/>
            </a:xfrm>
            <a:prstGeom prst="roundRect">
              <a:avLst>
                <a:gd name="adj" fmla="val 7692"/>
              </a:avLst>
            </a:prstGeom>
            <a:solidFill>
              <a:srgbClr val="FDECE8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527307" y="7197030"/>
              <a:ext cx="57150" cy="990600"/>
            </a:xfrm>
            <a:prstGeom prst="rect">
              <a:avLst/>
            </a:prstGeom>
            <a:solidFill>
              <a:srgbClr val="E87362"/>
            </a:solidFill>
            <a:ln/>
          </p:spPr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2C5CCDB5-8BAA-1649-842C-DB71C58C4792}"/>
              </a:ext>
            </a:extLst>
          </p:cNvPr>
          <p:cNvGrpSpPr/>
          <p:nvPr/>
        </p:nvGrpSpPr>
        <p:grpSpPr>
          <a:xfrm>
            <a:off x="9708282" y="6459014"/>
            <a:ext cx="533400" cy="495300"/>
            <a:chOff x="9755907" y="7463730"/>
            <a:chExt cx="533400" cy="495300"/>
          </a:xfrm>
        </p:grpSpPr>
        <p:sp>
          <p:nvSpPr>
            <p:cNvPr id="38" name="Shape 35"/>
            <p:cNvSpPr/>
            <p:nvPr/>
          </p:nvSpPr>
          <p:spPr>
            <a:xfrm>
              <a:off x="9794007" y="7463730"/>
              <a:ext cx="457200" cy="457200"/>
            </a:xfrm>
            <a:prstGeom prst="ellipse">
              <a:avLst/>
            </a:prstGeom>
            <a:solidFill>
              <a:srgbClr val="E87362"/>
            </a:solidFill>
            <a:ln/>
          </p:spPr>
        </p:sp>
        <p:sp>
          <p:nvSpPr>
            <p:cNvPr id="39" name="Text 36"/>
            <p:cNvSpPr/>
            <p:nvPr/>
          </p:nvSpPr>
          <p:spPr>
            <a:xfrm>
              <a:off x="9755907" y="7463730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!</a:t>
              </a:r>
              <a:endParaRPr lang="en-US" sz="2100" dirty="0"/>
            </a:p>
          </p:txBody>
        </p:sp>
      </p:grpSp>
      <p:sp>
        <p:nvSpPr>
          <p:cNvPr id="40" name="Text 37"/>
          <p:cNvSpPr/>
          <p:nvPr/>
        </p:nvSpPr>
        <p:spPr>
          <a:xfrm>
            <a:off x="10453137" y="6400807"/>
            <a:ext cx="6772375" cy="716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痛みがある時は軽く引き寄せる程度で大丈夫です。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片方ずつ腰とお尻を伸ばし、こりをやわらげます。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97785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4500" b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ストレッチポールで胸を開く</a:t>
            </a:r>
          </a:p>
        </p:txBody>
      </p:sp>
      <p:sp>
        <p:nvSpPr>
          <p:cNvPr id="17" name="Shape 15"/>
          <p:cNvSpPr/>
          <p:nvPr/>
        </p:nvSpPr>
        <p:spPr>
          <a:xfrm>
            <a:off x="14353133" y="1807369"/>
            <a:ext cx="2887117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543633" y="1959769"/>
            <a:ext cx="25061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43633" y="2331244"/>
            <a:ext cx="250611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1〜2分</a:t>
            </a:r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/>
          <p:cNvPicPr>
            <a:picLocks noChangeAspect="1"/>
          </p:cNvPicPr>
          <p:nvPr/>
        </p:nvPicPr>
        <p:blipFill rotWithShape="1">
          <a:blip r:embed="rId3"/>
          <a:srcRect l="24494" r="25804" b="28715"/>
          <a:stretch/>
        </p:blipFill>
        <p:spPr>
          <a:xfrm>
            <a:off x="1398104" y="2818752"/>
            <a:ext cx="6792229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108783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2867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2867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ストレッチポール(または丸めたバスタオル)を背中の</a:t>
            </a:r>
            <a:endParaRPr lang="en-US" altLang="ja-JP" sz="2000" b="1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縦に敷き、仰向けになります。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368190"/>
            <a:ext cx="7712943" cy="603001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432625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3974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371120"/>
            <a:ext cx="6688555" cy="5973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両腕をゆっくり横に広げ、手の甲を床に近づけます。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107081"/>
            <a:ext cx="7712943" cy="9334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69006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23383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076777"/>
            <a:ext cx="6688555" cy="907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自然な呼吸で1〜2分キープし、横に転がるように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ゆっくり起き上がります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69875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41707" y="6330887"/>
            <a:ext cx="6786663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丸まった背中がリセットされる感覚を。</a:t>
            </a:r>
            <a:endParaRPr lang="en-US" altLang="ja-JP" sz="2000" b="1" dirty="0">
              <a:solidFill>
                <a:srgbClr val="3D280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めまい・しびれが出たら中止しましょう。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胸と背中を開き、丸まり姿勢を整えます。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座って開脚ストレッチ</a:t>
            </a:r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各30秒</a:t>
            </a:r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床に座り、両足を無理のない範囲で開きます。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背筋を伸ばしたまま少しだけ前に倒し、30秒キープ。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068824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84482" y="5299209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46382" y="529920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110861"/>
            <a:ext cx="6786663" cy="908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ももの裏が固いと腰に負担がかかります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柔らかくすることで腰がラクに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6" name="Shape 33"/>
          <p:cNvSpPr/>
          <p:nvPr/>
        </p:nvSpPr>
        <p:spPr>
          <a:xfrm>
            <a:off x="9527307" y="6227003"/>
            <a:ext cx="7712943" cy="1118295"/>
          </a:xfrm>
          <a:prstGeom prst="roundRect">
            <a:avLst>
              <a:gd name="adj" fmla="val 10000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57150" cy="1118294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46382" y="646870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08282" y="6468701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460757" y="6250911"/>
            <a:ext cx="6688555" cy="1018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背中を丸めない・無理に倒さない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呼吸を止めずに行ってください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内ももと腰を伸ばし、動きやすさを保ちます。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58664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肩甲骨寄せ運動</a:t>
            </a:r>
          </a:p>
        </p:txBody>
      </p:sp>
      <p:sp>
        <p:nvSpPr>
          <p:cNvPr id="15" name="Shape 13"/>
          <p:cNvSpPr/>
          <p:nvPr/>
        </p:nvSpPr>
        <p:spPr>
          <a:xfrm>
            <a:off x="13973324" y="1807369"/>
            <a:ext cx="3266926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59778" y="1959769"/>
            <a:ext cx="2894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59778" y="2331244"/>
            <a:ext cx="28940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2867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377820" y="3314401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椅子に深く座り、背筋を伸ばします。</a:t>
            </a:r>
          </a:p>
        </p:txBody>
      </p:sp>
      <p:sp>
        <p:nvSpPr>
          <p:cNvPr id="26" name="Shape 23"/>
          <p:cNvSpPr/>
          <p:nvPr/>
        </p:nvSpPr>
        <p:spPr>
          <a:xfrm>
            <a:off x="9527307" y="4097275"/>
            <a:ext cx="7712943" cy="704849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22402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377820" y="4190143"/>
            <a:ext cx="7093818" cy="604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両肩甲骨を背中の中央に寄せるように動かします。</a:t>
            </a: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B03C15D3-1373-B649-BB5E-93E867AFF31B}"/>
              </a:ext>
            </a:extLst>
          </p:cNvPr>
          <p:cNvGrpSpPr/>
          <p:nvPr/>
        </p:nvGrpSpPr>
        <p:grpSpPr>
          <a:xfrm>
            <a:off x="9527307" y="4937297"/>
            <a:ext cx="7712943" cy="781050"/>
            <a:chOff x="9527307" y="5938838"/>
            <a:chExt cx="7712943" cy="781050"/>
          </a:xfrm>
        </p:grpSpPr>
        <p:sp>
          <p:nvSpPr>
            <p:cNvPr id="30" name="Shape 27"/>
            <p:cNvSpPr/>
            <p:nvPr/>
          </p:nvSpPr>
          <p:spPr>
            <a:xfrm>
              <a:off x="9527307" y="5938838"/>
              <a:ext cx="7712943" cy="781050"/>
            </a:xfrm>
            <a:prstGeom prst="roundRect">
              <a:avLst>
                <a:gd name="adj" fmla="val 17073"/>
              </a:avLst>
            </a:prstGeom>
            <a:solidFill>
              <a:srgbClr val="FFFFFF"/>
            </a:solidFill>
            <a:ln w="9525">
              <a:solidFill>
                <a:srgbClr val="E3E6EA"/>
              </a:solidFill>
              <a:prstDash val="solid"/>
            </a:ln>
          </p:spPr>
        </p:sp>
        <p:sp>
          <p:nvSpPr>
            <p:cNvPr id="31" name="Shape 28"/>
            <p:cNvSpPr/>
            <p:nvPr/>
          </p:nvSpPr>
          <p:spPr>
            <a:xfrm>
              <a:off x="9746382" y="6100763"/>
              <a:ext cx="457200" cy="457200"/>
            </a:xfrm>
            <a:prstGeom prst="ellipse">
              <a:avLst/>
            </a:prstGeom>
            <a:solidFill>
              <a:srgbClr val="3B6EA8"/>
            </a:solidFill>
            <a:ln/>
          </p:spPr>
        </p:sp>
        <p:sp>
          <p:nvSpPr>
            <p:cNvPr id="32" name="Text 29"/>
            <p:cNvSpPr/>
            <p:nvPr/>
          </p:nvSpPr>
          <p:spPr>
            <a:xfrm>
              <a:off x="9708282" y="6065593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50" b="1" dirty="0">
                  <a:solidFill>
                    <a:srgbClr val="FFFFFF"/>
                  </a:solidFill>
                  <a:latin typeface="Georgia" pitchFamily="34" charset="0"/>
                </a:rPr>
                <a:t>３</a:t>
              </a:r>
              <a:endParaRPr lang="en-US" sz="1950" dirty="0"/>
            </a:p>
          </p:txBody>
        </p:sp>
      </p:grpSp>
      <p:sp>
        <p:nvSpPr>
          <p:cNvPr id="33" name="Text 30"/>
          <p:cNvSpPr/>
          <p:nvPr/>
        </p:nvSpPr>
        <p:spPr>
          <a:xfrm>
            <a:off x="10527432" y="506769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5秒キープしたら、ゆっくり力を抜きます。</a:t>
            </a:r>
          </a:p>
        </p:txBody>
      </p:sp>
      <p:sp>
        <p:nvSpPr>
          <p:cNvPr id="34" name="Shape 31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752622" y="6542116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714522" y="6542116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0441707" y="6342607"/>
            <a:ext cx="6786663" cy="1003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胸を張る姿勢をつくる筋肉です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猫背の改善・腰の負担軽減に。日常でも意識</a:t>
            </a: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しましょう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pic>
        <p:nvPicPr>
          <p:cNvPr id="39" name="図 38">
            <a:extLst>
              <a:ext uri="{FF2B5EF4-FFF2-40B4-BE49-F238E27FC236}">
                <a16:creationId xmlns:a16="http://schemas.microsoft.com/office/drawing/2014/main" id="{7B6E2DA7-B7EA-244D-B714-02128BE5DF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58" r="11747" b="21004"/>
          <a:stretch/>
        </p:blipFill>
        <p:spPr>
          <a:xfrm>
            <a:off x="486628" y="3069274"/>
            <a:ext cx="8615180" cy="497598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背中を伸ばし、姿勢を整えます。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膝つきプランク</a:t>
            </a:r>
          </a:p>
        </p:txBody>
      </p:sp>
      <p:sp>
        <p:nvSpPr>
          <p:cNvPr id="15" name="Shape 13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20秒 × 3セット</a:t>
            </a:r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マットの上で両肘と両膝をつきます。</a:t>
            </a:r>
          </a:p>
        </p:txBody>
      </p:sp>
      <p:sp>
        <p:nvSpPr>
          <p:cNvPr id="26" name="Shape 23"/>
          <p:cNvSpPr/>
          <p:nvPr/>
        </p:nvSpPr>
        <p:spPr>
          <a:xfrm>
            <a:off x="9527307" y="4097274"/>
            <a:ext cx="7712943" cy="110207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5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1" y="4155169"/>
            <a:ext cx="6688555" cy="936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頭からお尻まで一直線になるよう姿勢を保ち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20秒キープします。</a:t>
            </a:r>
          </a:p>
        </p:txBody>
      </p:sp>
      <p:sp>
        <p:nvSpPr>
          <p:cNvPr id="30" name="Shape 27"/>
          <p:cNvSpPr/>
          <p:nvPr/>
        </p:nvSpPr>
        <p:spPr>
          <a:xfrm>
            <a:off x="9527307" y="543553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736857" y="570982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698757" y="570982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0441707" y="5477574"/>
            <a:ext cx="6786663" cy="908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お腹全体に力を入れる感覚で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腰が反ったり丸まったりしないことが大事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4" name="Shape 31"/>
          <p:cNvSpPr/>
          <p:nvPr/>
        </p:nvSpPr>
        <p:spPr>
          <a:xfrm>
            <a:off x="9527307" y="659371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527307" y="659371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9746710" y="6876182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708610" y="687618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10536957" y="6809181"/>
            <a:ext cx="66885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腰に痛みが出たらすぐに中止しましょう。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体幹を支える力を高め、腰を安定させます。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332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 err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サイドブリッジ</a:t>
            </a:r>
            <a:endParaRPr lang="en-US" sz="4500" b="1" dirty="0">
              <a:solidFill>
                <a:srgbClr val="111418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4494371" y="1807369"/>
            <a:ext cx="2745879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4871" y="1959769"/>
            <a:ext cx="23648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4871" y="2331244"/>
            <a:ext cx="236487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altLang="ja-JP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 各20秒 × 2</a:t>
            </a:r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/>
          <p:cNvPicPr>
            <a:picLocks noChangeAspect="1"/>
          </p:cNvPicPr>
          <p:nvPr/>
        </p:nvPicPr>
        <p:blipFill rotWithShape="1">
          <a:blip r:embed="rId3"/>
          <a:srcRect l="21728" r="24623" b="26332"/>
          <a:stretch/>
        </p:blipFill>
        <p:spPr>
          <a:xfrm>
            <a:off x="1246956" y="2818752"/>
            <a:ext cx="7094524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横向きになり、下の肘と膝をつきます。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お尻を持ち上げ、体が一直線になるよう保ちます。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4992624"/>
            <a:ext cx="7712943" cy="866775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01043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1545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15454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20秒キープしたら、反対側も同じように行います。</a:t>
            </a:r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FB845E6-F5E9-B246-9DB2-2E1A2132858E}"/>
              </a:ext>
            </a:extLst>
          </p:cNvPr>
          <p:cNvGrpSpPr/>
          <p:nvPr/>
        </p:nvGrpSpPr>
        <p:grpSpPr>
          <a:xfrm>
            <a:off x="9527307" y="6123471"/>
            <a:ext cx="8461755" cy="1113938"/>
            <a:chOff x="9527307" y="6878822"/>
            <a:chExt cx="8461755" cy="1113938"/>
          </a:xfrm>
        </p:grpSpPr>
        <p:sp>
          <p:nvSpPr>
            <p:cNvPr id="36" name="Shape 33"/>
            <p:cNvSpPr/>
            <p:nvPr/>
          </p:nvSpPr>
          <p:spPr>
            <a:xfrm>
              <a:off x="9527307" y="6878822"/>
              <a:ext cx="7712943" cy="1113299"/>
            </a:xfrm>
            <a:prstGeom prst="roundRect">
              <a:avLst>
                <a:gd name="adj" fmla="val 11812"/>
              </a:avLst>
            </a:prstGeom>
            <a:solidFill>
              <a:srgbClr val="FAF1DE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721359" y="7169180"/>
              <a:ext cx="457200" cy="4572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8" name="Text 35"/>
            <p:cNvSpPr/>
            <p:nvPr/>
          </p:nvSpPr>
          <p:spPr>
            <a:xfrm>
              <a:off x="9698757" y="7184678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10241682" y="6896377"/>
              <a:ext cx="7747380" cy="109638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ja-JP" altLang="en-US" sz="2000" b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腰の横の筋肉が腰椎を守ります。</a:t>
              </a:r>
              <a:endParaRPr lang="en-US" altLang="ja-JP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ja-JP" altLang="en-US" sz="2000" b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膝をついて行うことで、負荷量を軽減できます。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体の横の筋肉を鍛え、腰を支えます。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 err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棒を使ってヒップヒンジ</a:t>
            </a:r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3"/>
            <a:ext cx="7712943" cy="926307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953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95381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1" y="3174873"/>
            <a:ext cx="6688555" cy="893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棒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傘や物干し竿でOK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を背中に沿わせ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後頭部・背中・お尻の3点に当てます。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239168"/>
            <a:ext cx="7712943" cy="101194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47991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47991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930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棒が背中から離れないよう、お尻を後ろに突き出して</a:t>
            </a:r>
            <a:endParaRPr lang="en-US" sz="2000" dirty="0">
              <a:solidFill>
                <a:srgbClr val="1114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上体を倒し、ゆっくり戻ります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336841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611131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61113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527432" y="5351128"/>
            <a:ext cx="6939063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物を拾う・床の物を取る時の「腰を守る動作」の練習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棒が離れる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腰を丸めているサイン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6" name="Shape 33"/>
          <p:cNvSpPr/>
          <p:nvPr/>
        </p:nvSpPr>
        <p:spPr>
          <a:xfrm>
            <a:off x="9527307" y="6621146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621146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46382" y="6911659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08282" y="691165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621146"/>
            <a:ext cx="668855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背中を丸めないことが大切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痛みが出たらすぐに中止しましょう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腰を守りながら股関節から曲げる方法を身につけます。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860</Words>
  <Application>Microsoft Macintosh PowerPoint</Application>
  <PresentationFormat>ユーザー設定</PresentationFormat>
  <Paragraphs>315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Yu Gothic</vt:lpstr>
      <vt:lpstr>Yu Gothic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17</cp:revision>
  <dcterms:created xsi:type="dcterms:W3CDTF">2026-04-19T20:11:14Z</dcterms:created>
  <dcterms:modified xsi:type="dcterms:W3CDTF">2026-05-04T15:47:37Z</dcterms:modified>
</cp:coreProperties>
</file>