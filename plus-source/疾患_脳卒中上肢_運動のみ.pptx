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574"/>
    <p:restoredTop sz="92784"/>
  </p:normalViewPr>
  <p:slideViewPr>
    <p:cSldViewPr snapToGrid="0" snapToObjects="1">
      <p:cViewPr varScale="1">
        <p:scale>
          <a:sx n="81" d="100"/>
          <a:sy n="81" d="100"/>
        </p:scale>
        <p:origin x="95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12817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687068"/>
            <a:ext cx="16192500" cy="19050"/>
          </a:xfrm>
          <a:prstGeom prst="rect">
            <a:avLst/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638603" y="727023"/>
            <a:ext cx="12126087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ja-JP" altLang="en-US" sz="4500" b="1">
                <a:solidFill>
                  <a:srgbClr val="11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上肢の</a:t>
            </a:r>
            <a:r>
              <a:rPr lang="en-US" sz="4500" b="1" dirty="0" err="1">
                <a:solidFill>
                  <a:srgbClr val="11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ポジショニング</a:t>
            </a:r>
            <a:endParaRPr lang="en-US" sz="4500" dirty="0"/>
          </a:p>
        </p:txBody>
      </p:sp>
      <p:sp>
        <p:nvSpPr>
          <p:cNvPr id="17" name="Shape 15"/>
          <p:cNvSpPr/>
          <p:nvPr/>
        </p:nvSpPr>
        <p:spPr>
          <a:xfrm>
            <a:off x="14497050" y="1807369"/>
            <a:ext cx="2743200" cy="1147763"/>
          </a:xfrm>
          <a:prstGeom prst="roundRect">
            <a:avLst>
              <a:gd name="adj" fmla="val 11618"/>
            </a:avLst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4687550" y="1959769"/>
            <a:ext cx="23622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kern="0" spc="324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回数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87550" y="2331244"/>
            <a:ext cx="2362200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起床・就寝時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398718" y="2674620"/>
            <a:ext cx="8791001" cy="5765292"/>
          </a:xfrm>
          <a:prstGeom prst="roundRect">
            <a:avLst>
              <a:gd name="adj" fmla="val 2736"/>
            </a:avLst>
          </a:prstGeom>
          <a:solidFill>
            <a:srgbClr val="EAF1F9"/>
          </a:solidFill>
          <a:ln/>
        </p:spPr>
        <p:txBody>
          <a:bodyPr/>
          <a:p/>
        </p:txBody>
      </p:sp>
      <p:pic>
        <p:nvPicPr>
          <p:cNvPr id="21" name="Image 0"/>
          <p:cNvPicPr>
            <a:picLocks noChangeAspect="1"/>
          </p:cNvPicPr>
          <p:nvPr/>
        </p:nvPicPr>
        <p:blipFill rotWithShape="1">
          <a:blip r:embed="rId3"/>
          <a:srcRect l="25410" r="23503" b="26332"/>
          <a:stretch/>
        </p:blipFill>
        <p:spPr>
          <a:xfrm>
            <a:off x="1416368" y="2818752"/>
            <a:ext cx="6755700" cy="5477027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9527307" y="2678049"/>
            <a:ext cx="794433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6B7480"/>
                </a:solidFill>
                <a:latin typeface="Yu Gothic" pitchFamily="34" charset="0"/>
                <a:ea typeface="Arial" pitchFamily="34" charset="-122"/>
                <a:cs typeface="Arial" pitchFamily="34" charset="-120"/>
              </a:rPr>
              <a:t>手順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9527307" y="3201924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9746382" y="336384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9708282" y="332867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１</a:t>
            </a:r>
            <a:endParaRPr lang="en-US" sz="1950" dirty="0"/>
          </a:p>
        </p:txBody>
      </p:sp>
      <p:sp>
        <p:nvSpPr>
          <p:cNvPr id="27" name="Text 24"/>
          <p:cNvSpPr/>
          <p:nvPr/>
        </p:nvSpPr>
        <p:spPr>
          <a:xfrm>
            <a:off x="10377820" y="3319179"/>
            <a:ext cx="7523318" cy="667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ja-JP" altLang="en-US" sz="200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座っている時、</a:t>
            </a:r>
            <a:r>
              <a:rPr lang="en-US" sz="2000" b="1" dirty="0" err="1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麻痺側の腕をクッション</a:t>
            </a:r>
            <a:r>
              <a:rPr lang="en-US" sz="20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や机上にのせます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</p:txBody>
      </p:sp>
      <p:sp>
        <p:nvSpPr>
          <p:cNvPr id="28" name="Shape 25"/>
          <p:cNvSpPr/>
          <p:nvPr/>
        </p:nvSpPr>
        <p:spPr>
          <a:xfrm>
            <a:off x="9527307" y="4097275"/>
            <a:ext cx="7712943" cy="834926"/>
          </a:xfrm>
          <a:prstGeom prst="roundRect">
            <a:avLst>
              <a:gd name="adj" fmla="val 11618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9746382" y="4276784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9708282" y="425919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２</a:t>
            </a:r>
            <a:endParaRPr lang="en-US" sz="1950" dirty="0"/>
          </a:p>
        </p:txBody>
      </p:sp>
      <p:sp>
        <p:nvSpPr>
          <p:cNvPr id="31" name="Text 28"/>
          <p:cNvSpPr/>
          <p:nvPr/>
        </p:nvSpPr>
        <p:spPr>
          <a:xfrm>
            <a:off x="10374666" y="4235045"/>
            <a:ext cx="7093818" cy="742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腕がだらんと下がらず、</a:t>
            </a:r>
            <a:r>
              <a:rPr lang="en-US" sz="20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肩と同じ高さ 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になるよう支えます。</a:t>
            </a:r>
            <a:endParaRPr lang="en-US" sz="2000" dirty="0"/>
          </a:p>
        </p:txBody>
      </p:sp>
      <p:sp>
        <p:nvSpPr>
          <p:cNvPr id="32" name="Shape 29"/>
          <p:cNvSpPr/>
          <p:nvPr/>
        </p:nvSpPr>
        <p:spPr>
          <a:xfrm>
            <a:off x="9527307" y="5060397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9746382" y="5222322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9708282" y="5169567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３</a:t>
            </a:r>
            <a:endParaRPr lang="en-US" sz="1950" dirty="0"/>
          </a:p>
        </p:txBody>
      </p:sp>
      <p:sp>
        <p:nvSpPr>
          <p:cNvPr id="35" name="Text 32"/>
          <p:cNvSpPr/>
          <p:nvPr/>
        </p:nvSpPr>
        <p:spPr>
          <a:xfrm>
            <a:off x="10374666" y="5134765"/>
            <a:ext cx="6688555" cy="6392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寝る時は、胸側に枕を置き、腕をのせて安定させます。</a:t>
            </a:r>
            <a:endParaRPr lang="en-US" sz="2000" dirty="0"/>
          </a:p>
        </p:txBody>
      </p:sp>
      <p:sp>
        <p:nvSpPr>
          <p:cNvPr id="36" name="Shape 33"/>
          <p:cNvSpPr/>
          <p:nvPr/>
        </p:nvSpPr>
        <p:spPr>
          <a:xfrm>
            <a:off x="9527307" y="6330887"/>
            <a:ext cx="7712943" cy="967680"/>
          </a:xfrm>
          <a:prstGeom prst="roundRect">
            <a:avLst>
              <a:gd name="adj" fmla="val 11812"/>
            </a:avLst>
          </a:prstGeom>
          <a:solidFill>
            <a:srgbClr val="FAF1DE"/>
          </a:solidFill>
          <a:ln/>
        </p:spPr>
        <p:txBody>
          <a:bodyPr/>
          <a:p/>
        </p:txBody>
      </p:sp>
      <p:sp>
        <p:nvSpPr>
          <p:cNvPr id="37" name="Shape 34"/>
          <p:cNvSpPr/>
          <p:nvPr/>
        </p:nvSpPr>
        <p:spPr>
          <a:xfrm>
            <a:off x="9736857" y="6605177"/>
            <a:ext cx="419100" cy="419100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p/>
        </p:txBody>
      </p:sp>
      <p:sp>
        <p:nvSpPr>
          <p:cNvPr id="38" name="Text 35"/>
          <p:cNvSpPr/>
          <p:nvPr/>
        </p:nvSpPr>
        <p:spPr>
          <a:xfrm>
            <a:off x="9716342" y="6587592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1800" dirty="0"/>
          </a:p>
        </p:txBody>
      </p:sp>
      <p:sp>
        <p:nvSpPr>
          <p:cNvPr id="39" name="Text 36"/>
          <p:cNvSpPr/>
          <p:nvPr/>
        </p:nvSpPr>
        <p:spPr>
          <a:xfrm>
            <a:off x="10374666" y="6315581"/>
            <a:ext cx="6786663" cy="1099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ja-JP" altLang="en-US" sz="2000" b="1">
                <a:solidFill>
                  <a:srgbClr val="3D2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肩が下に引っ張られないことが大切です。</a:t>
            </a:r>
            <a:endParaRPr lang="en-US" sz="2000" b="1" dirty="0">
              <a:solidFill>
                <a:srgbClr val="5A3D1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ja-JP" altLang="en-US" sz="2000" b="1">
                <a:solidFill>
                  <a:srgbClr val="5A3D10"/>
                </a:solidFill>
                <a:latin typeface="Arial" pitchFamily="34" charset="0"/>
                <a:cs typeface="Arial" pitchFamily="34" charset="-120"/>
              </a:rPr>
              <a:t>亜脱臼や痛みの予防につながります。</a:t>
            </a:r>
            <a:endParaRPr lang="en-US" sz="2000" dirty="0"/>
          </a:p>
        </p:txBody>
      </p:sp>
      <p:sp>
        <p:nvSpPr>
          <p:cNvPr id="40" name="Shape 37"/>
          <p:cNvSpPr/>
          <p:nvPr/>
        </p:nvSpPr>
        <p:spPr>
          <a:xfrm>
            <a:off x="9527307" y="7489067"/>
            <a:ext cx="7712943" cy="990600"/>
          </a:xfrm>
          <a:prstGeom prst="roundRect">
            <a:avLst>
              <a:gd name="adj" fmla="val 7692"/>
            </a:avLst>
          </a:prstGeom>
          <a:solidFill>
            <a:srgbClr val="FDECE8"/>
          </a:solidFill>
          <a:ln/>
        </p:spPr>
        <p:txBody>
          <a:bodyPr/>
          <a:p/>
        </p:txBody>
      </p:sp>
      <p:sp>
        <p:nvSpPr>
          <p:cNvPr id="41" name="Shape 38"/>
          <p:cNvSpPr/>
          <p:nvPr/>
        </p:nvSpPr>
        <p:spPr>
          <a:xfrm>
            <a:off x="9527307" y="7489067"/>
            <a:ext cx="57150" cy="990600"/>
          </a:xfrm>
          <a:prstGeom prst="rect">
            <a:avLst/>
          </a:prstGeom>
          <a:solidFill>
            <a:srgbClr val="E87362"/>
          </a:solidFill>
          <a:ln/>
        </p:spPr>
        <p:txBody>
          <a:bodyPr/>
          <a:p/>
        </p:txBody>
      </p:sp>
      <p:sp>
        <p:nvSpPr>
          <p:cNvPr id="42" name="Shape 39"/>
          <p:cNvSpPr/>
          <p:nvPr/>
        </p:nvSpPr>
        <p:spPr>
          <a:xfrm>
            <a:off x="9794007" y="7755767"/>
            <a:ext cx="457200" cy="457200"/>
          </a:xfrm>
          <a:prstGeom prst="ellipse">
            <a:avLst/>
          </a:prstGeom>
          <a:solidFill>
            <a:srgbClr val="E87362"/>
          </a:solidFill>
          <a:ln/>
        </p:spPr>
        <p:txBody>
          <a:bodyPr/>
          <a:p/>
        </p:txBody>
      </p:sp>
      <p:sp>
        <p:nvSpPr>
          <p:cNvPr id="43" name="Text 40"/>
          <p:cNvSpPr/>
          <p:nvPr/>
        </p:nvSpPr>
        <p:spPr>
          <a:xfrm>
            <a:off x="9755907" y="7755767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100" dirty="0"/>
          </a:p>
        </p:txBody>
      </p:sp>
      <p:sp>
        <p:nvSpPr>
          <p:cNvPr id="44" name="Text 41"/>
          <p:cNvSpPr/>
          <p:nvPr/>
        </p:nvSpPr>
        <p:spPr>
          <a:xfrm>
            <a:off x="10374666" y="7489067"/>
            <a:ext cx="6688555" cy="944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ja-JP" altLang="en-US" sz="2000" b="1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麻痺側の腕を</a:t>
            </a:r>
            <a:r>
              <a:rPr lang="ja-JP" altLang="en-US" sz="2000" b="1">
                <a:solidFill>
                  <a:srgbClr val="5A1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引っ張らないように</a:t>
            </a:r>
            <a:r>
              <a:rPr lang="ja-JP" altLang="en-US" sz="2000" b="1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しましょう。</a:t>
            </a:r>
            <a:endParaRPr lang="en-US" altLang="ja-JP" sz="2000" b="1" dirty="0">
              <a:solidFill>
                <a:srgbClr val="7A2D1D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ja-JP" altLang="en-US" sz="2000" b="1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介助の時も脇を支えて、手を引っ張らないでください。</a:t>
            </a:r>
            <a:endParaRPr lang="en-US" sz="2000" dirty="0"/>
          </a:p>
        </p:txBody>
      </p:sp>
      <p:sp>
        <p:nvSpPr>
          <p:cNvPr id="46" name="TextBox 45"/>
          <p:cNvSpPr txBox="1"/>
          <p:nvPr/>
        </p:nvSpPr>
        <p:spPr>
          <a:xfrm>
            <a:off x="1097280" y="9052560"/>
            <a:ext cx="1609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334155"/>
                </a:solidFill>
                <a:latin typeface="Yu Gothic"/>
              </a:rPr>
              <a:t>目的：</a:t>
            </a:r>
            <a:r>
              <a:rPr sz="2800">
                <a:solidFill>
                  <a:srgbClr val="334155"/>
                </a:solidFill>
                <a:latin typeface="Yu Gothic"/>
              </a:rPr>
              <a:t>腕を良い位置に保ち、肩の痛みや拘縮を防ぎます。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687068"/>
            <a:ext cx="16192500" cy="19050"/>
          </a:xfrm>
          <a:prstGeom prst="rect">
            <a:avLst/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638603" y="727023"/>
            <a:ext cx="1205059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500" b="1" dirty="0">
                <a:solidFill>
                  <a:srgbClr val="11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仰向けで両手組み挙上</a:t>
            </a:r>
            <a:endParaRPr lang="en-US" sz="4500" dirty="0"/>
          </a:p>
        </p:txBody>
      </p:sp>
      <p:sp>
        <p:nvSpPr>
          <p:cNvPr id="17" name="Shape 15"/>
          <p:cNvSpPr/>
          <p:nvPr/>
        </p:nvSpPr>
        <p:spPr>
          <a:xfrm>
            <a:off x="14423752" y="1807369"/>
            <a:ext cx="2816498" cy="1147763"/>
          </a:xfrm>
          <a:prstGeom prst="roundRect">
            <a:avLst>
              <a:gd name="adj" fmla="val 11618"/>
            </a:avLst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4614252" y="1959769"/>
            <a:ext cx="243549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kern="0" spc="324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回数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14252" y="2331244"/>
            <a:ext cx="2435498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10回 × 2セット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398718" y="2674620"/>
            <a:ext cx="8791001" cy="5765292"/>
          </a:xfrm>
          <a:prstGeom prst="roundRect">
            <a:avLst>
              <a:gd name="adj" fmla="val 2736"/>
            </a:avLst>
          </a:prstGeom>
          <a:solidFill>
            <a:srgbClr val="EAF1F9"/>
          </a:solidFill>
          <a:ln/>
        </p:spPr>
        <p:txBody>
          <a:bodyPr/>
          <a:p/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8493" y="2818752"/>
            <a:ext cx="8351450" cy="5477027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9527307" y="2678049"/>
            <a:ext cx="794433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6B7480"/>
                </a:solidFill>
                <a:latin typeface="Yu Gothic" pitchFamily="34" charset="0"/>
                <a:ea typeface="Arial" pitchFamily="34" charset="-122"/>
                <a:cs typeface="Arial" pitchFamily="34" charset="-120"/>
              </a:rPr>
              <a:t>手順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9527307" y="3201924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9746382" y="3381434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9708282" y="336384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１</a:t>
            </a:r>
            <a:endParaRPr lang="en-US" sz="1950" dirty="0"/>
          </a:p>
        </p:txBody>
      </p:sp>
      <p:sp>
        <p:nvSpPr>
          <p:cNvPr id="27" name="Text 24"/>
          <p:cNvSpPr/>
          <p:nvPr/>
        </p:nvSpPr>
        <p:spPr>
          <a:xfrm>
            <a:off x="10396688" y="3346815"/>
            <a:ext cx="668855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仰向けに寝て、</a:t>
            </a:r>
            <a:r>
              <a:rPr lang="en-US" sz="20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両手を胸の前で組み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ます(指を交互に)。</a:t>
            </a:r>
            <a:endParaRPr lang="en-US" sz="2000" dirty="0"/>
          </a:p>
        </p:txBody>
      </p:sp>
      <p:sp>
        <p:nvSpPr>
          <p:cNvPr id="28" name="Shape 25"/>
          <p:cNvSpPr/>
          <p:nvPr/>
        </p:nvSpPr>
        <p:spPr>
          <a:xfrm>
            <a:off x="9527307" y="4097275"/>
            <a:ext cx="7712943" cy="873918"/>
          </a:xfrm>
          <a:prstGeom prst="roundRect">
            <a:avLst>
              <a:gd name="adj" fmla="val 11618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9746382" y="425919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9708282" y="4241614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２</a:t>
            </a:r>
            <a:endParaRPr lang="en-US" sz="1950" dirty="0"/>
          </a:p>
        </p:txBody>
      </p:sp>
      <p:sp>
        <p:nvSpPr>
          <p:cNvPr id="31" name="Text 28"/>
          <p:cNvSpPr/>
          <p:nvPr/>
        </p:nvSpPr>
        <p:spPr>
          <a:xfrm>
            <a:off x="10396688" y="4259199"/>
            <a:ext cx="7093818" cy="862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健側で麻痺側を導き、</a:t>
            </a:r>
            <a:r>
              <a:rPr lang="en-US" sz="20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両手をゆっくり上へ 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挙げていきます。</a:t>
            </a:r>
            <a:endParaRPr lang="en-US" sz="2000" dirty="0"/>
          </a:p>
        </p:txBody>
      </p:sp>
      <p:sp>
        <p:nvSpPr>
          <p:cNvPr id="32" name="Shape 29"/>
          <p:cNvSpPr/>
          <p:nvPr/>
        </p:nvSpPr>
        <p:spPr>
          <a:xfrm>
            <a:off x="9527307" y="5095562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9746382" y="5257487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9708282" y="5222317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３</a:t>
            </a:r>
            <a:endParaRPr lang="en-US" sz="1950" dirty="0"/>
          </a:p>
        </p:txBody>
      </p:sp>
      <p:sp>
        <p:nvSpPr>
          <p:cNvPr id="35" name="Text 32"/>
          <p:cNvSpPr/>
          <p:nvPr/>
        </p:nvSpPr>
        <p:spPr>
          <a:xfrm>
            <a:off x="10396687" y="5239540"/>
            <a:ext cx="668855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挙がるところで3秒キープ、ゆっくり戻します。</a:t>
            </a:r>
            <a:endParaRPr lang="en-US" sz="2000" dirty="0"/>
          </a:p>
        </p:txBody>
      </p:sp>
      <p:grpSp>
        <p:nvGrpSpPr>
          <p:cNvPr id="45" name="グループ化 44">
            <a:extLst>
              <a:ext uri="{FF2B5EF4-FFF2-40B4-BE49-F238E27FC236}">
                <a16:creationId xmlns:a16="http://schemas.microsoft.com/office/drawing/2014/main" id="{6F9B30FD-2694-0044-B45F-F85377902FD1}"/>
              </a:ext>
            </a:extLst>
          </p:cNvPr>
          <p:cNvGrpSpPr/>
          <p:nvPr/>
        </p:nvGrpSpPr>
        <p:grpSpPr>
          <a:xfrm>
            <a:off x="9527307" y="6330887"/>
            <a:ext cx="7712943" cy="990600"/>
            <a:chOff x="9527307" y="6910388"/>
            <a:chExt cx="7712943" cy="990600"/>
          </a:xfrm>
        </p:grpSpPr>
        <p:sp>
          <p:nvSpPr>
            <p:cNvPr id="36" name="Shape 33"/>
            <p:cNvSpPr/>
            <p:nvPr/>
          </p:nvSpPr>
          <p:spPr>
            <a:xfrm>
              <a:off x="9527307" y="6910388"/>
              <a:ext cx="7712943" cy="990600"/>
            </a:xfrm>
            <a:prstGeom prst="roundRect">
              <a:avLst>
                <a:gd name="adj" fmla="val 7692"/>
              </a:avLst>
            </a:prstGeom>
            <a:solidFill>
              <a:srgbClr val="FDECE8"/>
            </a:solidFill>
            <a:ln/>
          </p:spPr>
        </p:sp>
        <p:sp>
          <p:nvSpPr>
            <p:cNvPr id="37" name="Shape 34"/>
            <p:cNvSpPr/>
            <p:nvPr/>
          </p:nvSpPr>
          <p:spPr>
            <a:xfrm>
              <a:off x="9527307" y="6910388"/>
              <a:ext cx="57150" cy="990600"/>
            </a:xfrm>
            <a:prstGeom prst="rect">
              <a:avLst/>
            </a:prstGeom>
            <a:solidFill>
              <a:srgbClr val="E87362"/>
            </a:solidFill>
            <a:ln/>
          </p:spPr>
        </p:sp>
      </p:grpSp>
      <p:grpSp>
        <p:nvGrpSpPr>
          <p:cNvPr id="44" name="グループ化 43">
            <a:extLst>
              <a:ext uri="{FF2B5EF4-FFF2-40B4-BE49-F238E27FC236}">
                <a16:creationId xmlns:a16="http://schemas.microsoft.com/office/drawing/2014/main" id="{D2EC8C07-4157-904C-9CC9-1A754141C2D3}"/>
              </a:ext>
            </a:extLst>
          </p:cNvPr>
          <p:cNvGrpSpPr/>
          <p:nvPr/>
        </p:nvGrpSpPr>
        <p:grpSpPr>
          <a:xfrm>
            <a:off x="9738322" y="6597587"/>
            <a:ext cx="533400" cy="495300"/>
            <a:chOff x="9738322" y="7159503"/>
            <a:chExt cx="533400" cy="495300"/>
          </a:xfrm>
        </p:grpSpPr>
        <p:sp>
          <p:nvSpPr>
            <p:cNvPr id="38" name="Shape 35"/>
            <p:cNvSpPr/>
            <p:nvPr/>
          </p:nvSpPr>
          <p:spPr>
            <a:xfrm>
              <a:off x="9776422" y="7159503"/>
              <a:ext cx="457200" cy="457200"/>
            </a:xfrm>
            <a:prstGeom prst="ellipse">
              <a:avLst/>
            </a:prstGeom>
            <a:solidFill>
              <a:srgbClr val="E87362"/>
            </a:solidFill>
            <a:ln/>
          </p:spPr>
        </p:sp>
        <p:sp>
          <p:nvSpPr>
            <p:cNvPr id="39" name="Text 36"/>
            <p:cNvSpPr/>
            <p:nvPr/>
          </p:nvSpPr>
          <p:spPr>
            <a:xfrm>
              <a:off x="9738322" y="7159503"/>
              <a:ext cx="533400" cy="4953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2100" b="1" dirty="0">
                  <a:solidFill>
                    <a:srgbClr val="FFFFFF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!</a:t>
              </a:r>
              <a:endParaRPr lang="en-US" sz="2100" dirty="0"/>
            </a:p>
          </p:txBody>
        </p:sp>
      </p:grpSp>
      <p:sp>
        <p:nvSpPr>
          <p:cNvPr id="40" name="Text 37"/>
          <p:cNvSpPr/>
          <p:nvPr/>
        </p:nvSpPr>
        <p:spPr>
          <a:xfrm>
            <a:off x="10527431" y="6303230"/>
            <a:ext cx="6688555" cy="1084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ja-JP" altLang="en-US" sz="2000" b="1">
                <a:solidFill>
                  <a:srgbClr val="5A1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肩に痛みが出たら中止しましょう</a:t>
            </a:r>
            <a:r>
              <a:rPr lang="en-US" sz="2000" b="1" dirty="0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ja-JP" altLang="en-US" sz="2000" b="1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挙げる範囲は痛みの出ない範囲で行いましょう。</a:t>
            </a:r>
            <a:endParaRPr lang="en-US" sz="2000" dirty="0"/>
          </a:p>
        </p:txBody>
      </p:sp>
      <p:sp>
        <p:nvSpPr>
          <p:cNvPr id="46" name="TextBox 45"/>
          <p:cNvSpPr txBox="1"/>
          <p:nvPr/>
        </p:nvSpPr>
        <p:spPr>
          <a:xfrm>
            <a:off x="1097280" y="9052560"/>
            <a:ext cx="1609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334155"/>
                </a:solidFill>
                <a:latin typeface="Yu Gothic"/>
              </a:rPr>
              <a:t>目的：</a:t>
            </a:r>
            <a:r>
              <a:rPr sz="2800">
                <a:solidFill>
                  <a:srgbClr val="334155"/>
                </a:solidFill>
                <a:latin typeface="Yu Gothic"/>
              </a:rPr>
              <a:t>両手で支えて腕を上げ、肩の動きを保ちます。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687068"/>
            <a:ext cx="16192500" cy="19050"/>
          </a:xfrm>
          <a:prstGeom prst="rect">
            <a:avLst/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638603" y="727023"/>
            <a:ext cx="1205059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500" b="1" dirty="0">
                <a:solidFill>
                  <a:srgbClr val="11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座位で両手組み体幹回旋</a:t>
            </a:r>
            <a:endParaRPr lang="en-US" sz="4500" dirty="0"/>
          </a:p>
        </p:txBody>
      </p:sp>
      <p:sp>
        <p:nvSpPr>
          <p:cNvPr id="17" name="Shape 15"/>
          <p:cNvSpPr/>
          <p:nvPr/>
        </p:nvSpPr>
        <p:spPr>
          <a:xfrm>
            <a:off x="14423752" y="1807369"/>
            <a:ext cx="2816498" cy="1147763"/>
          </a:xfrm>
          <a:prstGeom prst="roundRect">
            <a:avLst>
              <a:gd name="adj" fmla="val 11618"/>
            </a:avLst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4614252" y="1959769"/>
            <a:ext cx="243549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kern="0" spc="324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回数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14252" y="2331244"/>
            <a:ext cx="2435498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左右 各10回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398718" y="2674620"/>
            <a:ext cx="8791001" cy="5765292"/>
          </a:xfrm>
          <a:prstGeom prst="roundRect">
            <a:avLst>
              <a:gd name="adj" fmla="val 2736"/>
            </a:avLst>
          </a:prstGeom>
          <a:solidFill>
            <a:srgbClr val="EAF1F9"/>
          </a:solidFill>
          <a:ln/>
        </p:spPr>
        <p:txBody>
          <a:bodyPr/>
          <a:p/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8493" y="2818752"/>
            <a:ext cx="8351450" cy="5477027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9527307" y="2678049"/>
            <a:ext cx="794433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6B7480"/>
                </a:solidFill>
                <a:latin typeface="Yu Gothic" pitchFamily="34" charset="0"/>
                <a:ea typeface="Arial" pitchFamily="34" charset="-122"/>
                <a:cs typeface="Arial" pitchFamily="34" charset="-120"/>
              </a:rPr>
              <a:t>手順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9527307" y="3201924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9746382" y="336384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9708282" y="336384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１</a:t>
            </a:r>
            <a:endParaRPr lang="en-US" sz="1950" dirty="0"/>
          </a:p>
        </p:txBody>
      </p:sp>
      <p:sp>
        <p:nvSpPr>
          <p:cNvPr id="27" name="Text 24"/>
          <p:cNvSpPr/>
          <p:nvPr/>
        </p:nvSpPr>
        <p:spPr>
          <a:xfrm>
            <a:off x="10527432" y="3363849"/>
            <a:ext cx="668855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椅子に座り、</a:t>
            </a:r>
            <a:r>
              <a:rPr lang="en-US" sz="21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胸の前で両手を組み</a:t>
            </a:r>
            <a:r>
              <a:rPr lang="en-US" sz="21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ます。</a:t>
            </a:r>
            <a:endParaRPr lang="en-US" sz="2100" dirty="0"/>
          </a:p>
        </p:txBody>
      </p:sp>
      <p:sp>
        <p:nvSpPr>
          <p:cNvPr id="28" name="Shape 25"/>
          <p:cNvSpPr/>
          <p:nvPr/>
        </p:nvSpPr>
        <p:spPr>
          <a:xfrm>
            <a:off x="9527307" y="4097274"/>
            <a:ext cx="7712943" cy="775097"/>
          </a:xfrm>
          <a:prstGeom prst="roundRect">
            <a:avLst>
              <a:gd name="adj" fmla="val 11382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9746382" y="425919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9708282" y="425919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２</a:t>
            </a:r>
            <a:endParaRPr lang="en-US" sz="1950" dirty="0"/>
          </a:p>
        </p:txBody>
      </p:sp>
      <p:sp>
        <p:nvSpPr>
          <p:cNvPr id="31" name="Text 28"/>
          <p:cNvSpPr/>
          <p:nvPr/>
        </p:nvSpPr>
        <p:spPr>
          <a:xfrm>
            <a:off x="10527432" y="4259199"/>
            <a:ext cx="6688555" cy="885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肘を軽く前に伸ばし、 </a:t>
            </a:r>
            <a:r>
              <a:rPr lang="en-US" sz="21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体ごと左右にゆっくり回します </a:t>
            </a:r>
            <a:r>
              <a:rPr lang="en-US" sz="21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100" dirty="0"/>
          </a:p>
        </p:txBody>
      </p:sp>
      <p:sp>
        <p:nvSpPr>
          <p:cNvPr id="32" name="Shape 29"/>
          <p:cNvSpPr/>
          <p:nvPr/>
        </p:nvSpPr>
        <p:spPr>
          <a:xfrm>
            <a:off x="9555882" y="5034296"/>
            <a:ext cx="7760568" cy="924223"/>
          </a:xfrm>
          <a:prstGeom prst="roundRect">
            <a:avLst>
              <a:gd name="adj" fmla="val 11812"/>
            </a:avLst>
          </a:prstGeom>
          <a:solidFill>
            <a:srgbClr val="FAF1DE"/>
          </a:solidFill>
          <a:ln/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9736857" y="5118174"/>
            <a:ext cx="419100" cy="419100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9698757" y="5118174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10453137" y="5051068"/>
            <a:ext cx="6982376" cy="948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健側で麻痺側を</a:t>
            </a:r>
            <a:r>
              <a:rPr lang="en-US" sz="1800" b="1" dirty="0">
                <a:solidFill>
                  <a:srgbClr val="3D2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支えながら動かす </a:t>
            </a:r>
            <a:r>
              <a:rPr lang="en-US" sz="1800" b="1" dirty="0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と、体幹の固さもほぐれます。腰から回すイメージで。</a:t>
            </a:r>
            <a:endParaRPr lang="en-US" sz="1800" dirty="0"/>
          </a:p>
        </p:txBody>
      </p:sp>
      <p:grpSp>
        <p:nvGrpSpPr>
          <p:cNvPr id="45" name="グループ化 44">
            <a:extLst>
              <a:ext uri="{FF2B5EF4-FFF2-40B4-BE49-F238E27FC236}">
                <a16:creationId xmlns:a16="http://schemas.microsoft.com/office/drawing/2014/main" id="{AB395CD1-E90D-6942-93B1-960382CEBC01}"/>
              </a:ext>
            </a:extLst>
          </p:cNvPr>
          <p:cNvGrpSpPr/>
          <p:nvPr/>
        </p:nvGrpSpPr>
        <p:grpSpPr>
          <a:xfrm>
            <a:off x="9527307" y="6195497"/>
            <a:ext cx="7789143" cy="990600"/>
            <a:chOff x="9527307" y="7197030"/>
            <a:chExt cx="7789143" cy="990600"/>
          </a:xfrm>
        </p:grpSpPr>
        <p:sp>
          <p:nvSpPr>
            <p:cNvPr id="36" name="Shape 33"/>
            <p:cNvSpPr/>
            <p:nvPr/>
          </p:nvSpPr>
          <p:spPr>
            <a:xfrm>
              <a:off x="9527307" y="7197030"/>
              <a:ext cx="7789143" cy="990600"/>
            </a:xfrm>
            <a:prstGeom prst="roundRect">
              <a:avLst>
                <a:gd name="adj" fmla="val 7692"/>
              </a:avLst>
            </a:prstGeom>
            <a:solidFill>
              <a:srgbClr val="FDECE8"/>
            </a:solidFill>
            <a:ln/>
          </p:spPr>
        </p:sp>
        <p:sp>
          <p:nvSpPr>
            <p:cNvPr id="37" name="Shape 34"/>
            <p:cNvSpPr/>
            <p:nvPr/>
          </p:nvSpPr>
          <p:spPr>
            <a:xfrm>
              <a:off x="9527307" y="7197030"/>
              <a:ext cx="57150" cy="990600"/>
            </a:xfrm>
            <a:prstGeom prst="rect">
              <a:avLst/>
            </a:prstGeom>
            <a:solidFill>
              <a:srgbClr val="E87362"/>
            </a:solidFill>
            <a:ln/>
          </p:spPr>
        </p:sp>
      </p:grpSp>
      <p:grpSp>
        <p:nvGrpSpPr>
          <p:cNvPr id="44" name="グループ化 43">
            <a:extLst>
              <a:ext uri="{FF2B5EF4-FFF2-40B4-BE49-F238E27FC236}">
                <a16:creationId xmlns:a16="http://schemas.microsoft.com/office/drawing/2014/main" id="{2C5CCDB5-8BAA-1649-842C-DB71C58C4792}"/>
              </a:ext>
            </a:extLst>
          </p:cNvPr>
          <p:cNvGrpSpPr/>
          <p:nvPr/>
        </p:nvGrpSpPr>
        <p:grpSpPr>
          <a:xfrm>
            <a:off x="9755907" y="6462197"/>
            <a:ext cx="533400" cy="495300"/>
            <a:chOff x="9755907" y="7463730"/>
            <a:chExt cx="533400" cy="495300"/>
          </a:xfrm>
        </p:grpSpPr>
        <p:sp>
          <p:nvSpPr>
            <p:cNvPr id="38" name="Shape 35"/>
            <p:cNvSpPr/>
            <p:nvPr/>
          </p:nvSpPr>
          <p:spPr>
            <a:xfrm>
              <a:off x="9794007" y="7463730"/>
              <a:ext cx="457200" cy="457200"/>
            </a:xfrm>
            <a:prstGeom prst="ellipse">
              <a:avLst/>
            </a:prstGeom>
            <a:solidFill>
              <a:srgbClr val="E87362"/>
            </a:solidFill>
            <a:ln/>
          </p:spPr>
        </p:sp>
        <p:sp>
          <p:nvSpPr>
            <p:cNvPr id="39" name="Text 36"/>
            <p:cNvSpPr/>
            <p:nvPr/>
          </p:nvSpPr>
          <p:spPr>
            <a:xfrm>
              <a:off x="9755907" y="7463730"/>
              <a:ext cx="533400" cy="4953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2100" b="1" dirty="0">
                  <a:solidFill>
                    <a:srgbClr val="FFFFFF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!</a:t>
              </a:r>
              <a:endParaRPr lang="en-US" sz="2100" dirty="0"/>
            </a:p>
          </p:txBody>
        </p:sp>
      </p:grpSp>
      <p:sp>
        <p:nvSpPr>
          <p:cNvPr id="40" name="Text 37"/>
          <p:cNvSpPr/>
          <p:nvPr/>
        </p:nvSpPr>
        <p:spPr>
          <a:xfrm>
            <a:off x="10453137" y="6195497"/>
            <a:ext cx="6772375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b="1" dirty="0" err="1">
                <a:solidFill>
                  <a:srgbClr val="5A1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ふらつかないよう、背もたれ</a:t>
            </a:r>
            <a:r>
              <a:rPr lang="en-US" b="1" dirty="0" err="1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のある椅子で行いましょう</a:t>
            </a:r>
            <a:r>
              <a:rPr lang="en-US" b="1" dirty="0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ja-JP" altLang="en-US" b="1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肩が痛む時には無理をしないでください。</a:t>
            </a:r>
            <a:endParaRPr lang="en-US" dirty="0"/>
          </a:p>
        </p:txBody>
      </p:sp>
      <p:sp>
        <p:nvSpPr>
          <p:cNvPr id="46" name="TextBox 45"/>
          <p:cNvSpPr txBox="1"/>
          <p:nvPr/>
        </p:nvSpPr>
        <p:spPr>
          <a:xfrm>
            <a:off x="1097280" y="9052560"/>
            <a:ext cx="1609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334155"/>
                </a:solidFill>
                <a:latin typeface="Yu Gothic"/>
              </a:rPr>
              <a:t>目的：</a:t>
            </a:r>
            <a:r>
              <a:rPr sz="2800">
                <a:solidFill>
                  <a:srgbClr val="334155"/>
                </a:solidFill>
                <a:latin typeface="Yu Gothic"/>
              </a:rPr>
              <a:t>体をひねり、腕と体幹の動きを引き出します。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687068"/>
            <a:ext cx="16192500" cy="19050"/>
          </a:xfrm>
          <a:prstGeom prst="rect">
            <a:avLst/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638603" y="727023"/>
            <a:ext cx="11977853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ja-JP" altLang="en-US" sz="4500" b="1">
                <a:solidFill>
                  <a:srgbClr val="11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お椀を使って手首の運動</a:t>
            </a:r>
            <a:endParaRPr lang="en-US" sz="4500" dirty="0"/>
          </a:p>
        </p:txBody>
      </p:sp>
      <p:sp>
        <p:nvSpPr>
          <p:cNvPr id="17" name="Shape 15"/>
          <p:cNvSpPr/>
          <p:nvPr/>
        </p:nvSpPr>
        <p:spPr>
          <a:xfrm>
            <a:off x="14353133" y="1807369"/>
            <a:ext cx="2887117" cy="1147763"/>
          </a:xfrm>
          <a:prstGeom prst="roundRect">
            <a:avLst>
              <a:gd name="adj" fmla="val 11618"/>
            </a:avLst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4543633" y="1959769"/>
            <a:ext cx="250611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kern="0" spc="324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回数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543633" y="2331244"/>
            <a:ext cx="2506117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10往復 × 2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398718" y="2674620"/>
            <a:ext cx="8791001" cy="5765292"/>
          </a:xfrm>
          <a:prstGeom prst="roundRect">
            <a:avLst>
              <a:gd name="adj" fmla="val 2736"/>
            </a:avLst>
          </a:prstGeom>
          <a:solidFill>
            <a:srgbClr val="EAF1F9"/>
          </a:solidFill>
          <a:ln/>
        </p:spPr>
        <p:txBody>
          <a:bodyPr/>
          <a:p/>
        </p:txBody>
      </p:sp>
      <p:pic>
        <p:nvPicPr>
          <p:cNvPr id="21" name="Image 0"/>
          <p:cNvPicPr>
            <a:picLocks noChangeAspect="1"/>
          </p:cNvPicPr>
          <p:nvPr/>
        </p:nvPicPr>
        <p:blipFill rotWithShape="1">
          <a:blip r:embed="rId3"/>
          <a:srcRect l="24494" r="25804" b="28715"/>
          <a:stretch/>
        </p:blipFill>
        <p:spPr>
          <a:xfrm>
            <a:off x="1398104" y="2818752"/>
            <a:ext cx="6792229" cy="5477027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9527307" y="2678049"/>
            <a:ext cx="794433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6B7480"/>
                </a:solidFill>
                <a:latin typeface="Yu Gothic" pitchFamily="34" charset="0"/>
                <a:ea typeface="Arial" pitchFamily="34" charset="-122"/>
                <a:cs typeface="Arial" pitchFamily="34" charset="-120"/>
              </a:rPr>
              <a:t>手順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9527307" y="3201924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9746382" y="336384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9708282" y="332867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１</a:t>
            </a:r>
            <a:endParaRPr lang="en-US" sz="1950" dirty="0"/>
          </a:p>
        </p:txBody>
      </p:sp>
      <p:sp>
        <p:nvSpPr>
          <p:cNvPr id="27" name="Text 24"/>
          <p:cNvSpPr/>
          <p:nvPr/>
        </p:nvSpPr>
        <p:spPr>
          <a:xfrm>
            <a:off x="10527432" y="3328679"/>
            <a:ext cx="668855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ja-JP" altLang="en-US" sz="2000" b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椅子に座り、</a:t>
            </a:r>
            <a:r>
              <a:rPr lang="ja-JP" altLang="en-US" sz="2000" b="1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麻痺側の肘を机に</a:t>
            </a:r>
            <a:r>
              <a:rPr lang="ja-JP" altLang="en-US" sz="2000" b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置き</a:t>
            </a:r>
            <a:r>
              <a:rPr lang="en-US" sz="20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ます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</p:txBody>
      </p:sp>
      <p:sp>
        <p:nvSpPr>
          <p:cNvPr id="28" name="Shape 25"/>
          <p:cNvSpPr/>
          <p:nvPr/>
        </p:nvSpPr>
        <p:spPr>
          <a:xfrm>
            <a:off x="9527307" y="4103868"/>
            <a:ext cx="7712943" cy="867323"/>
          </a:xfrm>
          <a:prstGeom prst="roundRect">
            <a:avLst>
              <a:gd name="adj" fmla="val 11618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9746382" y="425919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9708282" y="422402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２</a:t>
            </a:r>
            <a:endParaRPr lang="en-US" sz="1950" dirty="0"/>
          </a:p>
        </p:txBody>
      </p:sp>
      <p:sp>
        <p:nvSpPr>
          <p:cNvPr id="31" name="Text 28"/>
          <p:cNvSpPr/>
          <p:nvPr/>
        </p:nvSpPr>
        <p:spPr>
          <a:xfrm>
            <a:off x="10527432" y="4206444"/>
            <a:ext cx="6688555" cy="7620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空のお椀を</a:t>
            </a:r>
            <a:r>
              <a:rPr lang="en-US" sz="2000" b="1" dirty="0" err="1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麻痺側の手で</a:t>
            </a:r>
            <a:r>
              <a:rPr lang="en-US" sz="20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持ちます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</p:txBody>
      </p:sp>
      <p:sp>
        <p:nvSpPr>
          <p:cNvPr id="32" name="Shape 29"/>
          <p:cNvSpPr/>
          <p:nvPr/>
        </p:nvSpPr>
        <p:spPr>
          <a:xfrm>
            <a:off x="9527307" y="5359337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9746382" y="5521262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9708282" y="5486092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３</a:t>
            </a:r>
            <a:endParaRPr lang="en-US" sz="1950" dirty="0"/>
          </a:p>
        </p:txBody>
      </p:sp>
      <p:sp>
        <p:nvSpPr>
          <p:cNvPr id="35" name="Text 32"/>
          <p:cNvSpPr/>
          <p:nvPr/>
        </p:nvSpPr>
        <p:spPr>
          <a:xfrm>
            <a:off x="10527432" y="5423630"/>
            <a:ext cx="6688555" cy="559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手のひらを上・下へ</a:t>
            </a:r>
            <a:r>
              <a:rPr lang="en-US" sz="20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ゆっくり返す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動きを繰り返します。</a:t>
            </a:r>
            <a:endParaRPr lang="en-US" sz="2000" dirty="0"/>
          </a:p>
        </p:txBody>
      </p:sp>
      <p:sp>
        <p:nvSpPr>
          <p:cNvPr id="36" name="Shape 33"/>
          <p:cNvSpPr/>
          <p:nvPr/>
        </p:nvSpPr>
        <p:spPr>
          <a:xfrm>
            <a:off x="9527307" y="6330887"/>
            <a:ext cx="7712943" cy="967680"/>
          </a:xfrm>
          <a:prstGeom prst="roundRect">
            <a:avLst>
              <a:gd name="adj" fmla="val 11812"/>
            </a:avLst>
          </a:prstGeom>
          <a:solidFill>
            <a:srgbClr val="FAF1DE"/>
          </a:solidFill>
          <a:ln/>
        </p:spPr>
        <p:txBody>
          <a:bodyPr/>
          <a:p/>
        </p:txBody>
      </p:sp>
      <p:sp>
        <p:nvSpPr>
          <p:cNvPr id="37" name="Shape 34"/>
          <p:cNvSpPr/>
          <p:nvPr/>
        </p:nvSpPr>
        <p:spPr>
          <a:xfrm>
            <a:off x="9736857" y="6605177"/>
            <a:ext cx="419100" cy="419100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p/>
        </p:txBody>
      </p:sp>
      <p:sp>
        <p:nvSpPr>
          <p:cNvPr id="38" name="Text 35"/>
          <p:cNvSpPr/>
          <p:nvPr/>
        </p:nvSpPr>
        <p:spPr>
          <a:xfrm>
            <a:off x="9698757" y="6605177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1800" dirty="0"/>
          </a:p>
        </p:txBody>
      </p:sp>
      <p:sp>
        <p:nvSpPr>
          <p:cNvPr id="39" name="Text 36"/>
          <p:cNvSpPr/>
          <p:nvPr/>
        </p:nvSpPr>
        <p:spPr>
          <a:xfrm>
            <a:off x="10441707" y="6330887"/>
            <a:ext cx="6786663" cy="967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ja-JP" altLang="en-US" sz="2000" b="1">
                <a:solidFill>
                  <a:srgbClr val="3D2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肘を机から</a:t>
            </a:r>
            <a:r>
              <a:rPr lang="en-US" sz="2000" b="1" dirty="0" err="1">
                <a:solidFill>
                  <a:srgbClr val="3D2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離さない</a:t>
            </a:r>
            <a:r>
              <a:rPr lang="ja-JP" altLang="en-US" sz="2000" b="1">
                <a:solidFill>
                  <a:srgbClr val="3D2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のがコツ。</a:t>
            </a:r>
            <a:endParaRPr lang="en-US" altLang="ja-JP" sz="2000" b="1" dirty="0">
              <a:solidFill>
                <a:srgbClr val="3D2806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ja-JP" altLang="en-US" sz="2000" b="1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肩の代償ではなく</a:t>
            </a:r>
            <a:r>
              <a:rPr lang="en-US" sz="2000" b="1" dirty="0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、</a:t>
            </a:r>
            <a:r>
              <a:rPr lang="ja-JP" altLang="en-US" sz="2000" b="1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前腕の動きを</a:t>
            </a:r>
            <a:r>
              <a:rPr lang="en-US" sz="2000" b="1" dirty="0" err="1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引き出す運動です</a:t>
            </a:r>
            <a:r>
              <a:rPr lang="en-US" sz="2000" b="1" dirty="0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</p:txBody>
      </p:sp>
      <p:sp>
        <p:nvSpPr>
          <p:cNvPr id="41" name="TextBox 40"/>
          <p:cNvSpPr txBox="1"/>
          <p:nvPr/>
        </p:nvSpPr>
        <p:spPr>
          <a:xfrm>
            <a:off x="1097280" y="9052560"/>
            <a:ext cx="1609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334155"/>
                </a:solidFill>
                <a:latin typeface="Yu Gothic"/>
              </a:rPr>
              <a:t>目的：</a:t>
            </a:r>
            <a:r>
              <a:rPr sz="2800">
                <a:solidFill>
                  <a:srgbClr val="334155"/>
                </a:solidFill>
                <a:latin typeface="Yu Gothic"/>
              </a:rPr>
              <a:t>手首を動かし、手の使いやすさを高めます。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687068"/>
            <a:ext cx="16192500" cy="19050"/>
          </a:xfrm>
          <a:prstGeom prst="rect">
            <a:avLst/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638603" y="727023"/>
            <a:ext cx="1205059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500" b="1" dirty="0">
                <a:solidFill>
                  <a:srgbClr val="11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手指の握る・開く</a:t>
            </a:r>
            <a:endParaRPr lang="en-US" sz="4500" dirty="0"/>
          </a:p>
        </p:txBody>
      </p:sp>
      <p:sp>
        <p:nvSpPr>
          <p:cNvPr id="17" name="Shape 15"/>
          <p:cNvSpPr/>
          <p:nvPr/>
        </p:nvSpPr>
        <p:spPr>
          <a:xfrm>
            <a:off x="14423752" y="1807369"/>
            <a:ext cx="2816498" cy="1147763"/>
          </a:xfrm>
          <a:prstGeom prst="roundRect">
            <a:avLst>
              <a:gd name="adj" fmla="val 11618"/>
            </a:avLst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4614252" y="1959769"/>
            <a:ext cx="243549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kern="0" spc="324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回数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14252" y="2331244"/>
            <a:ext cx="2435498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10回 × 2セット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398718" y="2674620"/>
            <a:ext cx="8791001" cy="5765292"/>
          </a:xfrm>
          <a:prstGeom prst="roundRect">
            <a:avLst>
              <a:gd name="adj" fmla="val 2736"/>
            </a:avLst>
          </a:prstGeom>
          <a:solidFill>
            <a:srgbClr val="EAF1F9"/>
          </a:solidFill>
          <a:ln/>
        </p:spPr>
        <p:txBody>
          <a:bodyPr/>
          <a:p/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8493" y="2818752"/>
            <a:ext cx="8351450" cy="5477027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9527307" y="2678049"/>
            <a:ext cx="794433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6B7480"/>
                </a:solidFill>
                <a:latin typeface="Yu Gothic" pitchFamily="34" charset="0"/>
                <a:ea typeface="Arial" pitchFamily="34" charset="-122"/>
                <a:cs typeface="Arial" pitchFamily="34" charset="-120"/>
              </a:rPr>
              <a:t>手順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9527307" y="3201924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9746382" y="336384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9708282" y="336384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１</a:t>
            </a:r>
            <a:endParaRPr lang="en-US" sz="1950" dirty="0"/>
          </a:p>
        </p:txBody>
      </p:sp>
      <p:sp>
        <p:nvSpPr>
          <p:cNvPr id="27" name="Text 24"/>
          <p:cNvSpPr/>
          <p:nvPr/>
        </p:nvSpPr>
        <p:spPr>
          <a:xfrm>
            <a:off x="10527432" y="3363849"/>
            <a:ext cx="668855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麻痺側の手を </a:t>
            </a:r>
            <a:r>
              <a:rPr lang="en-US" sz="21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ゆっくり握ります </a:t>
            </a:r>
            <a:r>
              <a:rPr lang="en-US" sz="21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(グー)。</a:t>
            </a:r>
            <a:endParaRPr lang="en-US" sz="2100" dirty="0"/>
          </a:p>
        </p:txBody>
      </p:sp>
      <p:sp>
        <p:nvSpPr>
          <p:cNvPr id="28" name="Shape 25"/>
          <p:cNvSpPr/>
          <p:nvPr/>
        </p:nvSpPr>
        <p:spPr>
          <a:xfrm>
            <a:off x="9527307" y="4097274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9746382" y="425919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9708282" y="425919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２</a:t>
            </a:r>
            <a:endParaRPr lang="en-US" sz="1950" dirty="0"/>
          </a:p>
        </p:txBody>
      </p:sp>
      <p:sp>
        <p:nvSpPr>
          <p:cNvPr id="31" name="Text 28"/>
          <p:cNvSpPr/>
          <p:nvPr/>
        </p:nvSpPr>
        <p:spPr>
          <a:xfrm>
            <a:off x="10527432" y="4259199"/>
            <a:ext cx="668855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次に、</a:t>
            </a:r>
            <a:r>
              <a:rPr lang="en-US" sz="21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指を大きく開きます </a:t>
            </a:r>
            <a:r>
              <a:rPr lang="en-US" sz="21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(パー)。</a:t>
            </a:r>
            <a:endParaRPr lang="en-US" sz="2100" dirty="0"/>
          </a:p>
        </p:txBody>
      </p:sp>
      <p:sp>
        <p:nvSpPr>
          <p:cNvPr id="32" name="Shape 29"/>
          <p:cNvSpPr/>
          <p:nvPr/>
        </p:nvSpPr>
        <p:spPr>
          <a:xfrm>
            <a:off x="9527307" y="5068824"/>
            <a:ext cx="7712943" cy="967680"/>
          </a:xfrm>
          <a:prstGeom prst="roundRect">
            <a:avLst>
              <a:gd name="adj" fmla="val 11812"/>
            </a:avLst>
          </a:prstGeom>
          <a:solidFill>
            <a:srgbClr val="FAF1DE"/>
          </a:solidFill>
          <a:ln/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9736857" y="5343114"/>
            <a:ext cx="419100" cy="419100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9698757" y="5343114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10441707" y="5221224"/>
            <a:ext cx="6786663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開く動きが難しい時は、 </a:t>
            </a:r>
            <a:r>
              <a:rPr lang="en-US" sz="1800" b="1" dirty="0">
                <a:solidFill>
                  <a:srgbClr val="3D2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健側で1本ずつ </a:t>
            </a:r>
            <a:r>
              <a:rPr lang="en-US" sz="1800" b="1" dirty="0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伸ばしてあげましょう。痙縮対策にもつながります。</a:t>
            </a:r>
            <a:endParaRPr lang="en-US" sz="1800" dirty="0"/>
          </a:p>
        </p:txBody>
      </p:sp>
      <p:sp>
        <p:nvSpPr>
          <p:cNvPr id="36" name="Shape 33"/>
          <p:cNvSpPr/>
          <p:nvPr/>
        </p:nvSpPr>
        <p:spPr>
          <a:xfrm>
            <a:off x="9527307" y="6227004"/>
            <a:ext cx="7712943" cy="762000"/>
          </a:xfrm>
          <a:prstGeom prst="roundRect">
            <a:avLst>
              <a:gd name="adj" fmla="val 10000"/>
            </a:avLst>
          </a:prstGeom>
          <a:solidFill>
            <a:srgbClr val="FDECE8"/>
          </a:solidFill>
          <a:ln/>
        </p:spPr>
        <p:txBody>
          <a:bodyPr/>
          <a:p/>
        </p:txBody>
      </p:sp>
      <p:sp>
        <p:nvSpPr>
          <p:cNvPr id="37" name="Shape 34"/>
          <p:cNvSpPr/>
          <p:nvPr/>
        </p:nvSpPr>
        <p:spPr>
          <a:xfrm>
            <a:off x="9527307" y="6227004"/>
            <a:ext cx="57150" cy="762000"/>
          </a:xfrm>
          <a:prstGeom prst="rect">
            <a:avLst/>
          </a:prstGeom>
          <a:solidFill>
            <a:srgbClr val="E87362"/>
          </a:solidFill>
          <a:ln/>
        </p:spPr>
        <p:txBody>
          <a:bodyPr/>
          <a:p/>
        </p:txBody>
      </p:sp>
      <p:sp>
        <p:nvSpPr>
          <p:cNvPr id="38" name="Shape 35"/>
          <p:cNvSpPr/>
          <p:nvPr/>
        </p:nvSpPr>
        <p:spPr>
          <a:xfrm>
            <a:off x="9794007" y="6379404"/>
            <a:ext cx="457200" cy="457200"/>
          </a:xfrm>
          <a:prstGeom prst="ellipse">
            <a:avLst/>
          </a:prstGeom>
          <a:solidFill>
            <a:srgbClr val="E87362"/>
          </a:solidFill>
          <a:ln/>
        </p:spPr>
        <p:txBody>
          <a:bodyPr/>
          <a:p/>
        </p:txBody>
      </p:sp>
      <p:sp>
        <p:nvSpPr>
          <p:cNvPr id="39" name="Text 36"/>
          <p:cNvSpPr/>
          <p:nvPr/>
        </p:nvSpPr>
        <p:spPr>
          <a:xfrm>
            <a:off x="9755907" y="6379404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10536957" y="6436554"/>
            <a:ext cx="668855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握る力だけ強く、 </a:t>
            </a:r>
            <a:r>
              <a:rPr lang="en-US" sz="1800" b="1" dirty="0">
                <a:solidFill>
                  <a:srgbClr val="5A1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開く力が弱い </a:t>
            </a:r>
            <a:r>
              <a:rPr lang="en-US" sz="1800" b="1" dirty="0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ことが多いです。開く動作を丁寧に。</a:t>
            </a:r>
            <a:endParaRPr lang="en-US" sz="1800" dirty="0"/>
          </a:p>
        </p:txBody>
      </p:sp>
      <p:sp>
        <p:nvSpPr>
          <p:cNvPr id="42" name="TextBox 41"/>
          <p:cNvSpPr txBox="1"/>
          <p:nvPr/>
        </p:nvSpPr>
        <p:spPr>
          <a:xfrm>
            <a:off x="1097280" y="9052560"/>
            <a:ext cx="1609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334155"/>
                </a:solidFill>
                <a:latin typeface="Yu Gothic"/>
              </a:rPr>
              <a:t>目的：</a:t>
            </a:r>
            <a:r>
              <a:rPr sz="2800">
                <a:solidFill>
                  <a:srgbClr val="334155"/>
                </a:solidFill>
                <a:latin typeface="Yu Gothic"/>
              </a:rPr>
              <a:t>手指の動きを引き出し、握る力を保ちます。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687068"/>
            <a:ext cx="16192500" cy="19050"/>
          </a:xfrm>
          <a:prstGeom prst="rect">
            <a:avLst/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638603" y="727023"/>
            <a:ext cx="11586649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500" b="1" dirty="0">
                <a:solidFill>
                  <a:srgbClr val="11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机上で前方リーチ</a:t>
            </a:r>
            <a:endParaRPr lang="en-US" sz="4500" dirty="0"/>
          </a:p>
        </p:txBody>
      </p:sp>
      <p:sp>
        <p:nvSpPr>
          <p:cNvPr id="15" name="Shape 13"/>
          <p:cNvSpPr/>
          <p:nvPr/>
        </p:nvSpPr>
        <p:spPr>
          <a:xfrm>
            <a:off x="13973324" y="1807369"/>
            <a:ext cx="3266926" cy="1147763"/>
          </a:xfrm>
          <a:prstGeom prst="roundRect">
            <a:avLst>
              <a:gd name="adj" fmla="val 11618"/>
            </a:avLst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4159778" y="1959769"/>
            <a:ext cx="289401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kern="0" spc="324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回数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159778" y="2331244"/>
            <a:ext cx="2894018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10回 × 2セット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398718" y="2674620"/>
            <a:ext cx="8791001" cy="5765292"/>
          </a:xfrm>
          <a:prstGeom prst="roundRect">
            <a:avLst>
              <a:gd name="adj" fmla="val 2736"/>
            </a:avLst>
          </a:prstGeom>
          <a:solidFill>
            <a:srgbClr val="EAF1F9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9527307" y="2678049"/>
            <a:ext cx="794433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6B7480"/>
                </a:solidFill>
                <a:latin typeface="Yu Gothic" pitchFamily="34" charset="0"/>
                <a:ea typeface="Arial" pitchFamily="34" charset="-122"/>
                <a:cs typeface="Arial" pitchFamily="34" charset="-120"/>
              </a:rPr>
              <a:t>手順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9527307" y="3201924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9746382" y="336384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9708282" y="332867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１</a:t>
            </a:r>
            <a:endParaRPr lang="en-US" sz="1950" dirty="0"/>
          </a:p>
        </p:txBody>
      </p:sp>
      <p:sp>
        <p:nvSpPr>
          <p:cNvPr id="25" name="Text 22"/>
          <p:cNvSpPr/>
          <p:nvPr/>
        </p:nvSpPr>
        <p:spPr>
          <a:xfrm>
            <a:off x="10377820" y="3314401"/>
            <a:ext cx="668855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机に向かって座り、</a:t>
            </a:r>
            <a:r>
              <a:rPr lang="en-US" sz="20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麻痺側の手を机の上 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にのせます。</a:t>
            </a:r>
            <a:endParaRPr lang="en-US" sz="2000" dirty="0"/>
          </a:p>
        </p:txBody>
      </p:sp>
      <p:sp>
        <p:nvSpPr>
          <p:cNvPr id="26" name="Shape 23"/>
          <p:cNvSpPr/>
          <p:nvPr/>
        </p:nvSpPr>
        <p:spPr>
          <a:xfrm>
            <a:off x="9527307" y="4097275"/>
            <a:ext cx="7712943" cy="704849"/>
          </a:xfrm>
          <a:prstGeom prst="roundRect">
            <a:avLst>
              <a:gd name="adj" fmla="val 11618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7" name="Shape 24"/>
          <p:cNvSpPr/>
          <p:nvPr/>
        </p:nvSpPr>
        <p:spPr>
          <a:xfrm>
            <a:off x="9746382" y="425919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9708282" y="422402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２</a:t>
            </a:r>
            <a:endParaRPr lang="en-US" sz="1950" dirty="0"/>
          </a:p>
        </p:txBody>
      </p:sp>
      <p:sp>
        <p:nvSpPr>
          <p:cNvPr id="29" name="Text 26"/>
          <p:cNvSpPr/>
          <p:nvPr/>
        </p:nvSpPr>
        <p:spPr>
          <a:xfrm>
            <a:off x="10377820" y="4190143"/>
            <a:ext cx="7093818" cy="604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机の上を滑らせながら、</a:t>
            </a:r>
            <a:r>
              <a:rPr lang="en-US" sz="20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前に伸ばせる所まで 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手を出します。</a:t>
            </a:r>
            <a:endParaRPr lang="en-US" sz="2000" dirty="0"/>
          </a:p>
        </p:txBody>
      </p:sp>
      <p:grpSp>
        <p:nvGrpSpPr>
          <p:cNvPr id="41" name="グループ化 40">
            <a:extLst>
              <a:ext uri="{FF2B5EF4-FFF2-40B4-BE49-F238E27FC236}">
                <a16:creationId xmlns:a16="http://schemas.microsoft.com/office/drawing/2014/main" id="{B03C15D3-1373-B649-BB5E-93E867AFF31B}"/>
              </a:ext>
            </a:extLst>
          </p:cNvPr>
          <p:cNvGrpSpPr/>
          <p:nvPr/>
        </p:nvGrpSpPr>
        <p:grpSpPr>
          <a:xfrm>
            <a:off x="9527307" y="4937297"/>
            <a:ext cx="7712943" cy="781050"/>
            <a:chOff x="9527307" y="5938838"/>
            <a:chExt cx="7712943" cy="781050"/>
          </a:xfrm>
        </p:grpSpPr>
        <p:sp>
          <p:nvSpPr>
            <p:cNvPr id="30" name="Shape 27"/>
            <p:cNvSpPr/>
            <p:nvPr/>
          </p:nvSpPr>
          <p:spPr>
            <a:xfrm>
              <a:off x="9527307" y="5938838"/>
              <a:ext cx="7712943" cy="781050"/>
            </a:xfrm>
            <a:prstGeom prst="roundRect">
              <a:avLst>
                <a:gd name="adj" fmla="val 17073"/>
              </a:avLst>
            </a:prstGeom>
            <a:solidFill>
              <a:srgbClr val="FFFFFF"/>
            </a:solidFill>
            <a:ln w="9525">
              <a:solidFill>
                <a:srgbClr val="E3E6EA"/>
              </a:solidFill>
              <a:prstDash val="solid"/>
            </a:ln>
          </p:spPr>
        </p:sp>
        <p:sp>
          <p:nvSpPr>
            <p:cNvPr id="31" name="Shape 28"/>
            <p:cNvSpPr/>
            <p:nvPr/>
          </p:nvSpPr>
          <p:spPr>
            <a:xfrm>
              <a:off x="9746382" y="6100763"/>
              <a:ext cx="457200" cy="457200"/>
            </a:xfrm>
            <a:prstGeom prst="ellipse">
              <a:avLst/>
            </a:prstGeom>
            <a:solidFill>
              <a:srgbClr val="3B6EA8"/>
            </a:solidFill>
            <a:ln/>
          </p:spPr>
        </p:sp>
        <p:sp>
          <p:nvSpPr>
            <p:cNvPr id="32" name="Text 29"/>
            <p:cNvSpPr/>
            <p:nvPr/>
          </p:nvSpPr>
          <p:spPr>
            <a:xfrm>
              <a:off x="9708282" y="6065593"/>
              <a:ext cx="533400" cy="4953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950" b="1" dirty="0">
                  <a:solidFill>
                    <a:srgbClr val="FFFFFF"/>
                  </a:solidFill>
                  <a:latin typeface="Georgia" pitchFamily="34" charset="0"/>
                </a:rPr>
                <a:t>３</a:t>
              </a:r>
            </a:p>
          </p:txBody>
        </p:sp>
      </p:grpSp>
      <p:sp>
        <p:nvSpPr>
          <p:cNvPr id="33" name="Text 30"/>
          <p:cNvSpPr/>
          <p:nvPr/>
        </p:nvSpPr>
        <p:spPr>
          <a:xfrm>
            <a:off x="10527432" y="5099222"/>
            <a:ext cx="668855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同じ軌道で、</a:t>
            </a:r>
            <a:r>
              <a:rPr lang="en-US" sz="20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ゆっくり手元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まで戻します。</a:t>
            </a:r>
            <a:endParaRPr lang="en-US" sz="2000" dirty="0"/>
          </a:p>
        </p:txBody>
      </p:sp>
      <p:grpSp>
        <p:nvGrpSpPr>
          <p:cNvPr id="43" name="グループ化 42">
            <a:extLst>
              <a:ext uri="{FF2B5EF4-FFF2-40B4-BE49-F238E27FC236}">
                <a16:creationId xmlns:a16="http://schemas.microsoft.com/office/drawing/2014/main" id="{4CB15133-0822-4E4C-84E9-AB9447B7BD51}"/>
              </a:ext>
            </a:extLst>
          </p:cNvPr>
          <p:cNvGrpSpPr/>
          <p:nvPr/>
        </p:nvGrpSpPr>
        <p:grpSpPr>
          <a:xfrm>
            <a:off x="9527307" y="6330887"/>
            <a:ext cx="7712943" cy="1015156"/>
            <a:chOff x="9527307" y="6910388"/>
            <a:chExt cx="7712943" cy="1015156"/>
          </a:xfrm>
        </p:grpSpPr>
        <p:sp>
          <p:nvSpPr>
            <p:cNvPr id="34" name="Shape 31"/>
            <p:cNvSpPr/>
            <p:nvPr/>
          </p:nvSpPr>
          <p:spPr>
            <a:xfrm>
              <a:off x="9527307" y="6910388"/>
              <a:ext cx="7712943" cy="967680"/>
            </a:xfrm>
            <a:prstGeom prst="roundRect">
              <a:avLst>
                <a:gd name="adj" fmla="val 11812"/>
              </a:avLst>
            </a:prstGeom>
            <a:solidFill>
              <a:srgbClr val="FAF1DE"/>
            </a:solidFill>
            <a:ln/>
          </p:spPr>
        </p:sp>
        <p:sp>
          <p:nvSpPr>
            <p:cNvPr id="35" name="Shape 32"/>
            <p:cNvSpPr/>
            <p:nvPr/>
          </p:nvSpPr>
          <p:spPr>
            <a:xfrm>
              <a:off x="9736857" y="7184678"/>
              <a:ext cx="419100" cy="419100"/>
            </a:xfrm>
            <a:prstGeom prst="ellipse">
              <a:avLst/>
            </a:prstGeom>
            <a:solidFill>
              <a:srgbClr val="C98A2B"/>
            </a:solidFill>
            <a:ln/>
          </p:spPr>
        </p:sp>
        <p:sp>
          <p:nvSpPr>
            <p:cNvPr id="36" name="Text 33"/>
            <p:cNvSpPr/>
            <p:nvPr/>
          </p:nvSpPr>
          <p:spPr>
            <a:xfrm>
              <a:off x="9698757" y="7184678"/>
              <a:ext cx="495300" cy="4572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◎</a:t>
              </a:r>
              <a:endParaRPr lang="en-US" sz="1800" dirty="0"/>
            </a:p>
          </p:txBody>
        </p:sp>
        <p:sp>
          <p:nvSpPr>
            <p:cNvPr id="37" name="Text 34"/>
            <p:cNvSpPr/>
            <p:nvPr/>
          </p:nvSpPr>
          <p:spPr>
            <a:xfrm>
              <a:off x="10441707" y="6922108"/>
              <a:ext cx="6786663" cy="100343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lnSpc>
                  <a:spcPct val="145000"/>
                </a:lnSpc>
                <a:buNone/>
              </a:pPr>
              <a:r>
                <a:rPr lang="en-US" sz="2000" b="1" dirty="0">
                  <a:solidFill>
                    <a:srgbClr val="3D280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 xml:space="preserve">肩がすくまないよう、 </a:t>
              </a:r>
              <a:r>
                <a:rPr lang="ja-JP" altLang="en-US" sz="2000" b="1">
                  <a:solidFill>
                    <a:srgbClr val="3D280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肩の</a:t>
              </a:r>
              <a:r>
                <a:rPr lang="ja-JP" altLang="en-US" sz="2000" b="1">
                  <a:solidFill>
                    <a:srgbClr val="5A3D1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力を抜いて行いましょう。</a:t>
              </a:r>
              <a:endParaRPr lang="en-US" sz="2000" b="1" dirty="0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endParaRPr>
            </a:p>
            <a:p>
              <a:pPr marL="0" indent="0" algn="l">
                <a:lnSpc>
                  <a:spcPct val="145000"/>
                </a:lnSpc>
                <a:buNone/>
              </a:pPr>
              <a:r>
                <a:rPr lang="ja-JP" altLang="en-US" sz="2000" b="1">
                  <a:solidFill>
                    <a:srgbClr val="5A3D1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麻痺側の使える範囲を</a:t>
              </a:r>
              <a:r>
                <a:rPr lang="en-US" sz="2000" b="1" dirty="0" err="1">
                  <a:solidFill>
                    <a:srgbClr val="5A3D1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を少しずつ広げていきましょう</a:t>
              </a:r>
              <a:r>
                <a:rPr lang="en-US" sz="2000" b="1" dirty="0">
                  <a:solidFill>
                    <a:srgbClr val="5A3D1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。</a:t>
              </a:r>
              <a:endParaRPr lang="en-US" sz="2000" dirty="0"/>
            </a:p>
          </p:txBody>
        </p:sp>
      </p:grpSp>
      <p:pic>
        <p:nvPicPr>
          <p:cNvPr id="45" name="図 44">
            <a:extLst>
              <a:ext uri="{FF2B5EF4-FFF2-40B4-BE49-F238E27FC236}">
                <a16:creationId xmlns:a16="http://schemas.microsoft.com/office/drawing/2014/main" id="{583AB458-7EE6-3649-901A-E88E0FCA1C5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7147" r="31693" b="25729"/>
          <a:stretch/>
        </p:blipFill>
        <p:spPr>
          <a:xfrm>
            <a:off x="2094817" y="2818752"/>
            <a:ext cx="5398802" cy="5477027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097280" y="9052560"/>
            <a:ext cx="1609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334155"/>
                </a:solidFill>
                <a:latin typeface="Yu Gothic"/>
              </a:rPr>
              <a:t>目的：</a:t>
            </a:r>
            <a:r>
              <a:rPr sz="2800">
                <a:solidFill>
                  <a:srgbClr val="334155"/>
                </a:solidFill>
                <a:latin typeface="Yu Gothic"/>
              </a:rPr>
              <a:t>前に手を伸ばす動きを練習し、生活動作を広げます。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687068"/>
            <a:ext cx="16192500" cy="19050"/>
          </a:xfrm>
          <a:prstGeom prst="rect">
            <a:avLst/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638603" y="727023"/>
            <a:ext cx="1205059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500" b="1" dirty="0">
                <a:solidFill>
                  <a:srgbClr val="11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スプーンで食事練習</a:t>
            </a:r>
            <a:endParaRPr lang="en-US" sz="4500" dirty="0"/>
          </a:p>
        </p:txBody>
      </p:sp>
      <p:sp>
        <p:nvSpPr>
          <p:cNvPr id="15" name="Shape 13"/>
          <p:cNvSpPr/>
          <p:nvPr/>
        </p:nvSpPr>
        <p:spPr>
          <a:xfrm>
            <a:off x="14423752" y="1807369"/>
            <a:ext cx="2816498" cy="1147763"/>
          </a:xfrm>
          <a:prstGeom prst="roundRect">
            <a:avLst>
              <a:gd name="adj" fmla="val 11618"/>
            </a:avLst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4614252" y="1959769"/>
            <a:ext cx="243549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kern="0" spc="324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回数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614252" y="2331244"/>
            <a:ext cx="2435498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食事の一口目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398718" y="2674620"/>
            <a:ext cx="8791001" cy="5765292"/>
          </a:xfrm>
          <a:prstGeom prst="roundRect">
            <a:avLst>
              <a:gd name="adj" fmla="val 2736"/>
            </a:avLst>
          </a:prstGeom>
          <a:solidFill>
            <a:srgbClr val="EAF1F9"/>
          </a:solidFill>
          <a:ln/>
        </p:spPr>
        <p:txBody>
          <a:bodyPr/>
          <a:p/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8493" y="2818752"/>
            <a:ext cx="8351450" cy="5477027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9527307" y="2678049"/>
            <a:ext cx="794433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6B7480"/>
                </a:solidFill>
                <a:latin typeface="Yu Gothic" pitchFamily="34" charset="0"/>
                <a:ea typeface="Arial" pitchFamily="34" charset="-122"/>
                <a:cs typeface="Arial" pitchFamily="34" charset="-120"/>
              </a:rPr>
              <a:t>手順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9527307" y="3201924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9746382" y="336384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9708282" y="336384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１</a:t>
            </a:r>
            <a:endParaRPr lang="en-US" sz="1950" dirty="0"/>
          </a:p>
        </p:txBody>
      </p:sp>
      <p:sp>
        <p:nvSpPr>
          <p:cNvPr id="25" name="Text 22"/>
          <p:cNvSpPr/>
          <p:nvPr/>
        </p:nvSpPr>
        <p:spPr>
          <a:xfrm>
            <a:off x="10527432" y="3363849"/>
            <a:ext cx="668855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麻痺側の手で </a:t>
            </a:r>
            <a:r>
              <a:rPr lang="en-US" sz="20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スプーンを握り、 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食べ物をすくいます。</a:t>
            </a:r>
            <a:endParaRPr lang="en-US" sz="2000" dirty="0"/>
          </a:p>
        </p:txBody>
      </p:sp>
      <p:sp>
        <p:nvSpPr>
          <p:cNvPr id="26" name="Shape 23"/>
          <p:cNvSpPr/>
          <p:nvPr/>
        </p:nvSpPr>
        <p:spPr>
          <a:xfrm>
            <a:off x="9527307" y="4097274"/>
            <a:ext cx="7712943" cy="775097"/>
          </a:xfrm>
          <a:prstGeom prst="roundRect">
            <a:avLst>
              <a:gd name="adj" fmla="val 11618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7" name="Shape 24"/>
          <p:cNvSpPr/>
          <p:nvPr/>
        </p:nvSpPr>
        <p:spPr>
          <a:xfrm>
            <a:off x="9746382" y="425919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5"/>
          <p:cNvSpPr/>
          <p:nvPr/>
        </p:nvSpPr>
        <p:spPr>
          <a:xfrm>
            <a:off x="9708282" y="425919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２</a:t>
            </a:r>
            <a:endParaRPr lang="en-US" sz="1950" dirty="0"/>
          </a:p>
        </p:txBody>
      </p:sp>
      <p:sp>
        <p:nvSpPr>
          <p:cNvPr id="29" name="Text 26"/>
          <p:cNvSpPr/>
          <p:nvPr/>
        </p:nvSpPr>
        <p:spPr>
          <a:xfrm>
            <a:off x="10527431" y="4155169"/>
            <a:ext cx="6688555" cy="6658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ゆっくり口まで</a:t>
            </a:r>
            <a:r>
              <a:rPr lang="en-US" sz="20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運び、食べる 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練習をします。</a:t>
            </a:r>
            <a:endParaRPr lang="en-US" sz="2000" dirty="0"/>
          </a:p>
        </p:txBody>
      </p:sp>
      <p:sp>
        <p:nvSpPr>
          <p:cNvPr id="30" name="Shape 27"/>
          <p:cNvSpPr/>
          <p:nvPr/>
        </p:nvSpPr>
        <p:spPr>
          <a:xfrm>
            <a:off x="9527307" y="5435537"/>
            <a:ext cx="7712943" cy="967680"/>
          </a:xfrm>
          <a:prstGeom prst="roundRect">
            <a:avLst>
              <a:gd name="adj" fmla="val 11812"/>
            </a:avLst>
          </a:prstGeom>
          <a:solidFill>
            <a:srgbClr val="FAF1DE"/>
          </a:solidFill>
          <a:ln/>
        </p:spPr>
        <p:txBody>
          <a:bodyPr/>
          <a:p/>
        </p:txBody>
      </p:sp>
      <p:sp>
        <p:nvSpPr>
          <p:cNvPr id="31" name="Shape 28"/>
          <p:cNvSpPr/>
          <p:nvPr/>
        </p:nvSpPr>
        <p:spPr>
          <a:xfrm>
            <a:off x="9736857" y="5709827"/>
            <a:ext cx="419100" cy="419100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9698757" y="5709827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10441707" y="5587937"/>
            <a:ext cx="6786663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最初は食事の一口目だけ </a:t>
            </a:r>
            <a:r>
              <a:rPr lang="en-US" sz="1800" b="1" dirty="0">
                <a:solidFill>
                  <a:srgbClr val="3D2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からでOK </a:t>
            </a:r>
            <a:r>
              <a:rPr lang="en-US" sz="1800" b="1" dirty="0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。柄の太いスプーンや滑り止めシートも活用しましょう。</a:t>
            </a:r>
            <a:endParaRPr lang="en-US" sz="1800" dirty="0"/>
          </a:p>
        </p:txBody>
      </p:sp>
      <p:sp>
        <p:nvSpPr>
          <p:cNvPr id="34" name="Shape 31"/>
          <p:cNvSpPr/>
          <p:nvPr/>
        </p:nvSpPr>
        <p:spPr>
          <a:xfrm>
            <a:off x="9527307" y="6593717"/>
            <a:ext cx="7712943" cy="990600"/>
          </a:xfrm>
          <a:prstGeom prst="roundRect">
            <a:avLst>
              <a:gd name="adj" fmla="val 7692"/>
            </a:avLst>
          </a:prstGeom>
          <a:solidFill>
            <a:srgbClr val="FDECE8"/>
          </a:solidFill>
          <a:ln/>
        </p:spPr>
        <p:txBody>
          <a:bodyPr/>
          <a:p/>
        </p:txBody>
      </p:sp>
      <p:sp>
        <p:nvSpPr>
          <p:cNvPr id="35" name="Shape 32"/>
          <p:cNvSpPr/>
          <p:nvPr/>
        </p:nvSpPr>
        <p:spPr>
          <a:xfrm>
            <a:off x="9527307" y="6593717"/>
            <a:ext cx="57150" cy="990600"/>
          </a:xfrm>
          <a:prstGeom prst="rect">
            <a:avLst/>
          </a:prstGeom>
          <a:solidFill>
            <a:srgbClr val="E87362"/>
          </a:solidFill>
          <a:ln/>
        </p:spPr>
        <p:txBody>
          <a:bodyPr/>
          <a:p/>
        </p:txBody>
      </p:sp>
      <p:sp>
        <p:nvSpPr>
          <p:cNvPr id="36" name="Shape 33"/>
          <p:cNvSpPr/>
          <p:nvPr/>
        </p:nvSpPr>
        <p:spPr>
          <a:xfrm>
            <a:off x="9794007" y="6860417"/>
            <a:ext cx="457200" cy="457200"/>
          </a:xfrm>
          <a:prstGeom prst="ellipse">
            <a:avLst/>
          </a:prstGeom>
          <a:solidFill>
            <a:srgbClr val="E87362"/>
          </a:solidFill>
          <a:ln/>
        </p:spPr>
        <p:txBody>
          <a:bodyPr/>
          <a:p/>
        </p:txBody>
      </p:sp>
      <p:sp>
        <p:nvSpPr>
          <p:cNvPr id="37" name="Text 34"/>
          <p:cNvSpPr/>
          <p:nvPr/>
        </p:nvSpPr>
        <p:spPr>
          <a:xfrm>
            <a:off x="9755907" y="6860417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100" dirty="0"/>
          </a:p>
        </p:txBody>
      </p:sp>
      <p:sp>
        <p:nvSpPr>
          <p:cNvPr id="38" name="Text 35"/>
          <p:cNvSpPr/>
          <p:nvPr/>
        </p:nvSpPr>
        <p:spPr>
          <a:xfrm>
            <a:off x="10536957" y="6746117"/>
            <a:ext cx="668855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むせや誤嚥に注意 </a:t>
            </a:r>
            <a:r>
              <a:rPr lang="en-US" sz="1800" b="1" dirty="0">
                <a:solidFill>
                  <a:srgbClr val="5A1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。姿勢を整え、 </a:t>
            </a:r>
            <a:r>
              <a:rPr lang="en-US" sz="1800" b="1" dirty="0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焦らずゆっくり食べましょう。飲み込みに不安があれば相談を。</a:t>
            </a:r>
            <a:endParaRPr lang="en-US" sz="1800" dirty="0"/>
          </a:p>
        </p:txBody>
      </p:sp>
      <p:sp>
        <p:nvSpPr>
          <p:cNvPr id="40" name="TextBox 39"/>
          <p:cNvSpPr txBox="1"/>
          <p:nvPr/>
        </p:nvSpPr>
        <p:spPr>
          <a:xfrm>
            <a:off x="1097280" y="9052560"/>
            <a:ext cx="1609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334155"/>
                </a:solidFill>
                <a:latin typeface="Yu Gothic"/>
              </a:rPr>
              <a:t>目的：</a:t>
            </a:r>
            <a:r>
              <a:rPr sz="2800">
                <a:solidFill>
                  <a:srgbClr val="334155"/>
                </a:solidFill>
                <a:latin typeface="Yu Gothic"/>
              </a:rPr>
              <a:t>食べる動作を練習し、自分で食事する力を高めます。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687068"/>
            <a:ext cx="16192500" cy="19050"/>
          </a:xfrm>
          <a:prstGeom prst="rect">
            <a:avLst/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638603" y="727023"/>
            <a:ext cx="12123328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500" b="1" dirty="0">
                <a:solidFill>
                  <a:srgbClr val="11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バスタオルをたたむ</a:t>
            </a:r>
            <a:endParaRPr lang="en-US" sz="4500" dirty="0"/>
          </a:p>
        </p:txBody>
      </p:sp>
      <p:sp>
        <p:nvSpPr>
          <p:cNvPr id="17" name="Shape 15"/>
          <p:cNvSpPr/>
          <p:nvPr/>
        </p:nvSpPr>
        <p:spPr>
          <a:xfrm>
            <a:off x="14494371" y="1807369"/>
            <a:ext cx="2745879" cy="1147763"/>
          </a:xfrm>
          <a:prstGeom prst="roundRect">
            <a:avLst>
              <a:gd name="adj" fmla="val 11618"/>
            </a:avLst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4684871" y="1959769"/>
            <a:ext cx="236487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kern="0" spc="324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回数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84871" y="2331244"/>
            <a:ext cx="2364879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altLang="ja-JP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ja-JP" altLang="en-US" sz="25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枚</a:t>
            </a: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× 2セット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398718" y="2674620"/>
            <a:ext cx="8791001" cy="5765292"/>
          </a:xfrm>
          <a:prstGeom prst="roundRect">
            <a:avLst>
              <a:gd name="adj" fmla="val 2736"/>
            </a:avLst>
          </a:prstGeom>
          <a:solidFill>
            <a:srgbClr val="EAF1F9"/>
          </a:solidFill>
          <a:ln/>
        </p:spPr>
        <p:txBody>
          <a:bodyPr/>
          <a:p/>
        </p:txBody>
      </p:sp>
      <p:pic>
        <p:nvPicPr>
          <p:cNvPr id="21" name="Image 0"/>
          <p:cNvPicPr>
            <a:picLocks noChangeAspect="1"/>
          </p:cNvPicPr>
          <p:nvPr/>
        </p:nvPicPr>
        <p:blipFill rotWithShape="1">
          <a:blip r:embed="rId3"/>
          <a:srcRect l="21728" r="24623" b="26332"/>
          <a:stretch/>
        </p:blipFill>
        <p:spPr>
          <a:xfrm>
            <a:off x="1246956" y="2818752"/>
            <a:ext cx="7094524" cy="5477027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9527307" y="2678049"/>
            <a:ext cx="794433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6B7480"/>
                </a:solidFill>
                <a:latin typeface="Yu Gothic" pitchFamily="34" charset="0"/>
                <a:ea typeface="Arial" pitchFamily="34" charset="-122"/>
                <a:cs typeface="Arial" pitchFamily="34" charset="-120"/>
              </a:rPr>
              <a:t>手順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9527307" y="3201924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9746382" y="336384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3"/>
          <p:cNvSpPr/>
          <p:nvPr/>
        </p:nvSpPr>
        <p:spPr>
          <a:xfrm>
            <a:off x="9708282" y="336384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１</a:t>
            </a:r>
            <a:endParaRPr lang="en-US" sz="1950" dirty="0"/>
          </a:p>
        </p:txBody>
      </p:sp>
      <p:sp>
        <p:nvSpPr>
          <p:cNvPr id="27" name="Text 24"/>
          <p:cNvSpPr/>
          <p:nvPr/>
        </p:nvSpPr>
        <p:spPr>
          <a:xfrm>
            <a:off x="10527432" y="3363849"/>
            <a:ext cx="668855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机の上にバスタオルを </a:t>
            </a:r>
            <a:r>
              <a:rPr lang="en-US" sz="21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広げ、両端を </a:t>
            </a:r>
            <a:r>
              <a:rPr lang="en-US" sz="21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両手で持ちます。</a:t>
            </a:r>
            <a:endParaRPr lang="en-US" sz="2100" dirty="0"/>
          </a:p>
        </p:txBody>
      </p:sp>
      <p:sp>
        <p:nvSpPr>
          <p:cNvPr id="28" name="Shape 25"/>
          <p:cNvSpPr/>
          <p:nvPr/>
        </p:nvSpPr>
        <p:spPr>
          <a:xfrm>
            <a:off x="9527307" y="4097274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9746382" y="425919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9708282" y="425919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２</a:t>
            </a:r>
            <a:endParaRPr lang="en-US" sz="1950" dirty="0"/>
          </a:p>
        </p:txBody>
      </p:sp>
      <p:sp>
        <p:nvSpPr>
          <p:cNvPr id="31" name="Text 28"/>
          <p:cNvSpPr/>
          <p:nvPr/>
        </p:nvSpPr>
        <p:spPr>
          <a:xfrm>
            <a:off x="10527432" y="4259199"/>
            <a:ext cx="668855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麻痺側も一緒に </a:t>
            </a:r>
            <a:r>
              <a:rPr lang="en-US" sz="21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動かして、半分に </a:t>
            </a:r>
            <a:r>
              <a:rPr lang="en-US" sz="21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たたみます。</a:t>
            </a:r>
            <a:endParaRPr lang="en-US" sz="2100" dirty="0"/>
          </a:p>
        </p:txBody>
      </p:sp>
      <p:sp>
        <p:nvSpPr>
          <p:cNvPr id="32" name="Shape 29"/>
          <p:cNvSpPr/>
          <p:nvPr/>
        </p:nvSpPr>
        <p:spPr>
          <a:xfrm>
            <a:off x="9527307" y="4992624"/>
            <a:ext cx="7712943" cy="866775"/>
          </a:xfrm>
          <a:prstGeom prst="roundRect">
            <a:avLst>
              <a:gd name="adj" fmla="val 11618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9746382" y="5201043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9708282" y="515454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３</a:t>
            </a:r>
            <a:endParaRPr lang="en-US" sz="1950" dirty="0"/>
          </a:p>
        </p:txBody>
      </p:sp>
      <p:sp>
        <p:nvSpPr>
          <p:cNvPr id="35" name="Text 32"/>
          <p:cNvSpPr/>
          <p:nvPr/>
        </p:nvSpPr>
        <p:spPr>
          <a:xfrm>
            <a:off x="10527432" y="5154549"/>
            <a:ext cx="6688555" cy="862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さらに半分、</a:t>
            </a:r>
            <a:r>
              <a:rPr lang="en-US" sz="21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また半分と</a:t>
            </a:r>
            <a:r>
              <a:rPr lang="en-US" sz="21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折り重ねていきます。</a:t>
            </a:r>
            <a:endParaRPr lang="en-US" sz="2100" dirty="0"/>
          </a:p>
        </p:txBody>
      </p:sp>
      <p:grpSp>
        <p:nvGrpSpPr>
          <p:cNvPr id="44" name="グループ化 43">
            <a:extLst>
              <a:ext uri="{FF2B5EF4-FFF2-40B4-BE49-F238E27FC236}">
                <a16:creationId xmlns:a16="http://schemas.microsoft.com/office/drawing/2014/main" id="{BFB845E6-F5E9-B246-9DB2-2E1A2132858E}"/>
              </a:ext>
            </a:extLst>
          </p:cNvPr>
          <p:cNvGrpSpPr/>
          <p:nvPr/>
        </p:nvGrpSpPr>
        <p:grpSpPr>
          <a:xfrm>
            <a:off x="9527307" y="6123471"/>
            <a:ext cx="8461755" cy="1113938"/>
            <a:chOff x="9527307" y="6878822"/>
            <a:chExt cx="8461755" cy="1113938"/>
          </a:xfrm>
        </p:grpSpPr>
        <p:sp>
          <p:nvSpPr>
            <p:cNvPr id="36" name="Shape 33"/>
            <p:cNvSpPr/>
            <p:nvPr/>
          </p:nvSpPr>
          <p:spPr>
            <a:xfrm>
              <a:off x="9527307" y="6878822"/>
              <a:ext cx="7712943" cy="1113299"/>
            </a:xfrm>
            <a:prstGeom prst="roundRect">
              <a:avLst>
                <a:gd name="adj" fmla="val 11812"/>
              </a:avLst>
            </a:prstGeom>
            <a:solidFill>
              <a:srgbClr val="FAF1DE"/>
            </a:solidFill>
            <a:ln/>
          </p:spPr>
        </p:sp>
        <p:sp>
          <p:nvSpPr>
            <p:cNvPr id="37" name="Shape 34"/>
            <p:cNvSpPr/>
            <p:nvPr/>
          </p:nvSpPr>
          <p:spPr>
            <a:xfrm>
              <a:off x="9721359" y="7169180"/>
              <a:ext cx="457200" cy="457200"/>
            </a:xfrm>
            <a:prstGeom prst="ellipse">
              <a:avLst/>
            </a:prstGeom>
            <a:solidFill>
              <a:srgbClr val="C98A2B"/>
            </a:solidFill>
            <a:ln/>
          </p:spPr>
        </p:sp>
        <p:sp>
          <p:nvSpPr>
            <p:cNvPr id="38" name="Text 35"/>
            <p:cNvSpPr/>
            <p:nvPr/>
          </p:nvSpPr>
          <p:spPr>
            <a:xfrm>
              <a:off x="9698757" y="7184678"/>
              <a:ext cx="495300" cy="4572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◎</a:t>
              </a:r>
              <a:endParaRPr lang="en-US" sz="1800" dirty="0"/>
            </a:p>
          </p:txBody>
        </p:sp>
        <p:sp>
          <p:nvSpPr>
            <p:cNvPr id="39" name="Text 36"/>
            <p:cNvSpPr/>
            <p:nvPr/>
          </p:nvSpPr>
          <p:spPr>
            <a:xfrm>
              <a:off x="10241682" y="6896377"/>
              <a:ext cx="7747380" cy="1096383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lnSpc>
                  <a:spcPct val="145000"/>
                </a:lnSpc>
                <a:buNone/>
              </a:pPr>
              <a:r>
                <a:rPr lang="ja-JP" altLang="en-US" sz="2000" b="1">
                  <a:solidFill>
                    <a:srgbClr val="3D280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非麻痺側でリードするイメージ</a:t>
              </a:r>
              <a:r>
                <a:rPr lang="en-US" sz="2000" b="1" dirty="0">
                  <a:solidFill>
                    <a:srgbClr val="5A3D1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。</a:t>
              </a:r>
            </a:p>
            <a:p>
              <a:pPr marL="0" indent="0" algn="l">
                <a:lnSpc>
                  <a:spcPct val="145000"/>
                </a:lnSpc>
                <a:buNone/>
              </a:pPr>
              <a:r>
                <a:rPr lang="ja-JP" altLang="en-US" sz="2000" b="1">
                  <a:solidFill>
                    <a:srgbClr val="5A3D1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バスタオル</a:t>
              </a:r>
              <a:r>
                <a:rPr lang="en-US" sz="2000" b="1" dirty="0">
                  <a:solidFill>
                    <a:srgbClr val="5A3D1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→</a:t>
              </a:r>
              <a:r>
                <a:rPr lang="ja-JP" altLang="en-US" sz="2000" b="1">
                  <a:solidFill>
                    <a:srgbClr val="5A3D1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フェイスタオル</a:t>
              </a:r>
              <a:r>
                <a:rPr lang="en-US" sz="2000" b="1" dirty="0">
                  <a:solidFill>
                    <a:srgbClr val="5A3D1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→</a:t>
              </a:r>
              <a:r>
                <a:rPr lang="ja-JP" altLang="en-US" sz="2000" b="1">
                  <a:solidFill>
                    <a:srgbClr val="5A3D1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ハンカチと段階付けましょう。</a:t>
              </a:r>
              <a:endParaRPr lang="en-US" altLang="ja-JP" sz="2000" b="1" dirty="0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endParaRPr>
            </a:p>
          </p:txBody>
        </p:sp>
      </p:grpSp>
      <p:sp>
        <p:nvSpPr>
          <p:cNvPr id="45" name="TextBox 44"/>
          <p:cNvSpPr txBox="1"/>
          <p:nvPr/>
        </p:nvSpPr>
        <p:spPr>
          <a:xfrm>
            <a:off x="1097280" y="9052560"/>
            <a:ext cx="1609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334155"/>
                </a:solidFill>
                <a:latin typeface="Yu Gothic"/>
              </a:rPr>
              <a:t>目的：</a:t>
            </a:r>
            <a:r>
              <a:rPr sz="2800">
                <a:solidFill>
                  <a:srgbClr val="334155"/>
                </a:solidFill>
                <a:latin typeface="Yu Gothic"/>
              </a:rPr>
              <a:t>両手を使う作業で、腕と手の実用的な動きを高めます。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687068"/>
            <a:ext cx="16192500" cy="19050"/>
          </a:xfrm>
          <a:prstGeom prst="rect">
            <a:avLst/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638603" y="727023"/>
            <a:ext cx="1205059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500" b="1" dirty="0" err="1">
                <a:solidFill>
                  <a:srgbClr val="11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麻痺側で書字</a:t>
            </a:r>
            <a:endParaRPr lang="en-US" sz="4500" dirty="0"/>
          </a:p>
        </p:txBody>
      </p:sp>
      <p:sp>
        <p:nvSpPr>
          <p:cNvPr id="17" name="Shape 15"/>
          <p:cNvSpPr/>
          <p:nvPr/>
        </p:nvSpPr>
        <p:spPr>
          <a:xfrm>
            <a:off x="14423752" y="1807369"/>
            <a:ext cx="2816498" cy="1147763"/>
          </a:xfrm>
          <a:prstGeom prst="roundRect">
            <a:avLst>
              <a:gd name="adj" fmla="val 11618"/>
            </a:avLst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4614252" y="1959769"/>
            <a:ext cx="243549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kern="0" spc="324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回数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14252" y="2331244"/>
            <a:ext cx="2435498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10文字 × 1セット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398718" y="2674620"/>
            <a:ext cx="8791001" cy="5765292"/>
          </a:xfrm>
          <a:prstGeom prst="roundRect">
            <a:avLst>
              <a:gd name="adj" fmla="val 2736"/>
            </a:avLst>
          </a:prstGeom>
          <a:solidFill>
            <a:srgbClr val="EAF1F9"/>
          </a:solidFill>
          <a:ln/>
        </p:spPr>
        <p:txBody>
          <a:bodyPr/>
          <a:p/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8493" y="2818752"/>
            <a:ext cx="8351450" cy="5477027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9527307" y="2678049"/>
            <a:ext cx="794433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6B7480"/>
                </a:solidFill>
                <a:latin typeface="Yu Gothic" pitchFamily="34" charset="0"/>
                <a:ea typeface="Arial" pitchFamily="34" charset="-122"/>
                <a:cs typeface="Arial" pitchFamily="34" charset="-120"/>
              </a:rPr>
              <a:t>手順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9527307" y="3201924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9746382" y="336384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9708282" y="336384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１</a:t>
            </a:r>
            <a:endParaRPr lang="en-US" sz="1950" dirty="0"/>
          </a:p>
        </p:txBody>
      </p:sp>
      <p:sp>
        <p:nvSpPr>
          <p:cNvPr id="27" name="Text 24"/>
          <p:cNvSpPr/>
          <p:nvPr/>
        </p:nvSpPr>
        <p:spPr>
          <a:xfrm>
            <a:off x="10527432" y="3363849"/>
            <a:ext cx="668855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b="1" dirty="0" err="1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ペンを</a:t>
            </a:r>
            <a:r>
              <a:rPr lang="en-US" sz="21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麻痺側の手で持ちます</a:t>
            </a:r>
            <a:r>
              <a:rPr lang="en-US" sz="21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100" dirty="0"/>
          </a:p>
        </p:txBody>
      </p:sp>
      <p:sp>
        <p:nvSpPr>
          <p:cNvPr id="28" name="Shape 25"/>
          <p:cNvSpPr/>
          <p:nvPr/>
        </p:nvSpPr>
        <p:spPr>
          <a:xfrm>
            <a:off x="9527307" y="4097274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9746382" y="425919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9708282" y="425919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２</a:t>
            </a:r>
            <a:endParaRPr lang="en-US" sz="1950" dirty="0"/>
          </a:p>
        </p:txBody>
      </p:sp>
      <p:sp>
        <p:nvSpPr>
          <p:cNvPr id="31" name="Text 28"/>
          <p:cNvSpPr/>
          <p:nvPr/>
        </p:nvSpPr>
        <p:spPr>
          <a:xfrm>
            <a:off x="10527432" y="4259199"/>
            <a:ext cx="668855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紙に、自分の名前や </a:t>
            </a:r>
            <a:r>
              <a:rPr lang="en-US" sz="21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簡単な文字を書きます</a:t>
            </a:r>
            <a:r>
              <a:rPr lang="en-US" sz="21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100" dirty="0"/>
          </a:p>
        </p:txBody>
      </p:sp>
      <p:sp>
        <p:nvSpPr>
          <p:cNvPr id="32" name="Shape 29"/>
          <p:cNvSpPr/>
          <p:nvPr/>
        </p:nvSpPr>
        <p:spPr>
          <a:xfrm>
            <a:off x="9527307" y="5068824"/>
            <a:ext cx="7712943" cy="967680"/>
          </a:xfrm>
          <a:prstGeom prst="roundRect">
            <a:avLst>
              <a:gd name="adj" fmla="val 11812"/>
            </a:avLst>
          </a:prstGeom>
          <a:solidFill>
            <a:srgbClr val="FAF1DE"/>
          </a:solidFill>
          <a:ln/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9736857" y="5343114"/>
            <a:ext cx="419100" cy="419100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9698757" y="5343114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10527432" y="5083111"/>
            <a:ext cx="6939063" cy="953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00" b="1" dirty="0" err="1">
                <a:solidFill>
                  <a:srgbClr val="3D2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字の上手さは気にしない</a:t>
            </a:r>
            <a:r>
              <a:rPr lang="en-US" sz="2000" b="1" dirty="0" err="1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で大丈夫</a:t>
            </a:r>
            <a:r>
              <a:rPr lang="en-US" sz="2000" b="1" dirty="0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2000" b="1" dirty="0" err="1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麻痺側で線を引くこと自体がトレーニングです</a:t>
            </a:r>
            <a:r>
              <a:rPr lang="en-US" sz="2000" b="1" dirty="0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</p:txBody>
      </p:sp>
      <p:sp>
        <p:nvSpPr>
          <p:cNvPr id="36" name="Shape 33"/>
          <p:cNvSpPr/>
          <p:nvPr/>
        </p:nvSpPr>
        <p:spPr>
          <a:xfrm>
            <a:off x="9527307" y="6227004"/>
            <a:ext cx="7712943" cy="990600"/>
          </a:xfrm>
          <a:prstGeom prst="roundRect">
            <a:avLst>
              <a:gd name="adj" fmla="val 7692"/>
            </a:avLst>
          </a:prstGeom>
          <a:solidFill>
            <a:srgbClr val="FDECE8"/>
          </a:solidFill>
          <a:ln/>
        </p:spPr>
        <p:txBody>
          <a:bodyPr/>
          <a:p/>
        </p:txBody>
      </p:sp>
      <p:sp>
        <p:nvSpPr>
          <p:cNvPr id="37" name="Shape 34"/>
          <p:cNvSpPr/>
          <p:nvPr/>
        </p:nvSpPr>
        <p:spPr>
          <a:xfrm>
            <a:off x="9527307" y="6227004"/>
            <a:ext cx="57150" cy="990600"/>
          </a:xfrm>
          <a:prstGeom prst="rect">
            <a:avLst/>
          </a:prstGeom>
          <a:solidFill>
            <a:srgbClr val="E87362"/>
          </a:solidFill>
          <a:ln/>
        </p:spPr>
        <p:txBody>
          <a:bodyPr/>
          <a:p/>
        </p:txBody>
      </p:sp>
      <p:sp>
        <p:nvSpPr>
          <p:cNvPr id="38" name="Shape 35"/>
          <p:cNvSpPr/>
          <p:nvPr/>
        </p:nvSpPr>
        <p:spPr>
          <a:xfrm>
            <a:off x="9794007" y="6493704"/>
            <a:ext cx="457200" cy="457200"/>
          </a:xfrm>
          <a:prstGeom prst="ellipse">
            <a:avLst/>
          </a:prstGeom>
          <a:solidFill>
            <a:srgbClr val="E87362"/>
          </a:solidFill>
          <a:ln/>
        </p:spPr>
        <p:txBody>
          <a:bodyPr/>
          <a:p/>
        </p:txBody>
      </p:sp>
      <p:sp>
        <p:nvSpPr>
          <p:cNvPr id="39" name="Text 36"/>
          <p:cNvSpPr/>
          <p:nvPr/>
        </p:nvSpPr>
        <p:spPr>
          <a:xfrm>
            <a:off x="9755907" y="6493704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10536957" y="6227004"/>
            <a:ext cx="6688555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書きにくい時は、 </a:t>
            </a:r>
            <a:r>
              <a:rPr lang="en-US" sz="2000" b="1" dirty="0" err="1">
                <a:solidFill>
                  <a:srgbClr val="5A1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塗り絵や</a:t>
            </a:r>
            <a:r>
              <a:rPr lang="ja-JP" altLang="en-US" sz="2000" b="1">
                <a:solidFill>
                  <a:srgbClr val="5A1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線、</a:t>
            </a:r>
            <a:r>
              <a:rPr lang="en-US" sz="2000" b="1" dirty="0" err="1">
                <a:solidFill>
                  <a:srgbClr val="5A1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円</a:t>
            </a:r>
            <a:r>
              <a:rPr lang="en-US" sz="2000" b="1" dirty="0" err="1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から始めてもOK</a:t>
            </a:r>
            <a:r>
              <a:rPr lang="en-US" sz="2000" b="1" dirty="0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 err="1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滑り止め</a:t>
            </a:r>
            <a:r>
              <a:rPr lang="ja-JP" altLang="en-US" sz="2000" b="1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シートで紙を固定すると楽に書けます。</a:t>
            </a:r>
            <a:endParaRPr lang="en-US" sz="2000" dirty="0"/>
          </a:p>
        </p:txBody>
      </p:sp>
      <p:sp>
        <p:nvSpPr>
          <p:cNvPr id="42" name="TextBox 41"/>
          <p:cNvSpPr txBox="1"/>
          <p:nvPr/>
        </p:nvSpPr>
        <p:spPr>
          <a:xfrm>
            <a:off x="1097280" y="9052560"/>
            <a:ext cx="1609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334155"/>
                </a:solidFill>
                <a:latin typeface="Yu Gothic"/>
              </a:rPr>
              <a:t>目的：</a:t>
            </a:r>
            <a:r>
              <a:rPr sz="2800">
                <a:solidFill>
                  <a:srgbClr val="334155"/>
                </a:solidFill>
                <a:latin typeface="Yu Gothic"/>
              </a:rPr>
              <a:t>手の細かい動きを練習し、字を書く力を取り戻します。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1101</TotalTime>
  <Words>930</Words>
  <Application>Microsoft Macintosh PowerPoint</Application>
  <PresentationFormat>ユーザー設定</PresentationFormat>
  <Paragraphs>308</Paragraphs>
  <Slides>12</Slides>
  <Notes>12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8" baseType="lpstr">
      <vt:lpstr>Yu Gothic</vt:lpstr>
      <vt:lpstr>Yu Gothic</vt:lpstr>
      <vt:lpstr>Arial</vt:lpstr>
      <vt:lpstr>Calibri</vt:lpstr>
      <vt:lpstr>Georgia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誠 安宅</cp:lastModifiedBy>
  <cp:revision>13</cp:revision>
  <dcterms:created xsi:type="dcterms:W3CDTF">2026-04-19T20:11:14Z</dcterms:created>
  <dcterms:modified xsi:type="dcterms:W3CDTF">2026-05-04T15:43:44Z</dcterms:modified>
</cp:coreProperties>
</file>