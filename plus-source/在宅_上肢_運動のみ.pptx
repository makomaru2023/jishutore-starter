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8" r:id="rId4"/>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4"/>
    <p:restoredTop sz="94610"/>
  </p:normalViewPr>
  <p:slideViewPr>
    <p:cSldViewPr snapToGrid="0" snapToObjects="1">
      <p:cViewPr varScale="1">
        <p:scale>
          <a:sx n="88" d="100"/>
          <a:sy n="88" d="100"/>
        </p:scale>
        <p:origin x="55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4740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「最初は肩すくめ運動から始めます。両肩をぐっと上げて、ストンと下ろす。これを10回くり返します。肩のこわばりをほぐす準備運動です。」
【注意点】
・首や肩に強い痛みが出たら中止
・力を入れすぎず、リラックスして行う
・呼吸を止めないようにする
・体調が悪い日は無理に行わない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「次は肩回しです。両手を肩にのせて、肘で大きな円を描くようにゆっくり前後に回します。肩甲骨を動かすイメージで行いましょう。」
【注意点】
・痛みが出る範囲では行わない
・反動を使わずゆっくり動かす
・肩がゴリゴリ鳴る程度なら問題なし
・強い痛みやしびれは中止</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「両手の指を組んで、ゆっくり頭の上まで持ち上げます。肩の動きを保つ大切な運動です。腕が真っ直ぐ上まで届かなくても大丈夫。今日の自分のところまでで十分です。」
【注意点】
・無理に上げない、痛みのない範囲で
・腕を上げる時に息を止めない
・めまいやふらつきを感じたら中止
・肩に鋭い痛みが出る場合はすぐ休む</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「次は机の上で手を前に伸ばす運動です。物を取りに行く動作の練習になります。お尻はしっかり座面につけたまま、手だけを前に滑らせるように動かしましょう。」
【注意点】
・前のめりになりすぎない
・椅子はしっかり安定したものを使う
・痛みが出たら中止
・手のひらの下にタオルを敷くとやりやすい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「肘の曲げ伸ばしです。食事を口に運ぶ動作や、髪をとかす動作で必要な運動です。手のひらを上に向けて、肘を曲げて手を肩に近づけます。両腕一緒でも、片方ずつでも構いません。」
【注意点】
・反動を使わずゆっくり
・肘や肩に強い痛みが出たら中止
・痛みのない範囲で曲げる
・ペットボトルを持つ場合は最初は中身を減らして</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「手首の曲げ伸ばしです。腕を前に伸ばして、手首をゆっくり上下に動かします。家事や整容で手首を使う準備になります。」
【注意点】
・反動をつけずゆっくり
・痛みやしびれが出たら中止
・反対の手で軽く支えてもOK
・関節がゴリゴリ鳴っても痛みがなければ問題なし</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「手のひら返しです。肘を曲げた状態で、手のひらを上下にひっくり返します。ドアノブを回す動作や、コップを持ち替える動作で使う筋肉のトレーニングです。」
【注意点】
・肘は体の横につけたまま
・ゆっくり動かす
・痛みが出たら中止
・両手同時でも片手ずつでもOK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「グーパー運動です。手をしっかり握って、大きく開く。これだけのシンプルな運動ですが、手指のこわばり予防にとても役立ちます。テレビを見ている時など、気づいた時にいつでもできます。」
【注意点】
・指の関節に痛みが強い日は休む
・無理にぎゅっと握りすぎない
・手が冷たい時は温めてから行う
・腫れがある時は中止</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「タオル握り運動です。丸めたタオルをぎゅっと握って5秒キープ。瓶のフタを開ける、手すりにつかまるなど、生活で必要な握る力を保つ運動です。」
【注意点】
・5秒間呼吸を止めない
・痛みが出たら中止
・タオルの太さは握りやすく調整
・両手同時でも片手ずつでもOK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肩すくめ運動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07320" y="2313432"/>
            <a:ext cx="2738264"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椅子に楽な姿勢で座り、両肩の</a:t>
            </a:r>
            <a:r>
              <a:rPr lang="en-US" sz="2100" b="1" dirty="0">
                <a:solidFill>
                  <a:srgbClr val="264A75"/>
                </a:solidFill>
                <a:latin typeface="Yu Gothic" pitchFamily="34" charset="0"/>
                <a:ea typeface="Yu Gothic" pitchFamily="34" charset="-122"/>
                <a:cs typeface="Yu Gothic" pitchFamily="34" charset="-120"/>
              </a:rPr>
              <a:t>力を抜きます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両肩を耳に近づけるように</a:t>
            </a:r>
            <a:r>
              <a:rPr lang="en-US" sz="2100" b="1" dirty="0">
                <a:solidFill>
                  <a:srgbClr val="264A75"/>
                </a:solidFill>
                <a:latin typeface="Yu Gothic" pitchFamily="34" charset="0"/>
                <a:ea typeface="Yu Gothic" pitchFamily="34" charset="-122"/>
                <a:cs typeface="Yu Gothic" pitchFamily="34" charset="-120"/>
              </a:rPr>
              <a:t>ゆっくり持ち上げます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19" y="5146929"/>
            <a:ext cx="7704909"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ストンと</a:t>
            </a:r>
            <a:r>
              <a:rPr lang="en-US" sz="2100" b="1" dirty="0">
                <a:solidFill>
                  <a:srgbClr val="264A75"/>
                </a:solidFill>
                <a:latin typeface="Yu Gothic" pitchFamily="34" charset="0"/>
                <a:ea typeface="Yu Gothic" pitchFamily="34" charset="-122"/>
                <a:cs typeface="Yu Gothic" pitchFamily="34" charset="-120"/>
              </a:rPr>
              <a:t>力を抜いて</a:t>
            </a:r>
            <a:r>
              <a:rPr lang="en-US" sz="2100" dirty="0">
                <a:solidFill>
                  <a:srgbClr val="111418"/>
                </a:solidFill>
                <a:latin typeface="Yu Gothic" pitchFamily="34" charset="0"/>
                <a:ea typeface="Yu Gothic" pitchFamily="34" charset="-122"/>
                <a:cs typeface="Yu Gothic" pitchFamily="34" charset="-120"/>
              </a:rPr>
              <a:t>肩を下ろします。10回くり返しましょう。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肩を上げる時に息を吸い、下ろす時に息を吐くと自然に動きやすくなります。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ja-JP" altLang="en-US" sz="2100">
                <a:solidFill>
                  <a:srgbClr val="7A2D1D"/>
                </a:solidFill>
                <a:latin typeface="Yu Gothic" pitchFamily="34" charset="0"/>
                <a:ea typeface="Yu Gothic" pitchFamily="34" charset="-122"/>
                <a:cs typeface="Yu Gothic" pitchFamily="34" charset="-120"/>
              </a:rPr>
              <a:t>首に痛みや痺れが出る時には中止し、</a:t>
            </a:r>
            <a:endParaRPr lang="en-US" altLang="ja-JP" sz="2100" dirty="0">
              <a:solidFill>
                <a:srgbClr val="7A2D1D"/>
              </a:solidFill>
              <a:latin typeface="Yu Gothic" pitchFamily="34" charset="0"/>
              <a:ea typeface="Yu Gothic" pitchFamily="34" charset="-122"/>
              <a:cs typeface="Yu Gothic" pitchFamily="34" charset="-120"/>
            </a:endParaRPr>
          </a:p>
          <a:p>
            <a:pPr marL="0" indent="0" algn="l">
              <a:buNone/>
            </a:pPr>
            <a:r>
              <a:rPr lang="ja-JP" altLang="en-US" sz="2100">
                <a:solidFill>
                  <a:srgbClr val="7A2D1D"/>
                </a:solidFill>
                <a:latin typeface="Yu Gothic" pitchFamily="34" charset="0"/>
                <a:ea typeface="Yu Gothic" pitchFamily="34" charset="-122"/>
                <a:cs typeface="Yu Gothic" pitchFamily="34" charset="-120"/>
              </a:rPr>
              <a:t>ご家族や担当の療法士に相談しましょう。</a:t>
            </a:r>
            <a:endParaRPr lang="en-US" sz="2100" dirty="0"/>
          </a:p>
        </p:txBody>
      </p:sp>
      <p:pic>
        <p:nvPicPr>
          <p:cNvPr id="48" name="図 47">
            <a:extLst>
              <a:ext uri="{FF2B5EF4-FFF2-40B4-BE49-F238E27FC236}">
                <a16:creationId xmlns:a16="http://schemas.microsoft.com/office/drawing/2014/main" id="{0D5B8601-9D39-DE45-AFA6-1CD2144ACE05}"/>
              </a:ext>
            </a:extLst>
          </p:cNvPr>
          <p:cNvPicPr>
            <a:picLocks noChangeAspect="1"/>
          </p:cNvPicPr>
          <p:nvPr/>
        </p:nvPicPr>
        <p:blipFill rotWithShape="1">
          <a:blip r:embed="rId3"/>
          <a:srcRect l="8138" r="9139" b="20605"/>
          <a:stretch/>
        </p:blipFill>
        <p:spPr>
          <a:xfrm>
            <a:off x="486628" y="3232868"/>
            <a:ext cx="8615180" cy="4648796"/>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肩や首のこりをほぐし、腕を動かしやすくします。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肩回し運動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前後 各10回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両手を肩に軽くのせます。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肘で大きな円を描くように、</a:t>
            </a:r>
            <a:r>
              <a:rPr lang="en-US" sz="2100" b="1" dirty="0">
                <a:solidFill>
                  <a:srgbClr val="264A75"/>
                </a:solidFill>
                <a:latin typeface="Yu Gothic" pitchFamily="34" charset="0"/>
                <a:ea typeface="Yu Gothic" pitchFamily="34" charset="-122"/>
                <a:cs typeface="Yu Gothic" pitchFamily="34" charset="-120"/>
              </a:rPr>
              <a:t>ゆっくり前回し</a:t>
            </a:r>
            <a:r>
              <a:rPr lang="en-US" sz="2100" dirty="0">
                <a:solidFill>
                  <a:srgbClr val="111418"/>
                </a:solidFill>
                <a:latin typeface="Yu Gothic" pitchFamily="34" charset="0"/>
                <a:ea typeface="Yu Gothic" pitchFamily="34" charset="-122"/>
                <a:cs typeface="Yu Gothic" pitchFamily="34" charset="-120"/>
              </a:rPr>
              <a:t>します。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次に</a:t>
            </a:r>
            <a:r>
              <a:rPr lang="en-US" sz="2100" b="1" dirty="0">
                <a:solidFill>
                  <a:srgbClr val="264A75"/>
                </a:solidFill>
                <a:latin typeface="Yu Gothic" pitchFamily="34" charset="0"/>
                <a:ea typeface="Yu Gothic" pitchFamily="34" charset="-122"/>
                <a:cs typeface="Yu Gothic" pitchFamily="34" charset="-120"/>
              </a:rPr>
              <a:t>後ろ回し</a:t>
            </a:r>
            <a:r>
              <a:rPr lang="en-US" sz="2100" dirty="0">
                <a:solidFill>
                  <a:srgbClr val="111418"/>
                </a:solidFill>
                <a:latin typeface="Yu Gothic" pitchFamily="34" charset="0"/>
                <a:ea typeface="Yu Gothic" pitchFamily="34" charset="-122"/>
                <a:cs typeface="Yu Gothic" pitchFamily="34" charset="-120"/>
              </a:rPr>
              <a:t>を10回。肩甲骨が動くのを感じましょう。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腕を高く上げなくて大丈夫です。肘で円を描く意識で</a:t>
            </a:r>
            <a:endParaRPr lang="en-US" sz="2100" dirty="0">
              <a:solidFill>
                <a:srgbClr val="3D2806"/>
              </a:solidFill>
              <a:latin typeface="Yu Gothic" pitchFamily="34" charset="0"/>
              <a:ea typeface="Yu Gothic" pitchFamily="34" charset="-122"/>
              <a:cs typeface="Yu Gothic" pitchFamily="34" charset="-120"/>
            </a:endParaRPr>
          </a:p>
          <a:p>
            <a:pPr marL="0" indent="0" algn="l">
              <a:buNone/>
            </a:pPr>
            <a:r>
              <a:rPr lang="en-US" sz="2100" dirty="0" err="1">
                <a:solidFill>
                  <a:srgbClr val="3D2806"/>
                </a:solidFill>
                <a:latin typeface="Yu Gothic" pitchFamily="34" charset="0"/>
                <a:ea typeface="Yu Gothic" pitchFamily="34" charset="-122"/>
                <a:cs typeface="Yu Gothic" pitchFamily="34" charset="-120"/>
              </a:rPr>
              <a:t>ゆっくり動かしましょう</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err="1">
                <a:solidFill>
                  <a:srgbClr val="7A2D1D"/>
                </a:solidFill>
                <a:latin typeface="Yu Gothic" pitchFamily="34" charset="0"/>
                <a:ea typeface="Yu Gothic" pitchFamily="34" charset="-122"/>
                <a:cs typeface="Yu Gothic" pitchFamily="34" charset="-120"/>
              </a:rPr>
              <a:t>肩関節に強い痛みがある日は無理せず、痛みのない</a:t>
            </a:r>
            <a:endParaRPr lang="en-US" sz="2100" dirty="0">
              <a:solidFill>
                <a:srgbClr val="7A2D1D"/>
              </a:solidFill>
              <a:latin typeface="Yu Gothic" pitchFamily="34" charset="0"/>
              <a:ea typeface="Yu Gothic" pitchFamily="34" charset="-122"/>
              <a:cs typeface="Yu Gothic" pitchFamily="34" charset="-120"/>
            </a:endParaRPr>
          </a:p>
          <a:p>
            <a:pPr marL="0" indent="0" algn="l">
              <a:buNone/>
            </a:pPr>
            <a:r>
              <a:rPr lang="en-US" sz="2100" dirty="0" err="1">
                <a:solidFill>
                  <a:srgbClr val="7A2D1D"/>
                </a:solidFill>
                <a:latin typeface="Yu Gothic" pitchFamily="34" charset="0"/>
                <a:ea typeface="Yu Gothic" pitchFamily="34" charset="-122"/>
                <a:cs typeface="Yu Gothic" pitchFamily="34" charset="-120"/>
              </a:rPr>
              <a:t>範囲で小さく回しましょう</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B6A52C49-5F5F-5E48-AE49-5D6C3FE8C13E}"/>
              </a:ext>
            </a:extLst>
          </p:cNvPr>
          <p:cNvPicPr>
            <a:picLocks noChangeAspect="1"/>
          </p:cNvPicPr>
          <p:nvPr/>
        </p:nvPicPr>
        <p:blipFill rotWithShape="1">
          <a:blip r:embed="rId3"/>
          <a:srcRect l="32179" r="32476" b="26308"/>
          <a:stretch/>
        </p:blipFill>
        <p:spPr>
          <a:xfrm>
            <a:off x="2458003" y="2818752"/>
            <a:ext cx="4672431"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肩の動きをなめらかにし、肩こりや四十肩を防ぎます。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両手組みバンザイ</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27929" y="2322577"/>
            <a:ext cx="2692110"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胸の前で</a:t>
            </a:r>
            <a:r>
              <a:rPr lang="en-US" sz="2100" b="1" dirty="0">
                <a:solidFill>
                  <a:srgbClr val="264A75"/>
                </a:solidFill>
                <a:latin typeface="Yu Gothic" pitchFamily="34" charset="0"/>
                <a:ea typeface="Yu Gothic" pitchFamily="34" charset="-122"/>
                <a:cs typeface="Yu Gothic" pitchFamily="34" charset="-120"/>
              </a:rPr>
              <a:t>両手の指を組みます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19" y="4186809"/>
            <a:ext cx="7937137"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息を吸いながら、組んだ手をゆっくり</a:t>
            </a:r>
            <a:r>
              <a:rPr lang="en-US" sz="2100" b="1" dirty="0">
                <a:solidFill>
                  <a:srgbClr val="264A75"/>
                </a:solidFill>
                <a:latin typeface="Yu Gothic" pitchFamily="34" charset="0"/>
                <a:ea typeface="Yu Gothic" pitchFamily="34" charset="-122"/>
                <a:cs typeface="Yu Gothic" pitchFamily="34" charset="-120"/>
              </a:rPr>
              <a:t>頭の上まで</a:t>
            </a:r>
            <a:r>
              <a:rPr lang="en-US" sz="2100" dirty="0">
                <a:solidFill>
                  <a:srgbClr val="111418"/>
                </a:solidFill>
                <a:latin typeface="Yu Gothic" pitchFamily="34" charset="0"/>
                <a:ea typeface="Yu Gothic" pitchFamily="34" charset="-122"/>
                <a:cs typeface="Yu Gothic" pitchFamily="34" charset="-120"/>
              </a:rPr>
              <a:t>持ち上げます。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息を吐きながら、ゆっくり胸の前に戻します。</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ja-JP" altLang="en-US" sz="2100">
                <a:solidFill>
                  <a:srgbClr val="3D2806"/>
                </a:solidFill>
                <a:latin typeface="Yu Gothic" pitchFamily="34" charset="0"/>
                <a:ea typeface="Yu Gothic" pitchFamily="34" charset="-122"/>
                <a:cs typeface="Yu Gothic" pitchFamily="34" charset="-120"/>
              </a:rPr>
              <a:t>腕が完全に上がらなくても大丈夫です。</a:t>
            </a:r>
            <a:endParaRPr lang="en-US" sz="2100" dirty="0">
              <a:solidFill>
                <a:srgbClr val="3D2806"/>
              </a:solidFill>
              <a:latin typeface="Yu Gothic" pitchFamily="34" charset="0"/>
              <a:ea typeface="Yu Gothic" pitchFamily="34" charset="-122"/>
              <a:cs typeface="Yu Gothic" pitchFamily="34" charset="-120"/>
            </a:endParaRPr>
          </a:p>
          <a:p>
            <a:pPr marL="0" indent="0" algn="l">
              <a:buNone/>
            </a:pPr>
            <a:r>
              <a:rPr lang="ja-JP" altLang="en-US" sz="2100">
                <a:solidFill>
                  <a:srgbClr val="3D2806"/>
                </a:solidFill>
                <a:latin typeface="Yu Gothic" pitchFamily="34" charset="0"/>
                <a:ea typeface="Yu Gothic" pitchFamily="34" charset="-122"/>
                <a:cs typeface="Yu Gothic" pitchFamily="34" charset="-120"/>
              </a:rPr>
              <a:t>今日上がるところまでで十分です。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ja-JP" altLang="en-US" sz="2100">
                <a:solidFill>
                  <a:srgbClr val="7A2D1D"/>
                </a:solidFill>
                <a:latin typeface="Yu Gothic" pitchFamily="34" charset="0"/>
                <a:ea typeface="Yu Gothic" pitchFamily="34" charset="-122"/>
                <a:cs typeface="Yu Gothic" pitchFamily="34" charset="-120"/>
              </a:rPr>
              <a:t>肩に鋭い痛みが出たり、めまいを感じたらすぐに</a:t>
            </a:r>
            <a:endParaRPr lang="en-US" altLang="ja-JP" sz="2100" dirty="0">
              <a:solidFill>
                <a:srgbClr val="7A2D1D"/>
              </a:solidFill>
              <a:latin typeface="Yu Gothic" pitchFamily="34" charset="0"/>
              <a:ea typeface="Yu Gothic" pitchFamily="34" charset="-122"/>
              <a:cs typeface="Yu Gothic" pitchFamily="34" charset="-120"/>
            </a:endParaRPr>
          </a:p>
          <a:p>
            <a:pPr marL="0" indent="0" algn="l">
              <a:buNone/>
            </a:pPr>
            <a:r>
              <a:rPr lang="ja-JP" altLang="en-US" sz="2100">
                <a:solidFill>
                  <a:srgbClr val="7A2D1D"/>
                </a:solidFill>
                <a:latin typeface="Yu Gothic" pitchFamily="34" charset="0"/>
                <a:ea typeface="Yu Gothic" pitchFamily="34" charset="-122"/>
                <a:cs typeface="Yu Gothic" pitchFamily="34" charset="-120"/>
              </a:rPr>
              <a:t>中止しましょう。</a:t>
            </a:r>
            <a:endParaRPr lang="en-US" sz="2100" dirty="0">
              <a:solidFill>
                <a:srgbClr val="7A2D1D"/>
              </a:solidFill>
              <a:latin typeface="Yu Gothic" pitchFamily="34" charset="0"/>
              <a:ea typeface="Yu Gothic" pitchFamily="34" charset="-122"/>
              <a:cs typeface="Yu Gothic" pitchFamily="34" charset="-120"/>
            </a:endParaRPr>
          </a:p>
        </p:txBody>
      </p:sp>
      <p:pic>
        <p:nvPicPr>
          <p:cNvPr id="48" name="図 47">
            <a:extLst>
              <a:ext uri="{FF2B5EF4-FFF2-40B4-BE49-F238E27FC236}">
                <a16:creationId xmlns:a16="http://schemas.microsoft.com/office/drawing/2014/main" id="{4B843F0C-6B76-F24D-9DFA-16EBCE6D773C}"/>
              </a:ext>
            </a:extLst>
          </p:cNvPr>
          <p:cNvPicPr>
            <a:picLocks noChangeAspect="1"/>
          </p:cNvPicPr>
          <p:nvPr/>
        </p:nvPicPr>
        <p:blipFill rotWithShape="1">
          <a:blip r:embed="rId3"/>
          <a:srcRect l="37892" r="38555" b="29261"/>
          <a:stretch/>
        </p:blipFill>
        <p:spPr>
          <a:xfrm>
            <a:off x="3172394" y="2818752"/>
            <a:ext cx="3243649"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腕を上げる力と肩まわりの柔らかさを保ちます。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机上リーチ運動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02384" y="2313432"/>
            <a:ext cx="2743200"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机の前に座り、片手を</a:t>
            </a:r>
            <a:r>
              <a:rPr lang="en-US" sz="2100" b="1" dirty="0">
                <a:solidFill>
                  <a:srgbClr val="264A75"/>
                </a:solidFill>
                <a:latin typeface="Yu Gothic" pitchFamily="34" charset="0"/>
                <a:ea typeface="Yu Gothic" pitchFamily="34" charset="-122"/>
                <a:cs typeface="Yu Gothic" pitchFamily="34" charset="-120"/>
              </a:rPr>
              <a:t>机に置きます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机の上を滑らせるように、手を</a:t>
            </a:r>
            <a:r>
              <a:rPr lang="en-US" sz="2100" b="1" dirty="0">
                <a:solidFill>
                  <a:srgbClr val="264A75"/>
                </a:solidFill>
                <a:latin typeface="Yu Gothic" pitchFamily="34" charset="0"/>
                <a:ea typeface="Yu Gothic" pitchFamily="34" charset="-122"/>
                <a:cs typeface="Yu Gothic" pitchFamily="34" charset="-120"/>
              </a:rPr>
              <a:t>遠くへ伸ばします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ゆっくり手前に戻し、反対の手も同じように行います。</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手の下にタオルを敷くと、滑りやすくなり動かしやすくなります。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ja-JP" altLang="en-US" sz="2100">
                <a:solidFill>
                  <a:srgbClr val="7A2D1D"/>
                </a:solidFill>
                <a:latin typeface="Yu Gothic" pitchFamily="34" charset="0"/>
                <a:ea typeface="Yu Gothic" pitchFamily="34" charset="-122"/>
                <a:cs typeface="Yu Gothic" pitchFamily="34" charset="-120"/>
              </a:rPr>
              <a:t>前のめりになりすぎて、椅子から落ちないように</a:t>
            </a:r>
            <a:endParaRPr lang="en-US" sz="2100" dirty="0">
              <a:solidFill>
                <a:srgbClr val="7A2D1D"/>
              </a:solidFill>
              <a:latin typeface="Yu Gothic" pitchFamily="34" charset="0"/>
              <a:ea typeface="Yu Gothic" pitchFamily="34" charset="-122"/>
              <a:cs typeface="Yu Gothic" pitchFamily="34" charset="-120"/>
            </a:endParaRPr>
          </a:p>
          <a:p>
            <a:pPr marL="0" indent="0" algn="l">
              <a:buNone/>
            </a:pPr>
            <a:r>
              <a:rPr lang="ja-JP" altLang="en-US" sz="2100">
                <a:solidFill>
                  <a:srgbClr val="7A2D1D"/>
                </a:solidFill>
                <a:latin typeface="Yu Gothic" pitchFamily="34" charset="0"/>
                <a:ea typeface="Yu Gothic" pitchFamily="34" charset="-122"/>
                <a:cs typeface="Yu Gothic" pitchFamily="34" charset="-120"/>
              </a:rPr>
              <a:t>お尻はしっかり座面につけたままで行いましょう。</a:t>
            </a:r>
            <a:endParaRPr lang="en-US" sz="2100" dirty="0"/>
          </a:p>
        </p:txBody>
      </p:sp>
      <p:pic>
        <p:nvPicPr>
          <p:cNvPr id="48" name="図 47">
            <a:extLst>
              <a:ext uri="{FF2B5EF4-FFF2-40B4-BE49-F238E27FC236}">
                <a16:creationId xmlns:a16="http://schemas.microsoft.com/office/drawing/2014/main" id="{F81DEF54-0F3F-B54C-8A1C-6A4E412AC72A}"/>
              </a:ext>
            </a:extLst>
          </p:cNvPr>
          <p:cNvPicPr>
            <a:picLocks noChangeAspect="1"/>
          </p:cNvPicPr>
          <p:nvPr/>
        </p:nvPicPr>
        <p:blipFill rotWithShape="1">
          <a:blip r:embed="rId3"/>
          <a:srcRect l="13669" t="1043" r="7190" b="20612"/>
          <a:stretch/>
        </p:blipFill>
        <p:spPr>
          <a:xfrm>
            <a:off x="618493" y="2818752"/>
            <a:ext cx="8351450"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前に手を伸ばす動きを保ち、食事や着替えを楽にします。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肘の曲げ伸ばし</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02384" y="2313432"/>
            <a:ext cx="2743200"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腕を体の横に下ろし、</a:t>
            </a:r>
            <a:r>
              <a:rPr lang="en-US" sz="2100" b="1" dirty="0">
                <a:solidFill>
                  <a:srgbClr val="264A75"/>
                </a:solidFill>
                <a:latin typeface="Yu Gothic" pitchFamily="34" charset="0"/>
                <a:ea typeface="Yu Gothic" pitchFamily="34" charset="-122"/>
                <a:cs typeface="Yu Gothic" pitchFamily="34" charset="-120"/>
              </a:rPr>
              <a:t>手のひらを上</a:t>
            </a:r>
            <a:r>
              <a:rPr lang="en-US" sz="2100" dirty="0">
                <a:solidFill>
                  <a:srgbClr val="111418"/>
                </a:solidFill>
                <a:latin typeface="Yu Gothic" pitchFamily="34" charset="0"/>
                <a:ea typeface="Yu Gothic" pitchFamily="34" charset="-122"/>
                <a:cs typeface="Yu Gothic" pitchFamily="34" charset="-120"/>
              </a:rPr>
              <a:t>に向けます。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肘を曲げて、手を</a:t>
            </a:r>
            <a:r>
              <a:rPr lang="en-US" sz="2100" b="1" dirty="0">
                <a:solidFill>
                  <a:srgbClr val="264A75"/>
                </a:solidFill>
                <a:latin typeface="Yu Gothic" pitchFamily="34" charset="0"/>
                <a:ea typeface="Yu Gothic" pitchFamily="34" charset="-122"/>
                <a:cs typeface="Yu Gothic" pitchFamily="34" charset="-120"/>
              </a:rPr>
              <a:t>肩の方へ近づけます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err="1">
                <a:solidFill>
                  <a:srgbClr val="111418"/>
                </a:solidFill>
                <a:latin typeface="Yu Gothic" pitchFamily="34" charset="0"/>
                <a:ea typeface="Yu Gothic" pitchFamily="34" charset="-122"/>
                <a:cs typeface="Yu Gothic" pitchFamily="34" charset="-120"/>
              </a:rPr>
              <a:t>ゆっくり腕を伸ばして元に戻します</a:t>
            </a:r>
            <a:r>
              <a:rPr lang="en-US" sz="2100" dirty="0">
                <a:solidFill>
                  <a:srgbClr val="111418"/>
                </a:solidFill>
                <a:latin typeface="Yu Gothic" pitchFamily="34" charset="0"/>
                <a:ea typeface="Yu Gothic" pitchFamily="34" charset="-122"/>
                <a:cs typeface="Yu Gothic" pitchFamily="34" charset="-120"/>
              </a:rPr>
              <a:t>。</a:t>
            </a:r>
          </a:p>
          <a:p>
            <a:pPr marL="0" indent="0" algn="l">
              <a:buNone/>
            </a:pPr>
            <a:r>
              <a:rPr lang="en-US" sz="2100" dirty="0" err="1">
                <a:solidFill>
                  <a:srgbClr val="111418"/>
                </a:solidFill>
                <a:latin typeface="Yu Gothic" pitchFamily="34" charset="0"/>
                <a:ea typeface="Yu Gothic" pitchFamily="34" charset="-122"/>
                <a:cs typeface="Yu Gothic" pitchFamily="34" charset="-120"/>
              </a:rPr>
              <a:t>両腕同時でも片腕ずつでもOKです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500ml程度の軽いペットボトルを持つと、ほどよい</a:t>
            </a:r>
          </a:p>
          <a:p>
            <a:pPr marL="0" indent="0" algn="l">
              <a:buNone/>
            </a:pPr>
            <a:r>
              <a:rPr lang="ja-JP" altLang="en-US" sz="2100">
                <a:solidFill>
                  <a:srgbClr val="3D2806"/>
                </a:solidFill>
                <a:latin typeface="Yu Gothic" pitchFamily="34" charset="0"/>
                <a:ea typeface="Yu Gothic" pitchFamily="34" charset="-122"/>
                <a:cs typeface="Yu Gothic" pitchFamily="34" charset="-120"/>
              </a:rPr>
              <a:t>負荷になります</a:t>
            </a:r>
            <a:r>
              <a:rPr lang="en-US" sz="2100" dirty="0">
                <a:solidFill>
                  <a:srgbClr val="3D2806"/>
                </a:solidFill>
                <a:latin typeface="Yu Gothic" pitchFamily="34" charset="0"/>
                <a:ea typeface="Yu Gothic" pitchFamily="34" charset="-122"/>
                <a:cs typeface="Yu Gothic" pitchFamily="34" charset="-120"/>
              </a:rPr>
              <a:t>。</a:t>
            </a:r>
            <a:r>
              <a:rPr lang="ja-JP" altLang="en-US" sz="2100">
                <a:solidFill>
                  <a:srgbClr val="3D2806"/>
                </a:solidFill>
                <a:latin typeface="Yu Gothic" pitchFamily="34" charset="0"/>
                <a:ea typeface="Yu Gothic" pitchFamily="34" charset="-122"/>
                <a:cs typeface="Yu Gothic" pitchFamily="34" charset="-120"/>
              </a:rPr>
              <a:t>無理せず行いましょう</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err="1">
                <a:solidFill>
                  <a:srgbClr val="7A2D1D"/>
                </a:solidFill>
                <a:latin typeface="Yu Gothic" pitchFamily="34" charset="0"/>
                <a:ea typeface="Yu Gothic" pitchFamily="34" charset="-122"/>
                <a:cs typeface="Yu Gothic" pitchFamily="34" charset="-120"/>
              </a:rPr>
              <a:t>肘や肩に強い痛みが出る場合は中止し</a:t>
            </a:r>
            <a:r>
              <a:rPr lang="en-US" sz="2100" dirty="0">
                <a:solidFill>
                  <a:srgbClr val="7A2D1D"/>
                </a:solidFill>
                <a:latin typeface="Yu Gothic" pitchFamily="34" charset="0"/>
                <a:ea typeface="Yu Gothic" pitchFamily="34" charset="-122"/>
                <a:cs typeface="Yu Gothic" pitchFamily="34" charset="-120"/>
              </a:rPr>
              <a:t>、</a:t>
            </a:r>
          </a:p>
          <a:p>
            <a:pPr marL="0" indent="0" algn="l">
              <a:buNone/>
            </a:pPr>
            <a:r>
              <a:rPr lang="en-US" sz="2100" dirty="0" err="1">
                <a:solidFill>
                  <a:srgbClr val="7A2D1D"/>
                </a:solidFill>
                <a:latin typeface="Yu Gothic" pitchFamily="34" charset="0"/>
                <a:ea typeface="Yu Gothic" pitchFamily="34" charset="-122"/>
                <a:cs typeface="Yu Gothic" pitchFamily="34" charset="-120"/>
              </a:rPr>
              <a:t>無理に曲げ伸ばししないようにしましょう</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818B188F-F154-2C48-90B4-BD81B394DAB6}"/>
              </a:ext>
            </a:extLst>
          </p:cNvPr>
          <p:cNvPicPr>
            <a:picLocks noChangeAspect="1"/>
          </p:cNvPicPr>
          <p:nvPr/>
        </p:nvPicPr>
        <p:blipFill rotWithShape="1">
          <a:blip r:embed="rId3"/>
          <a:srcRect l="18166" r="20699" b="28474"/>
          <a:stretch/>
        </p:blipFill>
        <p:spPr>
          <a:xfrm>
            <a:off x="630936" y="2818752"/>
            <a:ext cx="8326564"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肘の動きを保ち、顔や口へ手を運びやすくします。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手首の曲げ伸ばし</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84680" y="2322577"/>
            <a:ext cx="2578608"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片方の腕を前に伸ばし、</a:t>
            </a:r>
            <a:r>
              <a:rPr lang="en-US" sz="2100" b="1" dirty="0">
                <a:solidFill>
                  <a:srgbClr val="264A75"/>
                </a:solidFill>
                <a:latin typeface="Yu Gothic" pitchFamily="34" charset="0"/>
                <a:ea typeface="Yu Gothic" pitchFamily="34" charset="-122"/>
                <a:cs typeface="Yu Gothic" pitchFamily="34" charset="-120"/>
              </a:rPr>
              <a:t>手のひらを下</a:t>
            </a:r>
            <a:r>
              <a:rPr lang="en-US" sz="2100" dirty="0">
                <a:solidFill>
                  <a:srgbClr val="111418"/>
                </a:solidFill>
                <a:latin typeface="Yu Gothic" pitchFamily="34" charset="0"/>
                <a:ea typeface="Yu Gothic" pitchFamily="34" charset="-122"/>
                <a:cs typeface="Yu Gothic" pitchFamily="34" charset="-120"/>
              </a:rPr>
              <a:t>に向けます。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手首をゆっくり</a:t>
            </a:r>
            <a:r>
              <a:rPr lang="en-US" sz="2100" b="1" dirty="0">
                <a:solidFill>
                  <a:srgbClr val="264A75"/>
                </a:solidFill>
                <a:latin typeface="Yu Gothic" pitchFamily="34" charset="0"/>
                <a:ea typeface="Yu Gothic" pitchFamily="34" charset="-122"/>
                <a:cs typeface="Yu Gothic" pitchFamily="34" charset="-120"/>
              </a:rPr>
              <a:t>下に曲げて</a:t>
            </a:r>
            <a:r>
              <a:rPr lang="en-US" sz="2100" dirty="0">
                <a:solidFill>
                  <a:srgbClr val="111418"/>
                </a:solidFill>
                <a:latin typeface="Yu Gothic" pitchFamily="34" charset="0"/>
                <a:ea typeface="Yu Gothic" pitchFamily="34" charset="-122"/>
                <a:cs typeface="Yu Gothic" pitchFamily="34" charset="-120"/>
              </a:rPr>
              <a:t>、上に反らせます。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10回くり返したら、</a:t>
            </a:r>
            <a:r>
              <a:rPr lang="en-US" sz="2100" b="1" dirty="0">
                <a:solidFill>
                  <a:srgbClr val="264A75"/>
                </a:solidFill>
                <a:latin typeface="Yu Gothic" pitchFamily="34" charset="0"/>
                <a:ea typeface="Yu Gothic" pitchFamily="34" charset="-122"/>
                <a:cs typeface="Yu Gothic" pitchFamily="34" charset="-120"/>
              </a:rPr>
              <a:t>反対の手も</a:t>
            </a:r>
            <a:r>
              <a:rPr lang="en-US" sz="2100" dirty="0">
                <a:solidFill>
                  <a:srgbClr val="111418"/>
                </a:solidFill>
                <a:latin typeface="Yu Gothic" pitchFamily="34" charset="0"/>
                <a:ea typeface="Yu Gothic" pitchFamily="34" charset="-122"/>
                <a:cs typeface="Yu Gothic" pitchFamily="34" charset="-120"/>
              </a:rPr>
              <a:t>同じように行います。</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反対の手で軽く支えながら動かすと、より大きく</a:t>
            </a:r>
            <a:endParaRPr lang="en-US" sz="2100" dirty="0">
              <a:solidFill>
                <a:srgbClr val="3D2806"/>
              </a:solidFill>
              <a:latin typeface="Yu Gothic" pitchFamily="34" charset="0"/>
              <a:ea typeface="Yu Gothic" pitchFamily="34" charset="-122"/>
              <a:cs typeface="Yu Gothic" pitchFamily="34" charset="-120"/>
            </a:endParaRPr>
          </a:p>
          <a:p>
            <a:pPr marL="0" indent="0" algn="l">
              <a:buNone/>
            </a:pPr>
            <a:r>
              <a:rPr lang="en-US" sz="2100" dirty="0" err="1">
                <a:solidFill>
                  <a:srgbClr val="3D2806"/>
                </a:solidFill>
                <a:latin typeface="Yu Gothic" pitchFamily="34" charset="0"/>
                <a:ea typeface="Yu Gothic" pitchFamily="34" charset="-122"/>
                <a:cs typeface="Yu Gothic" pitchFamily="34" charset="-120"/>
              </a:rPr>
              <a:t>動かせます</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手首に痛みやしびれが強い時は中止し、無理に伸ばさないようにしましょう。</a:t>
            </a:r>
            <a:endParaRPr lang="en-US" sz="2100" dirty="0"/>
          </a:p>
        </p:txBody>
      </p:sp>
      <p:pic>
        <p:nvPicPr>
          <p:cNvPr id="48" name="図 47">
            <a:extLst>
              <a:ext uri="{FF2B5EF4-FFF2-40B4-BE49-F238E27FC236}">
                <a16:creationId xmlns:a16="http://schemas.microsoft.com/office/drawing/2014/main" id="{38EB8AF4-D0A7-5E44-B644-7CCDDA2B3ED6}"/>
              </a:ext>
            </a:extLst>
          </p:cNvPr>
          <p:cNvPicPr>
            <a:picLocks noChangeAspect="1"/>
          </p:cNvPicPr>
          <p:nvPr/>
        </p:nvPicPr>
        <p:blipFill rotWithShape="1">
          <a:blip r:embed="rId3"/>
          <a:srcRect l="14154" t="3542" r="16411" b="27730"/>
          <a:stretch/>
        </p:blipFill>
        <p:spPr>
          <a:xfrm>
            <a:off x="618493" y="2818752"/>
            <a:ext cx="8351450"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手首をやわらかく保ち、物を持つ動作を安定させます。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手のひら返し</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478293" y="2313432"/>
            <a:ext cx="2938853"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10往復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肘を曲げて、</a:t>
            </a:r>
            <a:r>
              <a:rPr lang="en-US" sz="2100" b="1" dirty="0">
                <a:solidFill>
                  <a:srgbClr val="264A75"/>
                </a:solidFill>
                <a:latin typeface="Yu Gothic" pitchFamily="34" charset="0"/>
                <a:ea typeface="Yu Gothic" pitchFamily="34" charset="-122"/>
                <a:cs typeface="Yu Gothic" pitchFamily="34" charset="-120"/>
              </a:rPr>
              <a:t>手のひらを上</a:t>
            </a:r>
            <a:r>
              <a:rPr lang="en-US" sz="2100" dirty="0">
                <a:solidFill>
                  <a:srgbClr val="111418"/>
                </a:solidFill>
                <a:latin typeface="Yu Gothic" pitchFamily="34" charset="0"/>
                <a:ea typeface="Yu Gothic" pitchFamily="34" charset="-122"/>
                <a:cs typeface="Yu Gothic" pitchFamily="34" charset="-120"/>
              </a:rPr>
              <a:t>に向けます。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ゆっくり手のひらを</a:t>
            </a:r>
            <a:r>
              <a:rPr lang="en-US" sz="2100" b="1" dirty="0">
                <a:solidFill>
                  <a:srgbClr val="264A75"/>
                </a:solidFill>
                <a:latin typeface="Yu Gothic" pitchFamily="34" charset="0"/>
                <a:ea typeface="Yu Gothic" pitchFamily="34" charset="-122"/>
                <a:cs typeface="Yu Gothic" pitchFamily="34" charset="-120"/>
              </a:rPr>
              <a:t>下に返します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上下を1往復として、ゆっくり</a:t>
            </a:r>
            <a:r>
              <a:rPr lang="en-US" sz="2100" b="1" dirty="0">
                <a:solidFill>
                  <a:srgbClr val="264A75"/>
                </a:solidFill>
                <a:latin typeface="Yu Gothic" pitchFamily="34" charset="0"/>
                <a:ea typeface="Yu Gothic" pitchFamily="34" charset="-122"/>
                <a:cs typeface="Yu Gothic" pitchFamily="34" charset="-120"/>
              </a:rPr>
              <a:t>10往復</a:t>
            </a:r>
            <a:r>
              <a:rPr lang="en-US" sz="2100" dirty="0">
                <a:solidFill>
                  <a:srgbClr val="111418"/>
                </a:solidFill>
                <a:latin typeface="Yu Gothic" pitchFamily="34" charset="0"/>
                <a:ea typeface="Yu Gothic" pitchFamily="34" charset="-122"/>
                <a:cs typeface="Yu Gothic" pitchFamily="34" charset="-120"/>
              </a:rPr>
              <a:t>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ドアノブを回す動作・コップを持ち替える動作の練習になります。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err="1">
                <a:solidFill>
                  <a:srgbClr val="7A2D1D"/>
                </a:solidFill>
                <a:latin typeface="Yu Gothic" pitchFamily="34" charset="0"/>
                <a:ea typeface="Yu Gothic" pitchFamily="34" charset="-122"/>
                <a:cs typeface="Yu Gothic" pitchFamily="34" charset="-120"/>
              </a:rPr>
              <a:t>肘や手首に痛みが出る場合は無理せず、動く範囲で</a:t>
            </a:r>
            <a:endParaRPr lang="en-US" sz="2100" dirty="0">
              <a:solidFill>
                <a:srgbClr val="7A2D1D"/>
              </a:solidFill>
              <a:latin typeface="Yu Gothic" pitchFamily="34" charset="0"/>
              <a:ea typeface="Yu Gothic" pitchFamily="34" charset="-122"/>
              <a:cs typeface="Yu Gothic" pitchFamily="34" charset="-120"/>
            </a:endParaRPr>
          </a:p>
          <a:p>
            <a:pPr marL="0" indent="0" algn="l">
              <a:buNone/>
            </a:pPr>
            <a:r>
              <a:rPr lang="en-US" sz="2100" dirty="0" err="1">
                <a:solidFill>
                  <a:srgbClr val="7A2D1D"/>
                </a:solidFill>
                <a:latin typeface="Yu Gothic" pitchFamily="34" charset="0"/>
                <a:ea typeface="Yu Gothic" pitchFamily="34" charset="-122"/>
                <a:cs typeface="Yu Gothic" pitchFamily="34" charset="-120"/>
              </a:rPr>
              <a:t>行いましょう</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0591437B-1604-AB4D-BFFB-F946F2D6B7C3}"/>
              </a:ext>
            </a:extLst>
          </p:cNvPr>
          <p:cNvPicPr>
            <a:picLocks noChangeAspect="1"/>
          </p:cNvPicPr>
          <p:nvPr/>
        </p:nvPicPr>
        <p:blipFill rotWithShape="1">
          <a:blip r:embed="rId3"/>
          <a:srcRect l="23120" r="24258" b="25556"/>
          <a:stretch/>
        </p:blipFill>
        <p:spPr>
          <a:xfrm>
            <a:off x="1351116" y="2818752"/>
            <a:ext cx="6886204"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前腕をひねる動きを保ち、蛇口やドアノブの操作を楽にします。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グーパー運動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02384" y="2313432"/>
            <a:ext cx="2743200"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両手を</a:t>
            </a:r>
            <a:r>
              <a:rPr lang="en-US" sz="2100" b="1" dirty="0">
                <a:solidFill>
                  <a:srgbClr val="264A75"/>
                </a:solidFill>
                <a:latin typeface="Yu Gothic" pitchFamily="34" charset="0"/>
                <a:ea typeface="Yu Gothic" pitchFamily="34" charset="-122"/>
                <a:cs typeface="Yu Gothic" pitchFamily="34" charset="-120"/>
              </a:rPr>
              <a:t>しっかり握って</a:t>
            </a:r>
            <a:r>
              <a:rPr lang="en-US" sz="2100" dirty="0">
                <a:solidFill>
                  <a:srgbClr val="111418"/>
                </a:solidFill>
                <a:latin typeface="Yu Gothic" pitchFamily="34" charset="0"/>
                <a:ea typeface="Yu Gothic" pitchFamily="34" charset="-122"/>
                <a:cs typeface="Yu Gothic" pitchFamily="34" charset="-120"/>
              </a:rPr>
              <a:t>「グー」をつくります。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指を</a:t>
            </a:r>
            <a:r>
              <a:rPr lang="en-US" sz="2100" b="1" dirty="0">
                <a:solidFill>
                  <a:srgbClr val="264A75"/>
                </a:solidFill>
                <a:latin typeface="Yu Gothic" pitchFamily="34" charset="0"/>
                <a:ea typeface="Yu Gothic" pitchFamily="34" charset="-122"/>
                <a:cs typeface="Yu Gothic" pitchFamily="34" charset="-120"/>
              </a:rPr>
              <a:t>大きく開いて</a:t>
            </a:r>
            <a:r>
              <a:rPr lang="en-US" sz="2100" dirty="0">
                <a:solidFill>
                  <a:srgbClr val="111418"/>
                </a:solidFill>
                <a:latin typeface="Yu Gothic" pitchFamily="34" charset="0"/>
                <a:ea typeface="Yu Gothic" pitchFamily="34" charset="-122"/>
                <a:cs typeface="Yu Gothic" pitchFamily="34" charset="-120"/>
              </a:rPr>
              <a:t>「パー」にします。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「グー・パー」を10回</a:t>
            </a:r>
            <a:r>
              <a:rPr lang="en-US" sz="2100" b="1" dirty="0">
                <a:solidFill>
                  <a:srgbClr val="264A75"/>
                </a:solidFill>
                <a:latin typeface="Yu Gothic" pitchFamily="34" charset="0"/>
                <a:ea typeface="Yu Gothic" pitchFamily="34" charset="-122"/>
                <a:cs typeface="Yu Gothic" pitchFamily="34" charset="-120"/>
              </a:rPr>
              <a:t>くり返しましょう</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テレビを見ながらでも、お風呂の中でもできます</a:t>
            </a:r>
            <a:r>
              <a:rPr lang="en-US" sz="2100" dirty="0">
                <a:solidFill>
                  <a:srgbClr val="3D2806"/>
                </a:solidFill>
                <a:latin typeface="Yu Gothic" pitchFamily="34" charset="0"/>
                <a:ea typeface="Yu Gothic" pitchFamily="34" charset="-122"/>
                <a:cs typeface="Yu Gothic" pitchFamily="34" charset="-120"/>
              </a:rPr>
              <a:t>。</a:t>
            </a:r>
          </a:p>
          <a:p>
            <a:pPr marL="0" indent="0" algn="l">
              <a:buNone/>
            </a:pPr>
            <a:r>
              <a:rPr lang="en-US" sz="2100" dirty="0" err="1">
                <a:solidFill>
                  <a:srgbClr val="3D2806"/>
                </a:solidFill>
                <a:latin typeface="Yu Gothic" pitchFamily="34" charset="0"/>
                <a:ea typeface="Yu Gothic" pitchFamily="34" charset="-122"/>
                <a:cs typeface="Yu Gothic" pitchFamily="34" charset="-120"/>
              </a:rPr>
              <a:t>気づいた時に動かしましょう</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指の関節が腫れている時や強い痛みがある時は無理に握らないでください。</a:t>
            </a:r>
            <a:endParaRPr lang="en-US" sz="2100" dirty="0"/>
          </a:p>
        </p:txBody>
      </p:sp>
      <p:pic>
        <p:nvPicPr>
          <p:cNvPr id="48" name="図 47">
            <a:extLst>
              <a:ext uri="{FF2B5EF4-FFF2-40B4-BE49-F238E27FC236}">
                <a16:creationId xmlns:a16="http://schemas.microsoft.com/office/drawing/2014/main" id="{E139B86D-828D-D841-B841-596D85F43860}"/>
              </a:ext>
            </a:extLst>
          </p:cNvPr>
          <p:cNvPicPr>
            <a:picLocks noChangeAspect="1"/>
          </p:cNvPicPr>
          <p:nvPr/>
        </p:nvPicPr>
        <p:blipFill rotWithShape="1">
          <a:blip r:embed="rId3"/>
          <a:srcRect l="13968" r="14313" b="15658"/>
          <a:stretch/>
        </p:blipFill>
        <p:spPr>
          <a:xfrm>
            <a:off x="652345" y="2818752"/>
            <a:ext cx="8283746"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手指のこわばりをほぐし、握る力を保ちます。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タオル握り運動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5秒 × 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フェイスタオルを丸めて手で握ります。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p/>
        </p:txBody>
      </p:sp>
      <p:sp>
        <p:nvSpPr>
          <p:cNvPr id="27" name="Shape 25"/>
          <p:cNvSpPr/>
          <p:nvPr/>
        </p:nvSpPr>
        <p:spPr>
          <a:xfrm>
            <a:off x="9418320" y="4305681"/>
            <a:ext cx="457200" cy="457200"/>
          </a:xfrm>
          <a:prstGeom prst="ellipse">
            <a:avLst/>
          </a:prstGeom>
          <a:solidFill>
            <a:srgbClr val="3B6EA8"/>
          </a:solidFill>
          <a:ln/>
        </p:spPr>
        <p:txBody>
          <a:body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ぎゅっと握って</a:t>
            </a:r>
            <a:r>
              <a:rPr lang="en-US" sz="2100" b="1" dirty="0">
                <a:solidFill>
                  <a:srgbClr val="264A75"/>
                </a:solidFill>
                <a:latin typeface="Yu Gothic" pitchFamily="34" charset="0"/>
                <a:ea typeface="Yu Gothic" pitchFamily="34" charset="-122"/>
                <a:cs typeface="Yu Gothic" pitchFamily="34" charset="-120"/>
              </a:rPr>
              <a:t>5秒キープ</a:t>
            </a:r>
            <a:r>
              <a:rPr lang="en-US" sz="2100" dirty="0">
                <a:solidFill>
                  <a:srgbClr val="111418"/>
                </a:solidFill>
                <a:latin typeface="Yu Gothic" pitchFamily="34" charset="0"/>
                <a:ea typeface="Yu Gothic" pitchFamily="34" charset="-122"/>
                <a:cs typeface="Yu Gothic" pitchFamily="34" charset="-120"/>
              </a:rPr>
              <a:t>します。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p/>
        </p:txBody>
      </p:sp>
      <p:sp>
        <p:nvSpPr>
          <p:cNvPr id="31" name="Shape 29"/>
          <p:cNvSpPr/>
          <p:nvPr/>
        </p:nvSpPr>
        <p:spPr>
          <a:xfrm>
            <a:off x="9418320" y="5265801"/>
            <a:ext cx="457200" cy="457200"/>
          </a:xfrm>
          <a:prstGeom prst="ellipse">
            <a:avLst/>
          </a:prstGeom>
          <a:solidFill>
            <a:srgbClr val="3B6EA8"/>
          </a:solidFill>
          <a:ln/>
        </p:spPr>
        <p:txBody>
          <a:body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ゆっくり力を抜いて</a:t>
            </a:r>
            <a:r>
              <a:rPr lang="en-US" sz="2100" dirty="0">
                <a:solidFill>
                  <a:srgbClr val="111418"/>
                </a:solidFill>
                <a:latin typeface="Yu Gothic" pitchFamily="34" charset="0"/>
                <a:ea typeface="Yu Gothic" pitchFamily="34" charset="-122"/>
                <a:cs typeface="Yu Gothic" pitchFamily="34" charset="-120"/>
              </a:rPr>
              <a:t>休みます。10回くり返しましょう。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p/>
        </p:txBody>
      </p:sp>
      <p:sp>
        <p:nvSpPr>
          <p:cNvPr id="36" name="Shape 34"/>
          <p:cNvSpPr/>
          <p:nvPr/>
        </p:nvSpPr>
        <p:spPr>
          <a:xfrm>
            <a:off x="9619488" y="6893433"/>
            <a:ext cx="420624" cy="420624"/>
          </a:xfrm>
          <a:prstGeom prst="ellipse">
            <a:avLst/>
          </a:prstGeom>
          <a:solidFill>
            <a:srgbClr val="C98A2B"/>
          </a:solidFill>
          <a:ln/>
        </p:spPr>
        <p:txBody>
          <a:body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タオルが大きすぎる時は二つ折りにして</a:t>
            </a:r>
            <a:r>
              <a:rPr lang="en-US" sz="2100" dirty="0">
                <a:solidFill>
                  <a:srgbClr val="3D2806"/>
                </a:solidFill>
                <a:latin typeface="Yu Gothic" pitchFamily="34" charset="0"/>
                <a:ea typeface="Yu Gothic" pitchFamily="34" charset="-122"/>
                <a:cs typeface="Yu Gothic" pitchFamily="34" charset="-120"/>
              </a:rPr>
              <a:t>、</a:t>
            </a:r>
          </a:p>
          <a:p>
            <a:pPr marL="0" indent="0" algn="l">
              <a:buNone/>
            </a:pPr>
            <a:r>
              <a:rPr lang="en-US" sz="2100" dirty="0" err="1">
                <a:solidFill>
                  <a:srgbClr val="3D2806"/>
                </a:solidFill>
                <a:latin typeface="Yu Gothic" pitchFamily="34" charset="0"/>
                <a:ea typeface="Yu Gothic" pitchFamily="34" charset="-122"/>
                <a:cs typeface="Yu Gothic" pitchFamily="34" charset="-120"/>
              </a:rPr>
              <a:t>手で握りやすい太さに調整しましょう</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p/>
        </p:txBody>
      </p:sp>
      <p:sp>
        <p:nvSpPr>
          <p:cNvPr id="40" name="Shape 38"/>
          <p:cNvSpPr/>
          <p:nvPr/>
        </p:nvSpPr>
        <p:spPr>
          <a:xfrm>
            <a:off x="9418320" y="7789545"/>
            <a:ext cx="54864" cy="1078992"/>
          </a:xfrm>
          <a:prstGeom prst="rect">
            <a:avLst/>
          </a:prstGeom>
          <a:solidFill>
            <a:srgbClr val="E87362"/>
          </a:solidFill>
          <a:ln/>
        </p:spPr>
        <p:txBody>
          <a:bodyPr/>
          <a:p/>
        </p:txBody>
      </p:sp>
      <p:sp>
        <p:nvSpPr>
          <p:cNvPr id="41" name="Shape 39"/>
          <p:cNvSpPr/>
          <p:nvPr/>
        </p:nvSpPr>
        <p:spPr>
          <a:xfrm>
            <a:off x="9619488" y="8100441"/>
            <a:ext cx="457200" cy="457200"/>
          </a:xfrm>
          <a:prstGeom prst="ellipse">
            <a:avLst/>
          </a:prstGeom>
          <a:solidFill>
            <a:srgbClr val="E87362"/>
          </a:solidFill>
          <a:ln/>
        </p:spPr>
        <p:txBody>
          <a:body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err="1">
                <a:solidFill>
                  <a:srgbClr val="7A2D1D"/>
                </a:solidFill>
                <a:latin typeface="Yu Gothic" pitchFamily="34" charset="0"/>
                <a:ea typeface="Yu Gothic" pitchFamily="34" charset="-122"/>
                <a:cs typeface="Yu Gothic" pitchFamily="34" charset="-120"/>
              </a:rPr>
              <a:t>握っている時に手や腕に強い痛みが出る場合は</a:t>
            </a:r>
            <a:endParaRPr lang="en-US" sz="2100" dirty="0">
              <a:solidFill>
                <a:srgbClr val="7A2D1D"/>
              </a:solidFill>
              <a:latin typeface="Yu Gothic" pitchFamily="34" charset="0"/>
              <a:ea typeface="Yu Gothic" pitchFamily="34" charset="-122"/>
              <a:cs typeface="Yu Gothic" pitchFamily="34" charset="-120"/>
            </a:endParaRPr>
          </a:p>
          <a:p>
            <a:pPr marL="0" indent="0" algn="l">
              <a:buNone/>
            </a:pPr>
            <a:r>
              <a:rPr lang="en-US" sz="2100" dirty="0" err="1">
                <a:solidFill>
                  <a:srgbClr val="7A2D1D"/>
                </a:solidFill>
                <a:latin typeface="Yu Gothic" pitchFamily="34" charset="0"/>
                <a:ea typeface="Yu Gothic" pitchFamily="34" charset="-122"/>
                <a:cs typeface="Yu Gothic" pitchFamily="34" charset="-120"/>
              </a:rPr>
              <a:t>中止しましょう</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F2EDA5D6-2AFE-4141-AEE0-5263B1D215A0}"/>
              </a:ext>
            </a:extLst>
          </p:cNvPr>
          <p:cNvPicPr>
            <a:picLocks noChangeAspect="1"/>
          </p:cNvPicPr>
          <p:nvPr/>
        </p:nvPicPr>
        <p:blipFill rotWithShape="1">
          <a:blip r:embed="rId3"/>
          <a:srcRect l="27902" r="31420" b="25593"/>
          <a:stretch/>
        </p:blipFill>
        <p:spPr>
          <a:xfrm>
            <a:off x="2131322" y="2818752"/>
            <a:ext cx="5325793"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b="1" sz="2800">
                <a:solidFill>
                  <a:srgbClr val="334155"/>
                </a:solidFill>
                <a:latin typeface="Yu Gothic"/>
              </a:rPr>
              <a:t>目的：</a:t>
            </a:r>
            <a:r>
              <a:rPr sz="2800">
                <a:solidFill>
                  <a:srgbClr val="334155"/>
                </a:solidFill>
                <a:latin typeface="Yu Gothic"/>
              </a:rPr>
              <a:t>握る力を高め、物をしっかり持てるようにします。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1605</TotalTime>
  <Words>1324</Words>
  <Application>Microsoft Macintosh PowerPoint</Application>
  <PresentationFormat>ユーザー設定</PresentationFormat>
  <Paragraphs>339</Paragraphs>
  <Slides>12</Slides>
  <Notes>12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Yu Gothic</vt:lpstr>
      <vt:lpstr>Yu Gothic</vt:lpstr>
      <vt:lpstr>Arial</vt:lpstr>
      <vt:lpstr>Calibri</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誠 安宅</cp:lastModifiedBy>
  <cp:revision>7</cp:revision>
  <dcterms:created xsi:type="dcterms:W3CDTF">2026-05-06T14:18:54Z</dcterms:created>
  <dcterms:modified xsi:type="dcterms:W3CDTF">2026-05-28T03:25:51Z</dcterms:modified>
</cp:coreProperties>
</file>