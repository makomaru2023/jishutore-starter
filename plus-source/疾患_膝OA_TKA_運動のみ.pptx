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8" r:id="rId4"/>
    <p:sldId id="259" r:id="rId5"/>
    <p:sldId id="260" r:id="rId6"/>
    <p:sldId id="262" r:id="rId8"/>
    <p:sldId id="263" r:id="rId9"/>
    <p:sldId id="264" r:id="rId10"/>
    <p:sldId id="265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74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281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126087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両膝抱え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97050" y="1807369"/>
            <a:ext cx="2743200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87550" y="1959769"/>
            <a:ext cx="2362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87550" y="2331244"/>
            <a:ext cx="236220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30秒 × 3セット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仰向けに寝て、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両膝を胸に近づける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ように曲げます。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1147763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3" y="4201143"/>
            <a:ext cx="6688554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両手で膝を支え、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無理のない範囲で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ゆっくり胸に</a:t>
            </a:r>
            <a:endParaRPr lang="en-US" sz="2000" dirty="0">
              <a:solidFill>
                <a:srgbClr val="11141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引き寄せます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359337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521262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52126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521262"/>
            <a:ext cx="66885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30秒キープ。一度戻して、これを3回繰り返します。</a:t>
            </a:r>
            <a:endParaRPr lang="en-US" sz="2100" dirty="0"/>
          </a:p>
        </p:txBody>
      </p:sp>
      <p:sp>
        <p:nvSpPr>
          <p:cNvPr id="36" name="Shape 33"/>
          <p:cNvSpPr/>
          <p:nvPr/>
        </p:nvSpPr>
        <p:spPr>
          <a:xfrm>
            <a:off x="9527307" y="633088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780399" y="660517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5"/>
          <p:cNvSpPr/>
          <p:nvPr/>
        </p:nvSpPr>
        <p:spPr>
          <a:xfrm>
            <a:off x="9742299" y="660517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0429324" y="6362736"/>
            <a:ext cx="678666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膝の曲がる角度を広げる 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運動です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正座・しゃがみ・深く座る動作の準備になります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9527307" y="7489067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9527307" y="7489067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9764979" y="7755767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9726879" y="775576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4" name="Text 41"/>
          <p:cNvSpPr/>
          <p:nvPr/>
        </p:nvSpPr>
        <p:spPr>
          <a:xfrm>
            <a:off x="10429324" y="7524786"/>
            <a:ext cx="6688555" cy="908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膝を強く引き寄せすぎず、</a:t>
            </a: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無理のない範囲で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TKA後3ヶ月以内の方は担当の先生に確認してから。</a:t>
            </a:r>
            <a:endParaRPr lang="en-US" sz="2000" dirty="0"/>
          </a:p>
        </p:txBody>
      </p:sp>
      <p:sp>
        <p:nvSpPr>
          <p:cNvPr id="46" name="TextBox 45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腰とお尻をやさしく伸ばし、こわばりをほぐします。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座って開脚ストレッチ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 各30秒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49335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床に座り、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両足を無理のない範囲で開きます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775097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483890" y="4259199"/>
            <a:ext cx="6944206" cy="613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背筋を伸ばしたまま</a:t>
            </a:r>
            <a:r>
              <a:rPr lang="ja-JP" altLang="en-US" sz="200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少し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前に倒し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、ももの裏を伸ばします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64179C72-B6D5-9E44-B9D6-8044BE52AD9F}"/>
              </a:ext>
            </a:extLst>
          </p:cNvPr>
          <p:cNvGrpSpPr/>
          <p:nvPr/>
        </p:nvGrpSpPr>
        <p:grpSpPr>
          <a:xfrm>
            <a:off x="9527307" y="5054541"/>
            <a:ext cx="7712943" cy="781050"/>
            <a:chOff x="9527307" y="5938838"/>
            <a:chExt cx="7712943" cy="781050"/>
          </a:xfrm>
        </p:grpSpPr>
        <p:sp>
          <p:nvSpPr>
            <p:cNvPr id="32" name="Shape 29"/>
            <p:cNvSpPr/>
            <p:nvPr/>
          </p:nvSpPr>
          <p:spPr>
            <a:xfrm>
              <a:off x="9527307" y="5938838"/>
              <a:ext cx="7712943" cy="781050"/>
            </a:xfrm>
            <a:prstGeom prst="roundRect">
              <a:avLst>
                <a:gd name="adj" fmla="val 17073"/>
              </a:avLst>
            </a:prstGeom>
            <a:solidFill>
              <a:srgbClr val="FFFFFF"/>
            </a:solidFill>
            <a:ln w="9525">
              <a:solidFill>
                <a:srgbClr val="E3E6EA"/>
              </a:solidFill>
              <a:prstDash val="solid"/>
            </a:ln>
          </p:spPr>
        </p:sp>
        <p:sp>
          <p:nvSpPr>
            <p:cNvPr id="33" name="Shape 30"/>
            <p:cNvSpPr/>
            <p:nvPr/>
          </p:nvSpPr>
          <p:spPr>
            <a:xfrm>
              <a:off x="9746382" y="6100763"/>
              <a:ext cx="457200" cy="457200"/>
            </a:xfrm>
            <a:prstGeom prst="ellipse">
              <a:avLst/>
            </a:prstGeom>
            <a:solidFill>
              <a:srgbClr val="3B6EA8"/>
            </a:solidFill>
            <a:ln/>
          </p:spPr>
        </p:sp>
        <p:sp>
          <p:nvSpPr>
            <p:cNvPr id="34" name="Text 31"/>
            <p:cNvSpPr/>
            <p:nvPr/>
          </p:nvSpPr>
          <p:spPr>
            <a:xfrm>
              <a:off x="9708282" y="6100763"/>
              <a:ext cx="533400" cy="4953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950" b="1" dirty="0">
                  <a:solidFill>
                    <a:srgbClr val="FFFFFF"/>
                  </a:solidFill>
                  <a:latin typeface="Georgia" pitchFamily="34" charset="0"/>
                </a:rPr>
                <a:t>３</a:t>
              </a:r>
              <a:endParaRPr lang="en-US" sz="1950" dirty="0"/>
            </a:p>
          </p:txBody>
        </p:sp>
        <p:sp>
          <p:nvSpPr>
            <p:cNvPr id="35" name="Text 32"/>
            <p:cNvSpPr/>
            <p:nvPr/>
          </p:nvSpPr>
          <p:spPr>
            <a:xfrm>
              <a:off x="10527432" y="6086249"/>
              <a:ext cx="6688555" cy="4381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000" dirty="0">
                  <a:solidFill>
                    <a:srgbClr val="1114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30秒キープ</a:t>
              </a:r>
              <a:r>
                <a:rPr lang="ja-JP" altLang="en-US" sz="2000">
                  <a:solidFill>
                    <a:srgbClr val="1114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した後、</a:t>
              </a:r>
              <a:r>
                <a:rPr lang="en-US" sz="2000" dirty="0" err="1">
                  <a:solidFill>
                    <a:srgbClr val="1114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反対側も同じように行います</a:t>
              </a:r>
              <a:r>
                <a:rPr lang="en-US" sz="2000" dirty="0">
                  <a:solidFill>
                    <a:srgbClr val="1114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。</a:t>
              </a:r>
              <a:endParaRPr lang="en-US" sz="2000" dirty="0"/>
            </a:p>
          </p:txBody>
        </p:sp>
      </p:grpSp>
      <p:sp>
        <p:nvSpPr>
          <p:cNvPr id="36" name="Shape 33"/>
          <p:cNvSpPr/>
          <p:nvPr/>
        </p:nvSpPr>
        <p:spPr>
          <a:xfrm>
            <a:off x="9527307" y="6330887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330887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64979" y="6597587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26879" y="659758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36957" y="6353509"/>
            <a:ext cx="6688555" cy="853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腰を丸めて前屈しない</a:t>
            </a: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こと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膝の裏や腰に痛みが出たら、すぐに中止してください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5" name="TextBox 44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内ももを伸ばし、膝や股関節の動きを保ちます。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座って膝伸ばし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椅子に深く座り、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両足を床につけます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5"/>
            <a:ext cx="7712943" cy="803970"/>
          </a:xfrm>
          <a:prstGeom prst="roundRect">
            <a:avLst>
              <a:gd name="adj" fmla="val 11382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200"/>
            <a:ext cx="6688555" cy="613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片方の足の膝を、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つま先を天伸ばし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、5秒キープします。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459349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94913" y="5719125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56813" y="571912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41707" y="5481122"/>
            <a:ext cx="6786663" cy="925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つま先をやや内側に向ける</a:t>
            </a: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とももの内側</a:t>
            </a:r>
            <a:r>
              <a:rPr lang="ja-JP" altLang="en-US" sz="2000" b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の筋肉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にしっかり</a:t>
            </a:r>
            <a:endParaRPr lang="en-US" sz="2000" b="1" dirty="0">
              <a:solidFill>
                <a:srgbClr val="5A3D1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力が入ります。O脚</a:t>
            </a:r>
            <a:r>
              <a:rPr lang="ja-JP" altLang="en-US" sz="2000" b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進行を止める重要な筋肉です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617529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617529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94007" y="6884229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55907" y="688422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449873" y="6595761"/>
            <a:ext cx="7084293" cy="1052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膝の内側やお皿の周りに強い痛みが出たら中止</a:t>
            </a: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しましょう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b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反動を使わず、ゆっくり丁寧に動かすのがコツです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2" name="TextBox 41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太もも前の力をつけ、膝を支え立ち上がりを楽にします。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197785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クラムシェル(横向きで膝を開く)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353133" y="1807369"/>
            <a:ext cx="2887117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543633" y="1959769"/>
            <a:ext cx="250611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543633" y="2331244"/>
            <a:ext cx="2506117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 各10回 × 2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横向きに寝て、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両膝を軽く曲げます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1147763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199"/>
            <a:ext cx="6688555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かかと同士を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離さないまま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、上</a:t>
            </a:r>
            <a:r>
              <a:rPr lang="ja-JP" altLang="en-US" sz="200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側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の膝を天井に向かって</a:t>
            </a:r>
            <a:endParaRPr lang="en-US" sz="2000" dirty="0">
              <a:solidFill>
                <a:srgbClr val="11141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開きます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359337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521262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52126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521262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ゆっくり元に戻し、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反対側も同じ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ように行います。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33088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736857" y="660517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9698757" y="660517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0441708" y="6367175"/>
            <a:ext cx="6774280" cy="931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お尻の横(中殿筋)に力が入る感覚 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が大事です。この筋肉が弱</a:t>
            </a:r>
            <a:r>
              <a:rPr lang="ja-JP" altLang="en-US" sz="2000" b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くな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ると膝が外側に倒れ、O脚が進みやすくなります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1" name="TextBox 40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お尻の横の筋肉を鍛え、O脚や歩行のぐらつきを防ぎます。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ゴムバンドでサイドステップ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 各10回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両足首にゴムバンドを巻き、 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足を肩幅に開いて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立ちます。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003953"/>
            <a:ext cx="6688555" cy="979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片足ずつ、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真横にサイドステップ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を10歩。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反対方向にも10歩戻ります。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068824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36857" y="5343114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698757" y="5343114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41707" y="5068824"/>
            <a:ext cx="6786663" cy="9405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お尻の横に効く感覚で。</a:t>
            </a: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膝がつま先より内側に</a:t>
            </a:r>
            <a:endParaRPr lang="en-US" sz="2000" b="1" dirty="0">
              <a:solidFill>
                <a:srgbClr val="3D280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入らない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ように、まっすぐ横に踏み出すのが大事です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227003"/>
            <a:ext cx="7712943" cy="1011139"/>
          </a:xfrm>
          <a:prstGeom prst="roundRect">
            <a:avLst>
              <a:gd name="adj" fmla="val 10000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227004"/>
            <a:ext cx="57150" cy="1011138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94007" y="6379404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55907" y="637940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36957" y="6202072"/>
            <a:ext cx="6688555" cy="1094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バランスを崩さないよう、</a:t>
            </a: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体幹をまっすぐ</a:t>
            </a: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保って</a:t>
            </a:r>
            <a:endParaRPr lang="en-US" sz="2000" b="1" dirty="0">
              <a:solidFill>
                <a:srgbClr val="7A2D1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行いましょう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2" name="TextBox 41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横歩きの力を高め、膝と歩行を安定させます。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158664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座位エアロバイク</a:t>
            </a:r>
            <a:endParaRPr lang="en-US" sz="4500" dirty="0"/>
          </a:p>
        </p:txBody>
      </p:sp>
      <p:sp>
        <p:nvSpPr>
          <p:cNvPr id="15" name="Shape 13"/>
          <p:cNvSpPr/>
          <p:nvPr/>
        </p:nvSpPr>
        <p:spPr>
          <a:xfrm>
            <a:off x="13973324" y="1807369"/>
            <a:ext cx="3266926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59778" y="1959769"/>
            <a:ext cx="28940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59778" y="2331244"/>
            <a:ext cx="289401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5〜10分 × 1〜2回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椅子やソファに座り、</a:t>
            </a:r>
            <a:r>
              <a:rPr lang="en-US" sz="21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小型サイクル 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のペダルに両足を乗せます。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9527307" y="4097274"/>
            <a:ext cx="7712943" cy="1147763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0527432" y="4259199"/>
            <a:ext cx="6688555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無理のない軽さに調整し、 </a:t>
            </a:r>
            <a:r>
              <a:rPr lang="en-US" sz="21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ゆっくり漕ぎます 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。呼吸が軽く弾む程度のペースで。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9527307" y="5359337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9746382" y="5521262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9708282" y="552126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3" name="Text 30"/>
          <p:cNvSpPr/>
          <p:nvPr/>
        </p:nvSpPr>
        <p:spPr>
          <a:xfrm>
            <a:off x="10527432" y="5521262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5〜10分続けたら、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休憩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を入れてもう1セット。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9527307" y="633088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9736857" y="660517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9698757" y="660517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10441707" y="6302312"/>
            <a:ext cx="6786663" cy="1042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膝に荷重がかからない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ので、関節を動かしつつ</a:t>
            </a:r>
            <a:endParaRPr lang="en-US" sz="2000" b="1" dirty="0">
              <a:solidFill>
                <a:srgbClr val="5A3D1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体力</a:t>
            </a:r>
            <a:r>
              <a:rPr lang="ja-JP" altLang="en-US" sz="2000" b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向上が望めます。</a:t>
            </a:r>
            <a:endParaRPr lang="en-US" sz="2000" dirty="0"/>
          </a:p>
        </p:txBody>
      </p:sp>
      <p:sp>
        <p:nvSpPr>
          <p:cNvPr id="39" name="TextBox 3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膝に負担をかけず、足の力と持久力を保ちます。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エアロバイク(立位)</a:t>
            </a:r>
            <a:endParaRPr lang="en-US" sz="4500" dirty="0"/>
          </a:p>
        </p:txBody>
      </p:sp>
      <p:sp>
        <p:nvSpPr>
          <p:cNvPr id="15" name="Shape 13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10〜15分 × 1回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527307" y="3201923"/>
            <a:ext cx="7712943" cy="1038743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0527432" y="3276765"/>
            <a:ext cx="6688555" cy="1045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エアロバイクにまたがり、 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サドルの高さを調整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します</a:t>
            </a:r>
            <a:endParaRPr lang="en-US" sz="2000" dirty="0">
              <a:solidFill>
                <a:srgbClr val="11141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(膝が伸びきらない位置)。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9527307" y="4360233"/>
            <a:ext cx="7712943" cy="655687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89EAD9B5-C332-104E-9B2D-DEEBE596E30A}"/>
              </a:ext>
            </a:extLst>
          </p:cNvPr>
          <p:cNvGrpSpPr/>
          <p:nvPr/>
        </p:nvGrpSpPr>
        <p:grpSpPr>
          <a:xfrm>
            <a:off x="9722796" y="4462395"/>
            <a:ext cx="533400" cy="495300"/>
            <a:chOff x="9708282" y="5041896"/>
            <a:chExt cx="533400" cy="495300"/>
          </a:xfrm>
        </p:grpSpPr>
        <p:sp>
          <p:nvSpPr>
            <p:cNvPr id="27" name="Shape 24"/>
            <p:cNvSpPr/>
            <p:nvPr/>
          </p:nvSpPr>
          <p:spPr>
            <a:xfrm>
              <a:off x="9746382" y="5070924"/>
              <a:ext cx="457200" cy="457200"/>
            </a:xfrm>
            <a:prstGeom prst="ellipse">
              <a:avLst/>
            </a:prstGeom>
            <a:solidFill>
              <a:srgbClr val="3B6EA8"/>
            </a:solidFill>
            <a:ln/>
          </p:spPr>
        </p:sp>
        <p:sp>
          <p:nvSpPr>
            <p:cNvPr id="28" name="Text 25"/>
            <p:cNvSpPr/>
            <p:nvPr/>
          </p:nvSpPr>
          <p:spPr>
            <a:xfrm>
              <a:off x="9708282" y="5041896"/>
              <a:ext cx="533400" cy="4953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950" b="1" dirty="0">
                  <a:solidFill>
                    <a:srgbClr val="FFFFFF"/>
                  </a:solidFill>
                  <a:latin typeface="Georgia" pitchFamily="34" charset="0"/>
                </a:rPr>
                <a:t>２</a:t>
              </a:r>
              <a:endParaRPr lang="en-US" sz="1950" dirty="0"/>
            </a:p>
          </p:txBody>
        </p:sp>
      </p:grpSp>
      <p:sp>
        <p:nvSpPr>
          <p:cNvPr id="29" name="Text 26"/>
          <p:cNvSpPr/>
          <p:nvPr/>
        </p:nvSpPr>
        <p:spPr>
          <a:xfrm>
            <a:off x="10396806" y="4416653"/>
            <a:ext cx="7093818" cy="665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軽い負荷から始め、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一定のペース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で10〜15分漕ぎ続けます。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9527307" y="543553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8CF3FD89-72F3-2D4E-92DD-FCEB7D51E4E4}"/>
              </a:ext>
            </a:extLst>
          </p:cNvPr>
          <p:cNvGrpSpPr/>
          <p:nvPr/>
        </p:nvGrpSpPr>
        <p:grpSpPr>
          <a:xfrm>
            <a:off x="9756813" y="5680799"/>
            <a:ext cx="495300" cy="457200"/>
            <a:chOff x="9698757" y="6274814"/>
            <a:chExt cx="495300" cy="457200"/>
          </a:xfrm>
        </p:grpSpPr>
        <p:sp>
          <p:nvSpPr>
            <p:cNvPr id="31" name="Shape 28"/>
            <p:cNvSpPr/>
            <p:nvPr/>
          </p:nvSpPr>
          <p:spPr>
            <a:xfrm>
              <a:off x="9736857" y="6289328"/>
              <a:ext cx="419100" cy="419100"/>
            </a:xfrm>
            <a:prstGeom prst="ellipse">
              <a:avLst/>
            </a:prstGeom>
            <a:solidFill>
              <a:srgbClr val="C98A2B"/>
            </a:solidFill>
            <a:ln/>
          </p:spPr>
        </p:sp>
        <p:sp>
          <p:nvSpPr>
            <p:cNvPr id="32" name="Text 29"/>
            <p:cNvSpPr/>
            <p:nvPr/>
          </p:nvSpPr>
          <p:spPr>
            <a:xfrm>
              <a:off x="9698757" y="6274814"/>
              <a:ext cx="495300" cy="457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◎</a:t>
              </a:r>
              <a:endParaRPr lang="en-US" sz="1800" dirty="0"/>
            </a:p>
          </p:txBody>
        </p:sp>
      </p:grpSp>
      <p:sp>
        <p:nvSpPr>
          <p:cNvPr id="33" name="Text 30"/>
          <p:cNvSpPr/>
          <p:nvPr/>
        </p:nvSpPr>
        <p:spPr>
          <a:xfrm>
            <a:off x="10441707" y="5435537"/>
            <a:ext cx="6786663" cy="85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膝OA・TKA後の継続運動として王道です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テレビを見ながらでもできるのが続けやすい理由です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9527307" y="6593717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9527307" y="6593717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9794007" y="6860417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9755907" y="686041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38" name="Text 35"/>
          <p:cNvSpPr/>
          <p:nvPr/>
        </p:nvSpPr>
        <p:spPr>
          <a:xfrm>
            <a:off x="10536957" y="6586462"/>
            <a:ext cx="6688555" cy="1045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サドルが低すぎる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と膝に負担がかかります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膝が軽く伸びる高さに必ず調整しましょう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4" name="TextBox 43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足全体を動かし、持久力と歩く力を高めます。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123328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ノルディックウォーキング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94371" y="1807369"/>
            <a:ext cx="2745879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84871" y="1959769"/>
            <a:ext cx="23648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84871" y="2331244"/>
            <a:ext cx="2364879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altLang="ja-JP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20〜30</a:t>
            </a:r>
            <a:r>
              <a:rPr lang="ja-JP" altLang="en-US" sz="25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</a:t>
            </a: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× 週2〜3回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ノルディックポールを 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左右の手で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握ります。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69605"/>
            <a:ext cx="7712943" cy="953303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1" y="4012002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歩くリズムに合わせて、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ポールを地面に突き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体重を分散させます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117252"/>
            <a:ext cx="7712943" cy="655619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201043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18357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154549"/>
            <a:ext cx="6688555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背筋を伸ばし、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いつもより大股で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歩きます。</a:t>
            </a:r>
            <a:endParaRPr lang="en-US" sz="2000" dirty="0"/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BFB845E6-F5E9-B246-9DB2-2E1A2132858E}"/>
              </a:ext>
            </a:extLst>
          </p:cNvPr>
          <p:cNvGrpSpPr/>
          <p:nvPr/>
        </p:nvGrpSpPr>
        <p:grpSpPr>
          <a:xfrm>
            <a:off x="9527307" y="6330661"/>
            <a:ext cx="7735545" cy="967906"/>
            <a:chOff x="9527307" y="6910162"/>
            <a:chExt cx="7735545" cy="967906"/>
          </a:xfrm>
        </p:grpSpPr>
        <p:sp>
          <p:nvSpPr>
            <p:cNvPr id="36" name="Shape 33"/>
            <p:cNvSpPr/>
            <p:nvPr/>
          </p:nvSpPr>
          <p:spPr>
            <a:xfrm>
              <a:off x="9527307" y="6910388"/>
              <a:ext cx="7712943" cy="967680"/>
            </a:xfrm>
            <a:prstGeom prst="roundRect">
              <a:avLst>
                <a:gd name="adj" fmla="val 11812"/>
              </a:avLst>
            </a:prstGeom>
            <a:solidFill>
              <a:srgbClr val="FAF1DE"/>
            </a:solidFill>
            <a:ln/>
          </p:spPr>
        </p:sp>
        <p:sp>
          <p:nvSpPr>
            <p:cNvPr id="37" name="Shape 34"/>
            <p:cNvSpPr/>
            <p:nvPr/>
          </p:nvSpPr>
          <p:spPr>
            <a:xfrm>
              <a:off x="9721359" y="7169180"/>
              <a:ext cx="457200" cy="457200"/>
            </a:xfrm>
            <a:prstGeom prst="ellipse">
              <a:avLst/>
            </a:prstGeom>
            <a:solidFill>
              <a:srgbClr val="C98A2B"/>
            </a:solidFill>
            <a:ln/>
          </p:spPr>
        </p:sp>
        <p:sp>
          <p:nvSpPr>
            <p:cNvPr id="38" name="Text 35"/>
            <p:cNvSpPr/>
            <p:nvPr/>
          </p:nvSpPr>
          <p:spPr>
            <a:xfrm>
              <a:off x="9698757" y="7184678"/>
              <a:ext cx="495300" cy="457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◎</a:t>
              </a:r>
              <a:endParaRPr lang="en-US" sz="1800" dirty="0"/>
            </a:p>
          </p:txBody>
        </p:sp>
        <p:sp>
          <p:nvSpPr>
            <p:cNvPr id="39" name="Text 36"/>
            <p:cNvSpPr/>
            <p:nvPr/>
          </p:nvSpPr>
          <p:spPr>
            <a:xfrm>
              <a:off x="10476189" y="6910162"/>
              <a:ext cx="6786663" cy="7009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2000" b="1" dirty="0">
                  <a:solidFill>
                    <a:srgbClr val="3D280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ポール2本を使うと、膝への負担が約30%減</a:t>
              </a:r>
              <a:r>
                <a:rPr lang="ja-JP" altLang="en-US" sz="2000" b="1">
                  <a:solidFill>
                    <a:srgbClr val="3D280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少し</a:t>
              </a:r>
              <a:r>
                <a:rPr lang="en-US" sz="2000" b="1" dirty="0" err="1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ます</a:t>
              </a:r>
              <a:r>
                <a:rPr lang="en-US" sz="2000" b="1" dirty="0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。</a:t>
              </a:r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2000" b="1" dirty="0" err="1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姿勢</a:t>
              </a:r>
              <a:r>
                <a:rPr lang="ja-JP" altLang="en-US" sz="2000" b="1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は</a:t>
              </a:r>
              <a:r>
                <a:rPr lang="en-US" sz="2000" b="1" dirty="0" err="1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まっすぐになり、腰への負担も軽く</a:t>
              </a:r>
              <a:r>
                <a:rPr lang="ja-JP" altLang="en-US" sz="2000" b="1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なります。</a:t>
              </a:r>
              <a:endParaRPr lang="en-US" sz="2000" dirty="0"/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ポールを使って安全に歩き、足腰と持久力を高めます。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杖歩行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10〜20分 × 1回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杖は痛みのある膝の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反対側の手で握ります。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199"/>
            <a:ext cx="6944206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歩く時は、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杖 → 痛い足 → 健側の足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の順に踏み出します。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70849" y="5068824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AE9C4E72-75D9-3149-8EAA-DFF53929E73A}"/>
              </a:ext>
            </a:extLst>
          </p:cNvPr>
          <p:cNvGrpSpPr/>
          <p:nvPr/>
        </p:nvGrpSpPr>
        <p:grpSpPr>
          <a:xfrm>
            <a:off x="9756813" y="5328600"/>
            <a:ext cx="495300" cy="457200"/>
            <a:chOff x="9713271" y="5908101"/>
            <a:chExt cx="495300" cy="457200"/>
          </a:xfrm>
        </p:grpSpPr>
        <p:sp>
          <p:nvSpPr>
            <p:cNvPr id="33" name="Shape 30"/>
            <p:cNvSpPr/>
            <p:nvPr/>
          </p:nvSpPr>
          <p:spPr>
            <a:xfrm>
              <a:off x="9736857" y="5922615"/>
              <a:ext cx="419100" cy="419100"/>
            </a:xfrm>
            <a:prstGeom prst="ellipse">
              <a:avLst/>
            </a:prstGeom>
            <a:solidFill>
              <a:srgbClr val="C98A2B"/>
            </a:solidFill>
            <a:ln/>
          </p:spPr>
        </p:sp>
        <p:sp>
          <p:nvSpPr>
            <p:cNvPr id="34" name="Text 31"/>
            <p:cNvSpPr/>
            <p:nvPr/>
          </p:nvSpPr>
          <p:spPr>
            <a:xfrm>
              <a:off x="9713271" y="5908101"/>
              <a:ext cx="495300" cy="457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◎</a:t>
              </a:r>
              <a:endParaRPr lang="en-US" sz="1800" dirty="0"/>
            </a:p>
          </p:txBody>
        </p:sp>
      </p:grpSp>
      <p:sp>
        <p:nvSpPr>
          <p:cNvPr id="35" name="Text 32"/>
          <p:cNvSpPr/>
          <p:nvPr/>
        </p:nvSpPr>
        <p:spPr>
          <a:xfrm>
            <a:off x="10429324" y="5071950"/>
            <a:ext cx="6786663" cy="964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「患側(痛い足)</a:t>
            </a: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と反対側の手で杖を持つ」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がルールです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杖が膝への体重を肩代わりしてくれます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227004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227004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94007" y="6493704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55907" y="649370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35701" y="6249180"/>
            <a:ext cx="6688555" cy="968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杖の高さは、</a:t>
            </a:r>
            <a:r>
              <a:rPr lang="en-US" sz="2000" b="1" dirty="0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手首の位置 </a:t>
            </a: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が目安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立った時に肘が軽く曲がる高さに調整しましょう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5" name="TextBox 44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杖を使って膝の負担を減らし、安全に歩きます。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1106</TotalTime>
  <Words>923</Words>
  <Application>Microsoft Macintosh PowerPoint</Application>
  <PresentationFormat>ユーザー設定</PresentationFormat>
  <Paragraphs>314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Yu Gothic</vt:lpstr>
      <vt:lpstr>Yu Gothic</vt:lpstr>
      <vt:lpstr>Arial</vt:lpstr>
      <vt:lpstr>Calibri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誠 安宅</cp:lastModifiedBy>
  <cp:revision>16</cp:revision>
  <dcterms:created xsi:type="dcterms:W3CDTF">2026-04-19T20:11:14Z</dcterms:created>
  <dcterms:modified xsi:type="dcterms:W3CDTF">2026-05-07T13:52:11Z</dcterms:modified>
</cp:coreProperties>
</file>