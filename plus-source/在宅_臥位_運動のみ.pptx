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8" r:id="rId2"/>
    <p:sldId id="260" r:id="rId3"/>
    <p:sldId id="261" r:id="rId4"/>
    <p:sldId id="262" r:id="rId5"/>
    <p:sldId id="263" r:id="rId6"/>
    <p:sldId id="264" r:id="rId7"/>
    <p:sldId id="265" r:id="rId8"/>
    <p:sldId id="266"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74"/>
    <p:restoredTop sz="94610"/>
  </p:normalViewPr>
  <p:slideViewPr>
    <p:cSldViewPr snapToGrid="0" snapToObjects="1">
      <p:cViewPr varScale="1">
        <p:scale>
          <a:sx n="88" d="100"/>
          <a:sy n="88" d="100"/>
        </p:scale>
        <p:origin x="55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981582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は手のグーパー運動です。寝たままできる手指のこわばり予防の運動です。手をしっかり握って、大きく開くだけのシンプルな運動ですが、毎日続けると手のこわばりを和らげる助けになります。朝起きる前のウォームアップにもおすすめです。」
【注意点】
・指の関節に痛みが強い日は休む
・無理にぎゅっと握りすぎない
・手が冷たい時は温めてから行う
・腫れがある時は中止</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「膝立て運動です。寝た状態で股関節と膝を動かす運動です。朝起きる前に行うと、体が動かしやすくなります。」
【注意点】
・反動を使わない
・膝や股関節に痛みが出たら中止
・無理に深く曲げない
・呼吸を止めない</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「太もも前の力を入れる運動です。クアドセットとも呼ばれる、リハビリの定番運動のひとつです。動かさずに筋力を保つ運動で、ベッドの上でも太もも前の筋力をしっかりキープできます。」
【注意点】
・息を止めない
・血圧が高い方は強く力みすぎない
・膝に強い痛みが出たら中止
・5秒が長ければ3秒からでOK
・膝の下にタオルを丸めて入れるとやりやすい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「膝倒し運動です。腰まわりの硬さをゆるめる運動で、腰の負担を減らすのに役立ちます。両膝を揃えて、ゆっくり左右に倒します。」
【注意点】
・反動を使わずゆっくり
・腰や背中に痛みが出たら中止
・倒す角度は無理のない範囲で
・しびれが出たら中止</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「お尻に力を入れる運動です。寝たままできる筋力トレーニングで、お尻と骨盤まわりの筋肉を使います。動きは小さいですが、しっかり効きます。」
【注意点】
・息を止めない
・血圧が高い方は強く力みすぎない
・痛みが出たら中止
・5秒が長ければ3秒からでOK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「お尻上げ運動です。ブリッジ運動とも呼ばれます。お尻と体幹の筋力を保つ運動で、オムツ交換や体位変換が楽になります。」
【注意点】
・お尻を高く上げすぎない
・腰に痛みが出たら中止
・反動を使わない
・呼吸を止めない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「横向きで足を開く運動です。お尻の横の筋肉を使う運動で、歩く時のふらつき予防にとても大切です。」
【注意点】
・反動を使わずゆっくり
・腰に痛みが出たら中止
・無理に高く上げない
・体調が悪い日は無理しない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「寝返り練習です。寝返りはベッドから起き上がる第一歩です。膝を倒す方向に頭と肩も向けると、自然に寝返りができます。」
【注意点】
・反動を使わずゆっくり
・ベッドから落ちないよう注意
・めまいを感じたら中止
・腰や肩に痛みが出たら中止</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手のグーパー運動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584680" y="2297902"/>
            <a:ext cx="2578608" cy="566928"/>
          </a:xfrm>
          <a:prstGeom prst="rect">
            <a:avLst/>
          </a:prstGeom>
          <a:noFill/>
          <a:ln/>
        </p:spPr>
        <p:txBody>
          <a:bodyPr wrap="square" rtlCol="0" anchor="ctr"/>
          <a:lstStyle/>
          <a:p>
            <a:pPr marL="0" indent="0" algn="l">
              <a:buNone/>
            </a:pPr>
            <a:r>
              <a:rPr lang="en-US" sz="2550" b="1" dirty="0">
                <a:solidFill>
                  <a:srgbClr val="FFFFFF"/>
                </a:solidFill>
                <a:latin typeface="Yu Gothic" pitchFamily="34" charset="0"/>
                <a:ea typeface="Yu Gothic" pitchFamily="34" charset="-122"/>
                <a:cs typeface="Yu Gothic" pitchFamily="34" charset="-120"/>
              </a:rPr>
              <a:t>10回 × 2セット</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仰向けに寝て、両手を体の横または胸の上に置きます。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両手を</a:t>
            </a:r>
            <a:r>
              <a:rPr lang="en-US" sz="2100" b="1" dirty="0">
                <a:solidFill>
                  <a:srgbClr val="264A75"/>
                </a:solidFill>
                <a:latin typeface="Yu Gothic" pitchFamily="34" charset="0"/>
                <a:ea typeface="Yu Gothic" pitchFamily="34" charset="-122"/>
                <a:cs typeface="Yu Gothic" pitchFamily="34" charset="-120"/>
              </a:rPr>
              <a:t>しっかり握って</a:t>
            </a:r>
            <a:r>
              <a:rPr lang="en-US" sz="2100" dirty="0">
                <a:solidFill>
                  <a:srgbClr val="111418"/>
                </a:solidFill>
                <a:latin typeface="Yu Gothic" pitchFamily="34" charset="0"/>
                <a:ea typeface="Yu Gothic" pitchFamily="34" charset="-122"/>
                <a:cs typeface="Yu Gothic" pitchFamily="34" charset="-120"/>
              </a:rPr>
              <a:t>「グー」をつくります。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19" y="5146929"/>
            <a:ext cx="7748451"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指を</a:t>
            </a:r>
            <a:r>
              <a:rPr lang="en-US" sz="2100" b="1" dirty="0">
                <a:solidFill>
                  <a:srgbClr val="264A75"/>
                </a:solidFill>
                <a:latin typeface="Yu Gothic" pitchFamily="34" charset="0"/>
                <a:ea typeface="Yu Gothic" pitchFamily="34" charset="-122"/>
                <a:cs typeface="Yu Gothic" pitchFamily="34" charset="-120"/>
              </a:rPr>
              <a:t>大きく開いて</a:t>
            </a:r>
            <a:r>
              <a:rPr lang="en-US" sz="2100" dirty="0">
                <a:solidFill>
                  <a:srgbClr val="111418"/>
                </a:solidFill>
                <a:latin typeface="Yu Gothic" pitchFamily="34" charset="0"/>
                <a:ea typeface="Yu Gothic" pitchFamily="34" charset="-122"/>
                <a:cs typeface="Yu Gothic" pitchFamily="34" charset="-120"/>
              </a:rPr>
              <a:t>「パー」にします。10回くり返しましょう。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7242048"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朝起きる前のウォームアップに最適です。寝たままできて手のこわばりがほぐせます。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指の関節が腫れている時や強い痛みがある時は無理に握らないでください。</a:t>
            </a:r>
            <a:endParaRPr lang="en-US" sz="2100" dirty="0"/>
          </a:p>
        </p:txBody>
      </p:sp>
      <p:pic>
        <p:nvPicPr>
          <p:cNvPr id="48" name="図 47">
            <a:extLst>
              <a:ext uri="{FF2B5EF4-FFF2-40B4-BE49-F238E27FC236}">
                <a16:creationId xmlns:a16="http://schemas.microsoft.com/office/drawing/2014/main" id="{F5F965A8-7BEE-A24A-9BA4-AD6A4423E105}"/>
              </a:ext>
            </a:extLst>
          </p:cNvPr>
          <p:cNvPicPr>
            <a:picLocks noChangeAspect="1"/>
          </p:cNvPicPr>
          <p:nvPr/>
        </p:nvPicPr>
        <p:blipFill rotWithShape="1">
          <a:blip r:embed="rId3"/>
          <a:srcRect l="16071" r="16741" b="23196"/>
          <a:stretch/>
        </p:blipFill>
        <p:spPr>
          <a:xfrm>
            <a:off x="533170" y="2818752"/>
            <a:ext cx="8522096"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手指のこわばりをほぐし、握る力を保ちます。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膝立て運動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l">
              <a:buNone/>
            </a:pPr>
            <a:r>
              <a:rPr lang="en-US" sz="2550" b="1" dirty="0">
                <a:solidFill>
                  <a:srgbClr val="FFFFFF"/>
                </a:solidFill>
                <a:latin typeface="Yu Gothic" pitchFamily="34" charset="0"/>
                <a:ea typeface="Yu Gothic" pitchFamily="34" charset="-122"/>
                <a:cs typeface="Yu Gothic" pitchFamily="34" charset="-120"/>
              </a:rPr>
              <a:t>左右 各10回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仰向けで</a:t>
            </a:r>
            <a:r>
              <a:rPr lang="en-US" sz="2100" b="1" dirty="0">
                <a:solidFill>
                  <a:srgbClr val="264A75"/>
                </a:solidFill>
                <a:latin typeface="Yu Gothic" pitchFamily="34" charset="0"/>
                <a:ea typeface="Yu Gothic" pitchFamily="34" charset="-122"/>
                <a:cs typeface="Yu Gothic" pitchFamily="34" charset="-120"/>
              </a:rPr>
              <a:t>両足を伸ばします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err="1">
                <a:solidFill>
                  <a:srgbClr val="111418"/>
                </a:solidFill>
                <a:latin typeface="Yu Gothic" pitchFamily="34" charset="0"/>
                <a:ea typeface="Yu Gothic" pitchFamily="34" charset="-122"/>
                <a:cs typeface="Yu Gothic" pitchFamily="34" charset="-120"/>
              </a:rPr>
              <a:t>片膝をゆっくり曲げて、足の裏を</a:t>
            </a:r>
            <a:r>
              <a:rPr lang="ja-JP" altLang="en-US" sz="2100">
                <a:solidFill>
                  <a:srgbClr val="111418"/>
                </a:solidFill>
                <a:latin typeface="Yu Gothic" pitchFamily="34" charset="0"/>
                <a:ea typeface="Yu Gothic" pitchFamily="34" charset="-122"/>
                <a:cs typeface="Yu Gothic" pitchFamily="34" charset="-120"/>
              </a:rPr>
              <a:t>太もも</a:t>
            </a:r>
            <a:r>
              <a:rPr lang="en-US" sz="2100" dirty="0" err="1">
                <a:solidFill>
                  <a:srgbClr val="111418"/>
                </a:solidFill>
                <a:latin typeface="Yu Gothic" pitchFamily="34" charset="0"/>
                <a:ea typeface="Yu Gothic" pitchFamily="34" charset="-122"/>
                <a:cs typeface="Yu Gothic" pitchFamily="34" charset="-120"/>
              </a:rPr>
              <a:t>に近づけます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ゆっくり伸ばして</a:t>
            </a:r>
            <a:r>
              <a:rPr lang="en-US" sz="2100" dirty="0">
                <a:solidFill>
                  <a:srgbClr val="111418"/>
                </a:solidFill>
                <a:latin typeface="Yu Gothic" pitchFamily="34" charset="0"/>
                <a:ea typeface="Yu Gothic" pitchFamily="34" charset="-122"/>
                <a:cs typeface="Yu Gothic" pitchFamily="34" charset="-120"/>
              </a:rPr>
              <a:t>元に戻します。左右10回ずつ。</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err="1">
                <a:solidFill>
                  <a:srgbClr val="3D2806"/>
                </a:solidFill>
                <a:latin typeface="Yu Gothic" pitchFamily="34" charset="0"/>
                <a:ea typeface="Yu Gothic" pitchFamily="34" charset="-122"/>
                <a:cs typeface="Yu Gothic" pitchFamily="34" charset="-120"/>
              </a:rPr>
              <a:t>起き上がる前のウォームアップに最適です</a:t>
            </a:r>
            <a:r>
              <a:rPr lang="en-US" sz="2100" dirty="0">
                <a:solidFill>
                  <a:srgbClr val="3D2806"/>
                </a:solidFill>
                <a:latin typeface="Yu Gothic" pitchFamily="34" charset="0"/>
                <a:ea typeface="Yu Gothic" pitchFamily="34" charset="-122"/>
                <a:cs typeface="Yu Gothic" pitchFamily="34" charset="-120"/>
              </a:rPr>
              <a:t>。</a:t>
            </a:r>
          </a:p>
          <a:p>
            <a:pPr marL="0" indent="0" algn="l">
              <a:buNone/>
            </a:pPr>
            <a:r>
              <a:rPr lang="en-US" sz="2100" dirty="0" err="1">
                <a:solidFill>
                  <a:srgbClr val="3D2806"/>
                </a:solidFill>
                <a:latin typeface="Yu Gothic" pitchFamily="34" charset="0"/>
                <a:ea typeface="Yu Gothic" pitchFamily="34" charset="-122"/>
                <a:cs typeface="Yu Gothic" pitchFamily="34" charset="-120"/>
              </a:rPr>
              <a:t>寝起きの体をほぐしましょう</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膝や股関節に強い痛みが出る場合は中止しましょう。</a:t>
            </a:r>
            <a:endParaRPr lang="en-US" sz="2100" dirty="0"/>
          </a:p>
        </p:txBody>
      </p:sp>
      <p:pic>
        <p:nvPicPr>
          <p:cNvPr id="48" name="図 47">
            <a:extLst>
              <a:ext uri="{FF2B5EF4-FFF2-40B4-BE49-F238E27FC236}">
                <a16:creationId xmlns:a16="http://schemas.microsoft.com/office/drawing/2014/main" id="{5AB55415-8EDE-2B43-97EA-ADE18BDEE42A}"/>
              </a:ext>
            </a:extLst>
          </p:cNvPr>
          <p:cNvPicPr>
            <a:picLocks noChangeAspect="1"/>
          </p:cNvPicPr>
          <p:nvPr/>
        </p:nvPicPr>
        <p:blipFill rotWithShape="1">
          <a:blip r:embed="rId3"/>
          <a:srcRect t="8751" b="40230"/>
          <a:stretch/>
        </p:blipFill>
        <p:spPr>
          <a:xfrm>
            <a:off x="486628" y="4036189"/>
            <a:ext cx="8615180" cy="3042154"/>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足を動かす準備運動で、腰や足の動きを整えます。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太もも前の力を入れる運動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398171" y="2313432"/>
            <a:ext cx="3004457" cy="566928"/>
          </a:xfrm>
          <a:prstGeom prst="rect">
            <a:avLst/>
          </a:prstGeom>
          <a:noFill/>
          <a:ln/>
        </p:spPr>
        <p:txBody>
          <a:bodyPr wrap="square" rtlCol="0" anchor="ctr"/>
          <a:lstStyle/>
          <a:p>
            <a:pPr marL="0" indent="0" algn="ctr">
              <a:buNone/>
            </a:pPr>
            <a:r>
              <a:rPr lang="en-US" sz="2000" b="1" dirty="0">
                <a:solidFill>
                  <a:srgbClr val="FFFFFF"/>
                </a:solidFill>
                <a:latin typeface="Yu Gothic" pitchFamily="34" charset="0"/>
                <a:ea typeface="Yu Gothic" pitchFamily="34" charset="-122"/>
                <a:cs typeface="Yu Gothic" pitchFamily="34" charset="-120"/>
              </a:rPr>
              <a:t>5秒 × </a:t>
            </a:r>
            <a:r>
              <a:rPr lang="en-US" sz="2000" b="1" dirty="0" err="1">
                <a:solidFill>
                  <a:srgbClr val="FFFFFF"/>
                </a:solidFill>
                <a:latin typeface="Yu Gothic" pitchFamily="34" charset="0"/>
                <a:ea typeface="Yu Gothic" pitchFamily="34" charset="-122"/>
                <a:cs typeface="Yu Gothic" pitchFamily="34" charset="-120"/>
              </a:rPr>
              <a:t>左右</a:t>
            </a:r>
            <a:r>
              <a:rPr lang="en-US" sz="2000" b="1" dirty="0">
                <a:solidFill>
                  <a:srgbClr val="FFFFFF"/>
                </a:solidFill>
                <a:latin typeface="Yu Gothic" pitchFamily="34" charset="0"/>
                <a:ea typeface="Yu Gothic" pitchFamily="34" charset="-122"/>
                <a:cs typeface="Yu Gothic" pitchFamily="34" charset="-120"/>
              </a:rPr>
              <a:t> 各10回</a:t>
            </a:r>
            <a:endParaRPr lang="en-US" sz="200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仰向けで</a:t>
            </a:r>
            <a:r>
              <a:rPr lang="en-US" sz="2100" b="1" dirty="0">
                <a:solidFill>
                  <a:srgbClr val="264A75"/>
                </a:solidFill>
                <a:latin typeface="Yu Gothic" pitchFamily="34" charset="0"/>
                <a:ea typeface="Yu Gothic" pitchFamily="34" charset="-122"/>
                <a:cs typeface="Yu Gothic" pitchFamily="34" charset="-120"/>
              </a:rPr>
              <a:t>両足を伸ばし</a:t>
            </a:r>
            <a:r>
              <a:rPr lang="en-US" sz="2100" dirty="0">
                <a:solidFill>
                  <a:srgbClr val="111418"/>
                </a:solidFill>
                <a:latin typeface="Yu Gothic" pitchFamily="34" charset="0"/>
                <a:ea typeface="Yu Gothic" pitchFamily="34" charset="-122"/>
                <a:cs typeface="Yu Gothic" pitchFamily="34" charset="-120"/>
              </a:rPr>
              <a:t>、つま先を天井に向けます。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err="1">
                <a:solidFill>
                  <a:srgbClr val="111418"/>
                </a:solidFill>
                <a:latin typeface="Yu Gothic" pitchFamily="34" charset="0"/>
                <a:ea typeface="Yu Gothic" pitchFamily="34" charset="-122"/>
                <a:cs typeface="Yu Gothic" pitchFamily="34" charset="-120"/>
              </a:rPr>
              <a:t>片足の膝の裏でベッドを押すように、太もも前に</a:t>
            </a:r>
            <a:endParaRPr lang="en-US" sz="2100" dirty="0">
              <a:solidFill>
                <a:srgbClr val="111418"/>
              </a:solidFill>
              <a:latin typeface="Yu Gothic" pitchFamily="34" charset="0"/>
              <a:ea typeface="Yu Gothic" pitchFamily="34" charset="-122"/>
              <a:cs typeface="Yu Gothic" pitchFamily="34" charset="-120"/>
            </a:endParaRPr>
          </a:p>
          <a:p>
            <a:pPr marL="0" indent="0" algn="l">
              <a:buNone/>
            </a:pPr>
            <a:r>
              <a:rPr lang="en-US" sz="2100" b="1" dirty="0" err="1">
                <a:solidFill>
                  <a:srgbClr val="264A75"/>
                </a:solidFill>
                <a:latin typeface="Yu Gothic" pitchFamily="34" charset="0"/>
                <a:ea typeface="Yu Gothic" pitchFamily="34" charset="-122"/>
                <a:cs typeface="Yu Gothic" pitchFamily="34" charset="-120"/>
              </a:rPr>
              <a:t>ぎゅっと力を入れます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5秒キープ</a:t>
            </a:r>
            <a:r>
              <a:rPr lang="en-US" sz="2100" dirty="0">
                <a:solidFill>
                  <a:srgbClr val="111418"/>
                </a:solidFill>
                <a:latin typeface="Yu Gothic" pitchFamily="34" charset="0"/>
                <a:ea typeface="Yu Gothic" pitchFamily="34" charset="-122"/>
                <a:cs typeface="Yu Gothic" pitchFamily="34" charset="-120"/>
              </a:rPr>
              <a:t>してゆっくり力を抜きます。左右10回ずつ。</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err="1">
                <a:solidFill>
                  <a:srgbClr val="3D2806"/>
                </a:solidFill>
                <a:latin typeface="Yu Gothic" pitchFamily="34" charset="0"/>
                <a:ea typeface="Yu Gothic" pitchFamily="34" charset="-122"/>
                <a:cs typeface="Yu Gothic" pitchFamily="34" charset="-120"/>
              </a:rPr>
              <a:t>膝のお皿が少し上に動くのを感じられればOKです</a:t>
            </a:r>
            <a:r>
              <a:rPr lang="en-US" sz="2100" dirty="0">
                <a:solidFill>
                  <a:srgbClr val="3D2806"/>
                </a:solidFill>
                <a:latin typeface="Yu Gothic" pitchFamily="34" charset="0"/>
                <a:ea typeface="Yu Gothic" pitchFamily="34" charset="-122"/>
                <a:cs typeface="Yu Gothic" pitchFamily="34" charset="-120"/>
              </a:rPr>
              <a:t>。</a:t>
            </a:r>
          </a:p>
          <a:p>
            <a:pPr marL="0" indent="0" algn="l">
              <a:buNone/>
            </a:pPr>
            <a:r>
              <a:rPr lang="en-US" sz="2100" dirty="0" err="1">
                <a:solidFill>
                  <a:srgbClr val="3D2806"/>
                </a:solidFill>
                <a:latin typeface="Yu Gothic" pitchFamily="34" charset="0"/>
                <a:ea typeface="Yu Gothic" pitchFamily="34" charset="-122"/>
                <a:cs typeface="Yu Gothic" pitchFamily="34" charset="-120"/>
              </a:rPr>
              <a:t>見た目の動きが小さくても、しっかり効いています</a:t>
            </a:r>
            <a:r>
              <a:rPr lang="en-US" sz="2100" dirty="0">
                <a:solidFill>
                  <a:srgbClr val="3D2806"/>
                </a:solidFill>
                <a:latin typeface="Yu Gothic" pitchFamily="34" charset="0"/>
                <a:ea typeface="Yu Gothic" pitchFamily="34" charset="-122"/>
                <a:cs typeface="Yu Gothic" pitchFamily="34" charset="-120"/>
              </a:rPr>
              <a:t>。</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5秒間息を止めず、自然な呼吸を続けましょう。</a:t>
            </a:r>
          </a:p>
          <a:p>
            <a:pPr marL="0" indent="0" algn="l">
              <a:buNone/>
            </a:pPr>
            <a:r>
              <a:rPr lang="en-US" sz="2100" dirty="0" err="1">
                <a:solidFill>
                  <a:srgbClr val="7A2D1D"/>
                </a:solidFill>
                <a:latin typeface="Yu Gothic" pitchFamily="34" charset="0"/>
                <a:ea typeface="Yu Gothic" pitchFamily="34" charset="-122"/>
                <a:cs typeface="Yu Gothic" pitchFamily="34" charset="-120"/>
              </a:rPr>
              <a:t>膝に強い痛みが出たら中止しましょう</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20E2E650-7A76-7B43-A000-C29AD46A4616}"/>
              </a:ext>
            </a:extLst>
          </p:cNvPr>
          <p:cNvPicPr>
            <a:picLocks noChangeAspect="1"/>
          </p:cNvPicPr>
          <p:nvPr/>
        </p:nvPicPr>
        <p:blipFill rotWithShape="1">
          <a:blip r:embed="rId3"/>
          <a:srcRect l="15815" t="5961" r="15232" b="32355"/>
          <a:stretch/>
        </p:blipFill>
        <p:spPr>
          <a:xfrm>
            <a:off x="486628" y="3390797"/>
            <a:ext cx="8615180" cy="4332938"/>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太もも前の力を保ち、立ち上がりや歩行を支えます。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膝倒し運動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l">
              <a:buNone/>
            </a:pPr>
            <a:r>
              <a:rPr lang="en-US" sz="2550" b="1" dirty="0">
                <a:solidFill>
                  <a:srgbClr val="FFFFFF"/>
                </a:solidFill>
                <a:latin typeface="Yu Gothic" pitchFamily="34" charset="0"/>
                <a:ea typeface="Yu Gothic" pitchFamily="34" charset="-122"/>
                <a:cs typeface="Yu Gothic" pitchFamily="34" charset="-120"/>
              </a:rPr>
              <a:t>左右 各10回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仰向けで</a:t>
            </a:r>
            <a:r>
              <a:rPr lang="en-US" sz="2100" b="1" dirty="0">
                <a:solidFill>
                  <a:srgbClr val="264A75"/>
                </a:solidFill>
                <a:latin typeface="Yu Gothic" pitchFamily="34" charset="0"/>
                <a:ea typeface="Yu Gothic" pitchFamily="34" charset="-122"/>
                <a:cs typeface="Yu Gothic" pitchFamily="34" charset="-120"/>
              </a:rPr>
              <a:t>両膝を立てます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両膝を揃えたまま、ゆっくり</a:t>
            </a:r>
            <a:r>
              <a:rPr lang="en-US" sz="2100" b="1" dirty="0">
                <a:solidFill>
                  <a:srgbClr val="264A75"/>
                </a:solidFill>
                <a:latin typeface="Yu Gothic" pitchFamily="34" charset="0"/>
                <a:ea typeface="Yu Gothic" pitchFamily="34" charset="-122"/>
                <a:cs typeface="Yu Gothic" pitchFamily="34" charset="-120"/>
              </a:rPr>
              <a:t>右に倒します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ゆっくり真ん中に戻し、左に倒します。</a:t>
            </a:r>
            <a:r>
              <a:rPr lang="en-US" sz="2100" b="1" dirty="0">
                <a:solidFill>
                  <a:srgbClr val="264A75"/>
                </a:solidFill>
                <a:latin typeface="Yu Gothic" pitchFamily="34" charset="0"/>
                <a:ea typeface="Yu Gothic" pitchFamily="34" charset="-122"/>
                <a:cs typeface="Yu Gothic" pitchFamily="34" charset="-120"/>
              </a:rPr>
              <a:t>左右10回</a:t>
            </a:r>
            <a:r>
              <a:rPr lang="en-US" sz="2100" dirty="0">
                <a:solidFill>
                  <a:srgbClr val="111418"/>
                </a:solidFill>
                <a:latin typeface="Yu Gothic" pitchFamily="34" charset="0"/>
                <a:ea typeface="Yu Gothic" pitchFamily="34" charset="-122"/>
                <a:cs typeface="Yu Gothic" pitchFamily="34" charset="-120"/>
              </a:rPr>
              <a:t>ずつ。</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7242048"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腰のまわりが気持ちよく伸びる感覚を意識して、ゆっくり動かしましょう。</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腰に強い痛みやしびれが出た場合は中止し、倒す角度を小さくしましょう。</a:t>
            </a:r>
            <a:endParaRPr lang="en-US" sz="2100" dirty="0"/>
          </a:p>
        </p:txBody>
      </p:sp>
      <p:pic>
        <p:nvPicPr>
          <p:cNvPr id="48" name="図 47">
            <a:extLst>
              <a:ext uri="{FF2B5EF4-FFF2-40B4-BE49-F238E27FC236}">
                <a16:creationId xmlns:a16="http://schemas.microsoft.com/office/drawing/2014/main" id="{370320D5-B979-4F40-8CF8-87604DF9276B}"/>
              </a:ext>
            </a:extLst>
          </p:cNvPr>
          <p:cNvPicPr>
            <a:picLocks noChangeAspect="1"/>
          </p:cNvPicPr>
          <p:nvPr/>
        </p:nvPicPr>
        <p:blipFill>
          <a:blip r:embed="rId3"/>
          <a:stretch>
            <a:fillRect/>
          </a:stretch>
        </p:blipFill>
        <p:spPr>
          <a:xfrm>
            <a:off x="618493" y="2818752"/>
            <a:ext cx="8351450"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腰まわりをやわらかく保ち、寝返りを楽にします。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お尻に力を入れる運動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l">
              <a:buNone/>
            </a:pPr>
            <a:r>
              <a:rPr lang="en-US" sz="2550" b="1" dirty="0">
                <a:solidFill>
                  <a:srgbClr val="FFFFFF"/>
                </a:solidFill>
                <a:latin typeface="Yu Gothic" pitchFamily="34" charset="0"/>
                <a:ea typeface="Yu Gothic" pitchFamily="34" charset="-122"/>
                <a:cs typeface="Yu Gothic" pitchFamily="34" charset="-120"/>
              </a:rPr>
              <a:t>5秒 × 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仰向けで</a:t>
            </a:r>
            <a:r>
              <a:rPr lang="en-US" sz="2100" b="1" dirty="0">
                <a:solidFill>
                  <a:srgbClr val="264A75"/>
                </a:solidFill>
                <a:latin typeface="Yu Gothic" pitchFamily="34" charset="0"/>
                <a:ea typeface="Yu Gothic" pitchFamily="34" charset="-122"/>
                <a:cs typeface="Yu Gothic" pitchFamily="34" charset="-120"/>
              </a:rPr>
              <a:t>両足を伸ばします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お尻にぎゅっと力を入れて</a:t>
            </a:r>
            <a:r>
              <a:rPr lang="en-US" sz="2100" b="1" dirty="0">
                <a:solidFill>
                  <a:srgbClr val="264A75"/>
                </a:solidFill>
                <a:latin typeface="Yu Gothic" pitchFamily="34" charset="0"/>
                <a:ea typeface="Yu Gothic" pitchFamily="34" charset="-122"/>
                <a:cs typeface="Yu Gothic" pitchFamily="34" charset="-120"/>
              </a:rPr>
              <a:t>5秒キープ</a:t>
            </a:r>
            <a:r>
              <a:rPr lang="en-US" sz="2100" dirty="0">
                <a:solidFill>
                  <a:srgbClr val="111418"/>
                </a:solidFill>
                <a:latin typeface="Yu Gothic" pitchFamily="34" charset="0"/>
                <a:ea typeface="Yu Gothic" pitchFamily="34" charset="-122"/>
                <a:cs typeface="Yu Gothic" pitchFamily="34" charset="-120"/>
              </a:rPr>
              <a:t>します。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ゆっくり力を抜きます</a:t>
            </a:r>
            <a:r>
              <a:rPr lang="en-US" sz="2100" dirty="0">
                <a:solidFill>
                  <a:srgbClr val="111418"/>
                </a:solidFill>
                <a:latin typeface="Yu Gothic" pitchFamily="34" charset="0"/>
                <a:ea typeface="Yu Gothic" pitchFamily="34" charset="-122"/>
                <a:cs typeface="Yu Gothic" pitchFamily="34" charset="-120"/>
              </a:rPr>
              <a:t>。10回くり返しましょう。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見た目はあまり動きませんが、お尻の筋肉がしっかり使えていればOKです。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5秒間息を止めず、自然な呼吸を続けましょう。</a:t>
            </a:r>
          </a:p>
          <a:p>
            <a:pPr marL="0" indent="0" algn="l">
              <a:buNone/>
            </a:pPr>
            <a:r>
              <a:rPr lang="en-US" sz="2100" dirty="0" err="1">
                <a:solidFill>
                  <a:srgbClr val="7A2D1D"/>
                </a:solidFill>
                <a:latin typeface="Yu Gothic" pitchFamily="34" charset="0"/>
                <a:ea typeface="Yu Gothic" pitchFamily="34" charset="-122"/>
                <a:cs typeface="Yu Gothic" pitchFamily="34" charset="-120"/>
              </a:rPr>
              <a:t>血圧が高い方は無理しないでください</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F742F262-1AF0-484B-9E29-61F65FACF1D2}"/>
              </a:ext>
            </a:extLst>
          </p:cNvPr>
          <p:cNvPicPr>
            <a:picLocks noChangeAspect="1"/>
          </p:cNvPicPr>
          <p:nvPr/>
        </p:nvPicPr>
        <p:blipFill rotWithShape="1">
          <a:blip r:embed="rId3"/>
          <a:srcRect l="14415" r="15734" b="30479"/>
          <a:stretch/>
        </p:blipFill>
        <p:spPr>
          <a:xfrm>
            <a:off x="618493" y="2818752"/>
            <a:ext cx="8351450"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お尻の筋肉を保ち、立つ・歩く動作を支えます。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お尻上げ運動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5〜10回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仰向けで</a:t>
            </a:r>
            <a:r>
              <a:rPr lang="en-US" sz="2100" b="1" dirty="0">
                <a:solidFill>
                  <a:srgbClr val="264A75"/>
                </a:solidFill>
                <a:latin typeface="Yu Gothic" pitchFamily="34" charset="0"/>
                <a:ea typeface="Yu Gothic" pitchFamily="34" charset="-122"/>
                <a:cs typeface="Yu Gothic" pitchFamily="34" charset="-120"/>
              </a:rPr>
              <a:t>両膝を立てます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err="1">
                <a:solidFill>
                  <a:srgbClr val="111418"/>
                </a:solidFill>
                <a:latin typeface="Yu Gothic" pitchFamily="34" charset="0"/>
                <a:ea typeface="Yu Gothic" pitchFamily="34" charset="-122"/>
                <a:cs typeface="Yu Gothic" pitchFamily="34" charset="-120"/>
              </a:rPr>
              <a:t>お尻を</a:t>
            </a:r>
            <a:r>
              <a:rPr lang="en-US" sz="2100" b="1" dirty="0" err="1">
                <a:solidFill>
                  <a:srgbClr val="264A75"/>
                </a:solidFill>
                <a:latin typeface="Yu Gothic" pitchFamily="34" charset="0"/>
                <a:ea typeface="Yu Gothic" pitchFamily="34" charset="-122"/>
                <a:cs typeface="Yu Gothic" pitchFamily="34" charset="-120"/>
              </a:rPr>
              <a:t>ゆっくり持ち上げ</a:t>
            </a:r>
            <a:r>
              <a:rPr lang="en-US" sz="2100" dirty="0" err="1">
                <a:solidFill>
                  <a:srgbClr val="111418"/>
                </a:solidFill>
                <a:latin typeface="Yu Gothic" pitchFamily="34" charset="0"/>
                <a:ea typeface="Yu Gothic" pitchFamily="34" charset="-122"/>
                <a:cs typeface="Yu Gothic" pitchFamily="34" charset="-120"/>
              </a:rPr>
              <a:t>、肩から膝までが一直線になる</a:t>
            </a:r>
            <a:endParaRPr lang="en-US" sz="2100" dirty="0">
              <a:solidFill>
                <a:srgbClr val="111418"/>
              </a:solidFill>
              <a:latin typeface="Yu Gothic" pitchFamily="34" charset="0"/>
              <a:ea typeface="Yu Gothic" pitchFamily="34" charset="-122"/>
              <a:cs typeface="Yu Gothic" pitchFamily="34" charset="-120"/>
            </a:endParaRPr>
          </a:p>
          <a:p>
            <a:pPr marL="0" indent="0" algn="l">
              <a:buNone/>
            </a:pPr>
            <a:r>
              <a:rPr lang="en-US" sz="2100" dirty="0" err="1">
                <a:solidFill>
                  <a:srgbClr val="111418"/>
                </a:solidFill>
                <a:latin typeface="Yu Gothic" pitchFamily="34" charset="0"/>
                <a:ea typeface="Yu Gothic" pitchFamily="34" charset="-122"/>
                <a:cs typeface="Yu Gothic" pitchFamily="34" charset="-120"/>
              </a:rPr>
              <a:t>ところで止めます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20" y="5146929"/>
            <a:ext cx="7141464"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ゆっくり下ろします</a:t>
            </a:r>
            <a:r>
              <a:rPr lang="en-US" sz="2100" dirty="0">
                <a:solidFill>
                  <a:srgbClr val="111418"/>
                </a:solidFill>
                <a:latin typeface="Yu Gothic" pitchFamily="34" charset="0"/>
                <a:ea typeface="Yu Gothic" pitchFamily="34" charset="-122"/>
                <a:cs typeface="Yu Gothic" pitchFamily="34" charset="-120"/>
              </a:rPr>
              <a:t>。5〜10回くり返しましょう。</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オムツ交換や体位変換が楽になる、生活に直結する運動です。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7004304" cy="896112"/>
          </a:xfrm>
          <a:prstGeom prst="rect">
            <a:avLst/>
          </a:prstGeom>
          <a:noFill/>
          <a:ln/>
        </p:spPr>
        <p:txBody>
          <a:bodyPr wrap="square" rtlCol="0" anchor="ctr"/>
          <a:lstStyle/>
          <a:p>
            <a:pPr marL="0" indent="0" algn="l">
              <a:buNone/>
            </a:pPr>
            <a:r>
              <a:rPr lang="en-US" sz="2100" dirty="0" err="1">
                <a:solidFill>
                  <a:srgbClr val="7A2D1D"/>
                </a:solidFill>
                <a:latin typeface="Yu Gothic" pitchFamily="34" charset="0"/>
                <a:ea typeface="Yu Gothic" pitchFamily="34" charset="-122"/>
                <a:cs typeface="Yu Gothic" pitchFamily="34" charset="-120"/>
              </a:rPr>
              <a:t>腰に強い痛みが出る場合は中止しましょう</a:t>
            </a:r>
            <a:r>
              <a:rPr lang="en-US" sz="2100" dirty="0">
                <a:solidFill>
                  <a:srgbClr val="7A2D1D"/>
                </a:solidFill>
                <a:latin typeface="Yu Gothic" pitchFamily="34" charset="0"/>
                <a:ea typeface="Yu Gothic" pitchFamily="34" charset="-122"/>
                <a:cs typeface="Yu Gothic" pitchFamily="34" charset="-120"/>
              </a:rPr>
              <a:t>。</a:t>
            </a:r>
          </a:p>
          <a:p>
            <a:pPr marL="0" indent="0" algn="l">
              <a:buNone/>
            </a:pPr>
            <a:r>
              <a:rPr lang="en-US" sz="2100" dirty="0" err="1">
                <a:solidFill>
                  <a:srgbClr val="7A2D1D"/>
                </a:solidFill>
                <a:latin typeface="Yu Gothic" pitchFamily="34" charset="0"/>
                <a:ea typeface="Yu Gothic" pitchFamily="34" charset="-122"/>
                <a:cs typeface="Yu Gothic" pitchFamily="34" charset="-120"/>
              </a:rPr>
              <a:t>お尻を高く上げすぎないでください</a:t>
            </a:r>
            <a:r>
              <a:rPr lang="en-US" sz="2100" dirty="0">
                <a:solidFill>
                  <a:srgbClr val="7A2D1D"/>
                </a:solidFill>
                <a:latin typeface="Yu Gothic" pitchFamily="34" charset="0"/>
                <a:ea typeface="Yu Gothic" pitchFamily="34" charset="-122"/>
                <a:cs typeface="Yu Gothic" pitchFamily="34" charset="-120"/>
              </a:rPr>
              <a:t>。</a:t>
            </a:r>
            <a:endParaRPr lang="en-US" sz="2100" dirty="0"/>
          </a:p>
        </p:txBody>
      </p:sp>
      <p:pic>
        <p:nvPicPr>
          <p:cNvPr id="48" name="図 47">
            <a:extLst>
              <a:ext uri="{FF2B5EF4-FFF2-40B4-BE49-F238E27FC236}">
                <a16:creationId xmlns:a16="http://schemas.microsoft.com/office/drawing/2014/main" id="{59D5C134-F8AD-F442-AA73-AECD52788D6D}"/>
              </a:ext>
            </a:extLst>
          </p:cNvPr>
          <p:cNvPicPr>
            <a:picLocks noChangeAspect="1"/>
          </p:cNvPicPr>
          <p:nvPr/>
        </p:nvPicPr>
        <p:blipFill>
          <a:blip r:embed="rId3"/>
          <a:stretch>
            <a:fillRect/>
          </a:stretch>
        </p:blipFill>
        <p:spPr>
          <a:xfrm>
            <a:off x="618493" y="2818752"/>
            <a:ext cx="8351450"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お尻と腰の力を高め、立ち上がりや歩行を支えます。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横向きで足を開く運動</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左右 各10回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横向きに寝て</a:t>
            </a:r>
            <a:r>
              <a:rPr lang="en-US" sz="2100" dirty="0">
                <a:solidFill>
                  <a:srgbClr val="111418"/>
                </a:solidFill>
                <a:latin typeface="Yu Gothic" pitchFamily="34" charset="0"/>
                <a:ea typeface="Yu Gothic" pitchFamily="34" charset="-122"/>
                <a:cs typeface="Yu Gothic" pitchFamily="34" charset="-120"/>
              </a:rPr>
              <a:t>、下の腕を頭の下に置きます。</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上の足をゆっくり持ち上げます。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19" y="5146929"/>
            <a:ext cx="7298509" cy="822960"/>
          </a:xfrm>
          <a:prstGeom prst="rect">
            <a:avLst/>
          </a:prstGeom>
          <a:noFill/>
          <a:ln/>
        </p:spPr>
        <p:txBody>
          <a:bodyPr wrap="square" rtlCol="0" anchor="ctr"/>
          <a:lstStyle/>
          <a:p>
            <a:pPr marL="0" indent="0" algn="l">
              <a:buNone/>
            </a:pPr>
            <a:r>
              <a:rPr lang="en-US" sz="2100" b="1" dirty="0">
                <a:solidFill>
                  <a:srgbClr val="264A75"/>
                </a:solidFill>
                <a:latin typeface="Yu Gothic" pitchFamily="34" charset="0"/>
                <a:ea typeface="Yu Gothic" pitchFamily="34" charset="-122"/>
                <a:cs typeface="Yu Gothic" pitchFamily="34" charset="-120"/>
              </a:rPr>
              <a:t>ゆっくり下ろします</a:t>
            </a:r>
            <a:r>
              <a:rPr lang="en-US" sz="2100" dirty="0">
                <a:solidFill>
                  <a:srgbClr val="111418"/>
                </a:solidFill>
                <a:latin typeface="Yu Gothic" pitchFamily="34" charset="0"/>
                <a:ea typeface="Yu Gothic" pitchFamily="34" charset="-122"/>
                <a:cs typeface="Yu Gothic" pitchFamily="34" charset="-120"/>
              </a:rPr>
              <a:t>。10回行ったら反対側も同じように。</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7197924" cy="896112"/>
          </a:xfrm>
          <a:prstGeom prst="rect">
            <a:avLst/>
          </a:prstGeom>
          <a:noFill/>
          <a:ln/>
        </p:spPr>
        <p:txBody>
          <a:bodyPr wrap="square" rtlCol="0" anchor="ctr"/>
          <a:lstStyle/>
          <a:p>
            <a:pPr marL="0" indent="0" algn="l">
              <a:buNone/>
            </a:pPr>
            <a:r>
              <a:rPr lang="en-US" sz="2100" dirty="0">
                <a:solidFill>
                  <a:srgbClr val="3D2806"/>
                </a:solidFill>
                <a:latin typeface="Yu Gothic" pitchFamily="34" charset="0"/>
                <a:ea typeface="Yu Gothic" pitchFamily="34" charset="-122"/>
                <a:cs typeface="Yu Gothic" pitchFamily="34" charset="-120"/>
              </a:rPr>
              <a:t>お尻の横の筋肉は歩行のふらつき予防に大切な筋肉です。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6821424"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腰や股関節に強い痛みが出る場合は中止しましょう。</a:t>
            </a:r>
            <a:endParaRPr lang="en-US" sz="2100" dirty="0"/>
          </a:p>
        </p:txBody>
      </p:sp>
      <p:pic>
        <p:nvPicPr>
          <p:cNvPr id="48" name="図 47">
            <a:extLst>
              <a:ext uri="{FF2B5EF4-FFF2-40B4-BE49-F238E27FC236}">
                <a16:creationId xmlns:a16="http://schemas.microsoft.com/office/drawing/2014/main" id="{68CA84E9-53C9-6A45-8F0D-920B28B63393}"/>
              </a:ext>
            </a:extLst>
          </p:cNvPr>
          <p:cNvPicPr>
            <a:picLocks noChangeAspect="1"/>
          </p:cNvPicPr>
          <p:nvPr/>
        </p:nvPicPr>
        <p:blipFill>
          <a:blip r:embed="rId3"/>
          <a:stretch>
            <a:fillRect/>
          </a:stretch>
        </p:blipFill>
        <p:spPr>
          <a:xfrm>
            <a:off x="618493" y="2818752"/>
            <a:ext cx="8351450" cy="5477027"/>
          </a:xfrm>
          <a:prstGeom prst="rect">
            <a:avLst/>
          </a:prstGeom>
        </p:spPr>
      </p:pic>
      <p:sp>
        <p:nvSpPr>
          <p:cNvPr id="47" name="左右矢印 46">
            <a:extLst>
              <a:ext uri="{FF2B5EF4-FFF2-40B4-BE49-F238E27FC236}">
                <a16:creationId xmlns:a16="http://schemas.microsoft.com/office/drawing/2014/main" id="{42FE845C-EE13-564C-B3F8-80D318A24A18}"/>
              </a:ext>
            </a:extLst>
          </p:cNvPr>
          <p:cNvSpPr/>
          <p:nvPr/>
        </p:nvSpPr>
        <p:spPr>
          <a:xfrm>
            <a:off x="4233197" y="3867317"/>
            <a:ext cx="1122041" cy="638983"/>
          </a:xfrm>
          <a:prstGeom prst="lef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お尻の横の筋肉を鍛え、歩行を安定させます。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1051560" y="1687068"/>
            <a:ext cx="16194024" cy="0"/>
          </a:xfrm>
          <a:prstGeom prst="line">
            <a:avLst/>
          </a:prstGeom>
          <a:noFill/>
          <a:ln w="12700">
            <a:solidFill>
              <a:srgbClr val="111418"/>
            </a:solidFill>
            <a:prstDash val="solid"/>
          </a:ln>
        </p:spPr>
        <p:txBody>
          <a:bodyPr/>
          <a:lstStyle/>
          <a:p>
            <a:endParaRPr/>
          </a:p>
        </p:txBody>
      </p:sp>
      <p:sp>
        <p:nvSpPr>
          <p:cNvPr id="10" name="Text 8"/>
          <p:cNvSpPr/>
          <p:nvPr/>
        </p:nvSpPr>
        <p:spPr>
          <a:xfrm>
            <a:off x="1638603" y="727023"/>
            <a:ext cx="10058400" cy="868680"/>
          </a:xfrm>
          <a:prstGeom prst="rect">
            <a:avLst/>
          </a:prstGeom>
          <a:noFill/>
          <a:ln/>
        </p:spPr>
        <p:txBody>
          <a:bodyPr wrap="square" rtlCol="0" anchor="ctr"/>
          <a:lstStyle/>
          <a:p>
            <a:pPr marL="0" indent="0" algn="l">
              <a:buNone/>
            </a:pPr>
            <a:r>
              <a:rPr lang="en-US" sz="4500" b="1" dirty="0">
                <a:solidFill>
                  <a:srgbClr val="111418"/>
                </a:solidFill>
                <a:latin typeface="Yu Gothic" pitchFamily="34" charset="0"/>
                <a:ea typeface="Yu Gothic" pitchFamily="34" charset="-122"/>
                <a:cs typeface="Yu Gothic" pitchFamily="34" charset="-120"/>
              </a:rPr>
              <a:t>寝返り練習</a:t>
            </a:r>
            <a:endParaRPr lang="en-US" sz="4500" dirty="0"/>
          </a:p>
        </p:txBody>
      </p:sp>
      <p:sp>
        <p:nvSpPr>
          <p:cNvPr id="17" name="Shape 15"/>
          <p:cNvSpPr/>
          <p:nvPr/>
        </p:nvSpPr>
        <p:spPr>
          <a:xfrm>
            <a:off x="14502384" y="1810512"/>
            <a:ext cx="2743200" cy="1152144"/>
          </a:xfrm>
          <a:prstGeom prst="rect">
            <a:avLst/>
          </a:prstGeom>
          <a:solidFill>
            <a:srgbClr val="111418"/>
          </a:solidFill>
          <a:ln/>
        </p:spPr>
        <p:txBody>
          <a:bodyPr/>
          <a:lstStyle/>
          <a:p>
            <a:endParaRPr/>
          </a:p>
        </p:txBody>
      </p:sp>
      <p:sp>
        <p:nvSpPr>
          <p:cNvPr id="18" name="Text 16"/>
          <p:cNvSpPr/>
          <p:nvPr/>
        </p:nvSpPr>
        <p:spPr>
          <a:xfrm>
            <a:off x="14666976" y="1938528"/>
            <a:ext cx="2414016" cy="365760"/>
          </a:xfrm>
          <a:prstGeom prst="rect">
            <a:avLst/>
          </a:prstGeom>
          <a:noFill/>
          <a:ln/>
        </p:spPr>
        <p:txBody>
          <a:bodyPr wrap="square" rtlCol="0" anchor="ctr"/>
          <a:lstStyle/>
          <a:p>
            <a:pPr marL="0" indent="0" algn="l">
              <a:buNone/>
            </a:pPr>
            <a:r>
              <a:rPr lang="en-US" sz="1950" dirty="0">
                <a:solidFill>
                  <a:srgbClr val="6B7480"/>
                </a:solidFill>
                <a:latin typeface="Georgia" pitchFamily="34" charset="0"/>
                <a:ea typeface="Georgia" pitchFamily="34" charset="-122"/>
                <a:cs typeface="Georgia" pitchFamily="34" charset="-120"/>
              </a:rPr>
              <a:t>回数</a:t>
            </a:r>
            <a:endParaRPr lang="en-US" sz="1950" dirty="0"/>
          </a:p>
        </p:txBody>
      </p:sp>
      <p:sp>
        <p:nvSpPr>
          <p:cNvPr id="19" name="Text 17"/>
          <p:cNvSpPr/>
          <p:nvPr/>
        </p:nvSpPr>
        <p:spPr>
          <a:xfrm>
            <a:off x="14666976" y="2313432"/>
            <a:ext cx="2414016" cy="566928"/>
          </a:xfrm>
          <a:prstGeom prst="rect">
            <a:avLst/>
          </a:prstGeom>
          <a:noFill/>
          <a:ln/>
        </p:spPr>
        <p:txBody>
          <a:bodyPr wrap="square" rtlCol="0" anchor="ctr"/>
          <a:lstStyle/>
          <a:p>
            <a:pPr marL="0" indent="0" algn="ctr">
              <a:buNone/>
            </a:pPr>
            <a:r>
              <a:rPr lang="en-US" sz="2550" b="1" dirty="0">
                <a:solidFill>
                  <a:srgbClr val="FFFFFF"/>
                </a:solidFill>
                <a:latin typeface="Yu Gothic" pitchFamily="34" charset="0"/>
                <a:ea typeface="Yu Gothic" pitchFamily="34" charset="-122"/>
                <a:cs typeface="Yu Gothic" pitchFamily="34" charset="-120"/>
              </a:rPr>
              <a:t>左右 各5回</a:t>
            </a:r>
            <a:endParaRPr lang="en-US" sz="2550" dirty="0"/>
          </a:p>
        </p:txBody>
      </p:sp>
      <p:sp>
        <p:nvSpPr>
          <p:cNvPr id="20" name="Shape 18"/>
          <p:cNvSpPr/>
          <p:nvPr/>
        </p:nvSpPr>
        <p:spPr>
          <a:xfrm>
            <a:off x="398718" y="2674620"/>
            <a:ext cx="8791001" cy="5765292"/>
          </a:xfrm>
          <a:prstGeom prst="roundRect">
            <a:avLst>
              <a:gd name="adj" fmla="val 2927"/>
            </a:avLst>
          </a:prstGeom>
          <a:solidFill>
            <a:srgbClr val="EAF1F9"/>
          </a:solidFill>
          <a:ln/>
        </p:spPr>
        <p:txBody>
          <a:bodyPr/>
          <a:lstStyle/>
          <a:p>
            <a:endParaRPr/>
          </a:p>
        </p:txBody>
      </p:sp>
      <p:sp>
        <p:nvSpPr>
          <p:cNvPr id="22" name="Text 20"/>
          <p:cNvSpPr/>
          <p:nvPr/>
        </p:nvSpPr>
        <p:spPr>
          <a:xfrm>
            <a:off x="9418320" y="2678049"/>
            <a:ext cx="7827264" cy="365760"/>
          </a:xfrm>
          <a:prstGeom prst="rect">
            <a:avLst/>
          </a:prstGeom>
          <a:noFill/>
          <a:ln/>
        </p:spPr>
        <p:txBody>
          <a:bodyPr wrap="square" rtlCol="0" anchor="ctr"/>
          <a:lstStyle/>
          <a:p>
            <a:pPr marL="0" indent="0" algn="l">
              <a:buNone/>
            </a:pPr>
            <a:r>
              <a:rPr lang="en-US" sz="2100" dirty="0">
                <a:solidFill>
                  <a:srgbClr val="6B7480"/>
                </a:solidFill>
                <a:latin typeface="Yu Gothic" pitchFamily="34" charset="0"/>
                <a:ea typeface="Georgia" pitchFamily="34" charset="-122"/>
                <a:cs typeface="Georgia" pitchFamily="34" charset="-120"/>
              </a:rPr>
              <a:t>手順</a:t>
            </a:r>
            <a:endParaRPr lang="en-US" sz="2100" dirty="0"/>
          </a:p>
        </p:txBody>
      </p:sp>
      <p:sp>
        <p:nvSpPr>
          <p:cNvPr id="23" name="Shape 21"/>
          <p:cNvSpPr/>
          <p:nvPr/>
        </p:nvSpPr>
        <p:spPr>
          <a:xfrm>
            <a:off x="9418320" y="3345561"/>
            <a:ext cx="457200" cy="457200"/>
          </a:xfrm>
          <a:prstGeom prst="ellipse">
            <a:avLst/>
          </a:prstGeom>
          <a:solidFill>
            <a:srgbClr val="3B6EA8"/>
          </a:solidFill>
          <a:ln/>
        </p:spPr>
        <p:txBody>
          <a:bodyPr/>
          <a:lstStyle/>
          <a:p>
            <a:endParaRPr/>
          </a:p>
        </p:txBody>
      </p:sp>
      <p:sp>
        <p:nvSpPr>
          <p:cNvPr id="24" name="Text 22"/>
          <p:cNvSpPr/>
          <p:nvPr/>
        </p:nvSpPr>
        <p:spPr>
          <a:xfrm>
            <a:off x="9418320" y="334556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1</a:t>
            </a:r>
            <a:endParaRPr lang="en-US" sz="2100" dirty="0"/>
          </a:p>
        </p:txBody>
      </p:sp>
      <p:sp>
        <p:nvSpPr>
          <p:cNvPr id="25" name="Text 23"/>
          <p:cNvSpPr/>
          <p:nvPr/>
        </p:nvSpPr>
        <p:spPr>
          <a:xfrm>
            <a:off x="10104120" y="3226689"/>
            <a:ext cx="7141464"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仰向けで</a:t>
            </a:r>
            <a:r>
              <a:rPr lang="en-US" sz="2100" b="1" dirty="0">
                <a:solidFill>
                  <a:srgbClr val="264A75"/>
                </a:solidFill>
                <a:latin typeface="Yu Gothic" pitchFamily="34" charset="0"/>
                <a:ea typeface="Yu Gothic" pitchFamily="34" charset="-122"/>
                <a:cs typeface="Yu Gothic" pitchFamily="34" charset="-120"/>
              </a:rPr>
              <a:t>両膝を立てます</a:t>
            </a:r>
            <a:r>
              <a:rPr lang="en-US" sz="2100" dirty="0">
                <a:solidFill>
                  <a:srgbClr val="111418"/>
                </a:solidFill>
                <a:latin typeface="Yu Gothic" pitchFamily="34" charset="0"/>
                <a:ea typeface="Yu Gothic" pitchFamily="34" charset="-122"/>
                <a:cs typeface="Yu Gothic" pitchFamily="34" charset="-120"/>
              </a:rPr>
              <a:t>。</a:t>
            </a:r>
            <a:endParaRPr lang="en-US" sz="2100" dirty="0"/>
          </a:p>
        </p:txBody>
      </p:sp>
      <p:sp>
        <p:nvSpPr>
          <p:cNvPr id="26" name="Shape 24"/>
          <p:cNvSpPr/>
          <p:nvPr/>
        </p:nvSpPr>
        <p:spPr>
          <a:xfrm>
            <a:off x="9418320" y="4122801"/>
            <a:ext cx="7827264" cy="0"/>
          </a:xfrm>
          <a:prstGeom prst="line">
            <a:avLst/>
          </a:prstGeom>
          <a:noFill/>
          <a:ln w="12700">
            <a:solidFill>
              <a:srgbClr val="E3E6EA"/>
            </a:solidFill>
            <a:prstDash val="solid"/>
          </a:ln>
        </p:spPr>
        <p:txBody>
          <a:bodyPr/>
          <a:lstStyle/>
          <a:p>
            <a:endParaRPr/>
          </a:p>
        </p:txBody>
      </p:sp>
      <p:sp>
        <p:nvSpPr>
          <p:cNvPr id="27" name="Shape 25"/>
          <p:cNvSpPr/>
          <p:nvPr/>
        </p:nvSpPr>
        <p:spPr>
          <a:xfrm>
            <a:off x="9418320" y="4305681"/>
            <a:ext cx="457200" cy="457200"/>
          </a:xfrm>
          <a:prstGeom prst="ellipse">
            <a:avLst/>
          </a:prstGeom>
          <a:solidFill>
            <a:srgbClr val="3B6EA8"/>
          </a:solidFill>
          <a:ln/>
        </p:spPr>
        <p:txBody>
          <a:bodyPr/>
          <a:lstStyle/>
          <a:p>
            <a:endParaRPr/>
          </a:p>
        </p:txBody>
      </p:sp>
      <p:sp>
        <p:nvSpPr>
          <p:cNvPr id="28" name="Text 26"/>
          <p:cNvSpPr/>
          <p:nvPr/>
        </p:nvSpPr>
        <p:spPr>
          <a:xfrm>
            <a:off x="9418320" y="430568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2</a:t>
            </a:r>
            <a:endParaRPr lang="en-US" sz="2100" dirty="0"/>
          </a:p>
        </p:txBody>
      </p:sp>
      <p:sp>
        <p:nvSpPr>
          <p:cNvPr id="29" name="Text 27"/>
          <p:cNvSpPr/>
          <p:nvPr/>
        </p:nvSpPr>
        <p:spPr>
          <a:xfrm>
            <a:off x="10104120" y="4186809"/>
            <a:ext cx="7472680"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両膝を倒したい方向に倒し、頭と肩も</a:t>
            </a:r>
            <a:r>
              <a:rPr lang="en-US" sz="2100" b="1" dirty="0">
                <a:solidFill>
                  <a:srgbClr val="264A75"/>
                </a:solidFill>
                <a:latin typeface="Yu Gothic" pitchFamily="34" charset="0"/>
                <a:ea typeface="Yu Gothic" pitchFamily="34" charset="-122"/>
                <a:cs typeface="Yu Gothic" pitchFamily="34" charset="-120"/>
              </a:rPr>
              <a:t>同じ方向に</a:t>
            </a:r>
            <a:r>
              <a:rPr lang="en-US" sz="2100" dirty="0">
                <a:solidFill>
                  <a:srgbClr val="111418"/>
                </a:solidFill>
                <a:latin typeface="Yu Gothic" pitchFamily="34" charset="0"/>
                <a:ea typeface="Yu Gothic" pitchFamily="34" charset="-122"/>
                <a:cs typeface="Yu Gothic" pitchFamily="34" charset="-120"/>
              </a:rPr>
              <a:t>向けます。</a:t>
            </a:r>
            <a:endParaRPr lang="en-US" sz="2100" dirty="0"/>
          </a:p>
        </p:txBody>
      </p:sp>
      <p:sp>
        <p:nvSpPr>
          <p:cNvPr id="30" name="Shape 28"/>
          <p:cNvSpPr/>
          <p:nvPr/>
        </p:nvSpPr>
        <p:spPr>
          <a:xfrm>
            <a:off x="9418320" y="5082921"/>
            <a:ext cx="7827264" cy="0"/>
          </a:xfrm>
          <a:prstGeom prst="line">
            <a:avLst/>
          </a:prstGeom>
          <a:noFill/>
          <a:ln w="12700">
            <a:solidFill>
              <a:srgbClr val="E3E6EA"/>
            </a:solidFill>
            <a:prstDash val="solid"/>
          </a:ln>
        </p:spPr>
        <p:txBody>
          <a:bodyPr/>
          <a:lstStyle/>
          <a:p>
            <a:endParaRPr/>
          </a:p>
        </p:txBody>
      </p:sp>
      <p:sp>
        <p:nvSpPr>
          <p:cNvPr id="31" name="Shape 29"/>
          <p:cNvSpPr/>
          <p:nvPr/>
        </p:nvSpPr>
        <p:spPr>
          <a:xfrm>
            <a:off x="9418320" y="5265801"/>
            <a:ext cx="457200" cy="457200"/>
          </a:xfrm>
          <a:prstGeom prst="ellipse">
            <a:avLst/>
          </a:prstGeom>
          <a:solidFill>
            <a:srgbClr val="3B6EA8"/>
          </a:solidFill>
          <a:ln/>
        </p:spPr>
        <p:txBody>
          <a:bodyPr/>
          <a:lstStyle/>
          <a:p>
            <a:endParaRPr/>
          </a:p>
        </p:txBody>
      </p:sp>
      <p:sp>
        <p:nvSpPr>
          <p:cNvPr id="32" name="Text 30"/>
          <p:cNvSpPr/>
          <p:nvPr/>
        </p:nvSpPr>
        <p:spPr>
          <a:xfrm>
            <a:off x="9418320" y="5265801"/>
            <a:ext cx="457200" cy="457200"/>
          </a:xfrm>
          <a:prstGeom prst="rect">
            <a:avLst/>
          </a:prstGeom>
          <a:noFill/>
          <a:ln/>
        </p:spPr>
        <p:txBody>
          <a:bodyPr wrap="square"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3</a:t>
            </a:r>
            <a:endParaRPr lang="en-US" sz="2100" dirty="0"/>
          </a:p>
        </p:txBody>
      </p:sp>
      <p:sp>
        <p:nvSpPr>
          <p:cNvPr id="33" name="Text 31"/>
          <p:cNvSpPr/>
          <p:nvPr/>
        </p:nvSpPr>
        <p:spPr>
          <a:xfrm>
            <a:off x="10104119" y="5146929"/>
            <a:ext cx="7821023" cy="822960"/>
          </a:xfrm>
          <a:prstGeom prst="rect">
            <a:avLst/>
          </a:prstGeom>
          <a:noFill/>
          <a:ln/>
        </p:spPr>
        <p:txBody>
          <a:bodyPr wrap="square" rtlCol="0" anchor="ctr"/>
          <a:lstStyle/>
          <a:p>
            <a:pPr marL="0" indent="0" algn="l">
              <a:buNone/>
            </a:pPr>
            <a:r>
              <a:rPr lang="en-US" sz="2100" dirty="0">
                <a:solidFill>
                  <a:srgbClr val="111418"/>
                </a:solidFill>
                <a:latin typeface="Yu Gothic" pitchFamily="34" charset="0"/>
                <a:ea typeface="Yu Gothic" pitchFamily="34" charset="-122"/>
                <a:cs typeface="Yu Gothic" pitchFamily="34" charset="-120"/>
              </a:rPr>
              <a:t>ゆっくり仰向けに戻し、反対側にも寝返ります。左右5回ずつ。</a:t>
            </a:r>
            <a:endParaRPr lang="en-US" sz="2100" dirty="0"/>
          </a:p>
        </p:txBody>
      </p:sp>
      <p:sp>
        <p:nvSpPr>
          <p:cNvPr id="34" name="Shape 32"/>
          <p:cNvSpPr/>
          <p:nvPr/>
        </p:nvSpPr>
        <p:spPr>
          <a:xfrm>
            <a:off x="9418320" y="6043041"/>
            <a:ext cx="7827264" cy="0"/>
          </a:xfrm>
          <a:prstGeom prst="line">
            <a:avLst/>
          </a:prstGeom>
          <a:noFill/>
          <a:ln w="12700">
            <a:solidFill>
              <a:srgbClr val="E3E6EA"/>
            </a:solidFill>
            <a:prstDash val="solid"/>
          </a:ln>
        </p:spPr>
        <p:txBody>
          <a:bodyPr/>
          <a:lstStyle/>
          <a:p>
            <a:endParaRPr/>
          </a:p>
        </p:txBody>
      </p:sp>
      <p:sp>
        <p:nvSpPr>
          <p:cNvPr id="35" name="Shape 33"/>
          <p:cNvSpPr/>
          <p:nvPr/>
        </p:nvSpPr>
        <p:spPr>
          <a:xfrm>
            <a:off x="9418320" y="6564249"/>
            <a:ext cx="7827264" cy="1078992"/>
          </a:xfrm>
          <a:prstGeom prst="roundRect">
            <a:avLst>
              <a:gd name="adj" fmla="val 10169"/>
            </a:avLst>
          </a:prstGeom>
          <a:solidFill>
            <a:srgbClr val="FAF1DE"/>
          </a:solidFill>
          <a:ln/>
        </p:spPr>
        <p:txBody>
          <a:bodyPr/>
          <a:lstStyle/>
          <a:p>
            <a:endParaRPr/>
          </a:p>
        </p:txBody>
      </p:sp>
      <p:sp>
        <p:nvSpPr>
          <p:cNvPr id="36" name="Shape 34"/>
          <p:cNvSpPr/>
          <p:nvPr/>
        </p:nvSpPr>
        <p:spPr>
          <a:xfrm>
            <a:off x="9619488" y="6893433"/>
            <a:ext cx="420624" cy="420624"/>
          </a:xfrm>
          <a:prstGeom prst="ellipse">
            <a:avLst/>
          </a:prstGeom>
          <a:solidFill>
            <a:srgbClr val="C98A2B"/>
          </a:solidFill>
          <a:ln/>
        </p:spPr>
        <p:txBody>
          <a:bodyPr/>
          <a:lstStyle/>
          <a:p>
            <a:endParaRPr/>
          </a:p>
        </p:txBody>
      </p:sp>
      <p:sp>
        <p:nvSpPr>
          <p:cNvPr id="37" name="Text 35"/>
          <p:cNvSpPr/>
          <p:nvPr/>
        </p:nvSpPr>
        <p:spPr>
          <a:xfrm>
            <a:off x="9619488" y="6893433"/>
            <a:ext cx="420624" cy="420624"/>
          </a:xfrm>
          <a:prstGeom prst="rect">
            <a:avLst/>
          </a:prstGeom>
          <a:noFill/>
          <a:ln/>
        </p:spPr>
        <p:txBody>
          <a:bodyPr wrap="square"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a:t>
            </a:r>
            <a:endParaRPr lang="en-US" sz="1800" dirty="0"/>
          </a:p>
        </p:txBody>
      </p:sp>
      <p:sp>
        <p:nvSpPr>
          <p:cNvPr id="38" name="Text 36"/>
          <p:cNvSpPr/>
          <p:nvPr/>
        </p:nvSpPr>
        <p:spPr>
          <a:xfrm>
            <a:off x="10204704" y="6655689"/>
            <a:ext cx="6858000" cy="896112"/>
          </a:xfrm>
          <a:prstGeom prst="rect">
            <a:avLst/>
          </a:prstGeom>
          <a:noFill/>
          <a:ln/>
        </p:spPr>
        <p:txBody>
          <a:bodyPr wrap="square" rtlCol="0" anchor="ctr"/>
          <a:lstStyle/>
          <a:p>
            <a:pPr marL="0" indent="0" algn="l">
              <a:buNone/>
            </a:pPr>
            <a:r>
              <a:rPr lang="ja-JP" altLang="en-US" sz="2100">
                <a:solidFill>
                  <a:srgbClr val="3D2806"/>
                </a:solidFill>
                <a:latin typeface="Yu Gothic" pitchFamily="34" charset="0"/>
                <a:ea typeface="Yu Gothic" pitchFamily="34" charset="-122"/>
                <a:cs typeface="Yu Gothic" pitchFamily="34" charset="-120"/>
              </a:rPr>
              <a:t>起き上がる前の寝返りがスムーズだと、起き上がりも</a:t>
            </a:r>
            <a:endParaRPr lang="en-US" sz="2100" dirty="0">
              <a:solidFill>
                <a:srgbClr val="3D2806"/>
              </a:solidFill>
              <a:latin typeface="Yu Gothic" pitchFamily="34" charset="0"/>
              <a:ea typeface="Yu Gothic" pitchFamily="34" charset="-122"/>
              <a:cs typeface="Yu Gothic" pitchFamily="34" charset="-120"/>
            </a:endParaRPr>
          </a:p>
          <a:p>
            <a:pPr marL="0" indent="0" algn="l">
              <a:buNone/>
            </a:pPr>
            <a:r>
              <a:rPr lang="ja-JP" altLang="en-US" sz="2100">
                <a:solidFill>
                  <a:srgbClr val="3D2806"/>
                </a:solidFill>
                <a:latin typeface="Yu Gothic" pitchFamily="34" charset="0"/>
                <a:ea typeface="Yu Gothic" pitchFamily="34" charset="-122"/>
              </a:rPr>
              <a:t>楽になります。</a:t>
            </a:r>
            <a:endParaRPr lang="en-US" sz="2100" dirty="0"/>
          </a:p>
        </p:txBody>
      </p:sp>
      <p:sp>
        <p:nvSpPr>
          <p:cNvPr id="39" name="Shape 37"/>
          <p:cNvSpPr/>
          <p:nvPr/>
        </p:nvSpPr>
        <p:spPr>
          <a:xfrm>
            <a:off x="9418320" y="7789545"/>
            <a:ext cx="7827264" cy="1078992"/>
          </a:xfrm>
          <a:prstGeom prst="roundRect">
            <a:avLst>
              <a:gd name="adj" fmla="val 10169"/>
            </a:avLst>
          </a:prstGeom>
          <a:solidFill>
            <a:srgbClr val="FDECE8"/>
          </a:solidFill>
          <a:ln/>
        </p:spPr>
        <p:txBody>
          <a:bodyPr/>
          <a:lstStyle/>
          <a:p>
            <a:endParaRPr/>
          </a:p>
        </p:txBody>
      </p:sp>
      <p:sp>
        <p:nvSpPr>
          <p:cNvPr id="40" name="Shape 38"/>
          <p:cNvSpPr/>
          <p:nvPr/>
        </p:nvSpPr>
        <p:spPr>
          <a:xfrm>
            <a:off x="9418320" y="7789545"/>
            <a:ext cx="54864" cy="1078992"/>
          </a:xfrm>
          <a:prstGeom prst="rect">
            <a:avLst/>
          </a:prstGeom>
          <a:solidFill>
            <a:srgbClr val="E87362"/>
          </a:solidFill>
          <a:ln/>
        </p:spPr>
        <p:txBody>
          <a:bodyPr/>
          <a:lstStyle/>
          <a:p>
            <a:endParaRPr/>
          </a:p>
        </p:txBody>
      </p:sp>
      <p:sp>
        <p:nvSpPr>
          <p:cNvPr id="41" name="Shape 39"/>
          <p:cNvSpPr/>
          <p:nvPr/>
        </p:nvSpPr>
        <p:spPr>
          <a:xfrm>
            <a:off x="9619488" y="8100441"/>
            <a:ext cx="457200" cy="457200"/>
          </a:xfrm>
          <a:prstGeom prst="ellipse">
            <a:avLst/>
          </a:prstGeom>
          <a:solidFill>
            <a:srgbClr val="E87362"/>
          </a:solidFill>
          <a:ln/>
        </p:spPr>
        <p:txBody>
          <a:bodyPr/>
          <a:lstStyle/>
          <a:p>
            <a:endParaRPr/>
          </a:p>
        </p:txBody>
      </p:sp>
      <p:sp>
        <p:nvSpPr>
          <p:cNvPr id="42" name="Text 40"/>
          <p:cNvSpPr/>
          <p:nvPr/>
        </p:nvSpPr>
        <p:spPr>
          <a:xfrm>
            <a:off x="9619488" y="8100441"/>
            <a:ext cx="457200" cy="45720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43" name="Text 41"/>
          <p:cNvSpPr/>
          <p:nvPr/>
        </p:nvSpPr>
        <p:spPr>
          <a:xfrm>
            <a:off x="10241280" y="7880985"/>
            <a:ext cx="7335520" cy="896112"/>
          </a:xfrm>
          <a:prstGeom prst="rect">
            <a:avLst/>
          </a:prstGeom>
          <a:noFill/>
          <a:ln/>
        </p:spPr>
        <p:txBody>
          <a:bodyPr wrap="square" rtlCol="0" anchor="ctr"/>
          <a:lstStyle/>
          <a:p>
            <a:pPr marL="0" indent="0" algn="l">
              <a:buNone/>
            </a:pPr>
            <a:r>
              <a:rPr lang="en-US" sz="2100" dirty="0">
                <a:solidFill>
                  <a:srgbClr val="7A2D1D"/>
                </a:solidFill>
                <a:latin typeface="Yu Gothic" pitchFamily="34" charset="0"/>
                <a:ea typeface="Yu Gothic" pitchFamily="34" charset="-122"/>
                <a:cs typeface="Yu Gothic" pitchFamily="34" charset="-120"/>
              </a:rPr>
              <a:t>ふらつきやめまいを感じたらすぐ中止し、ゆっくり仰向けに戻りましょう。</a:t>
            </a:r>
            <a:endParaRPr lang="en-US" sz="2100" dirty="0"/>
          </a:p>
        </p:txBody>
      </p:sp>
      <p:pic>
        <p:nvPicPr>
          <p:cNvPr id="48" name="図 47">
            <a:extLst>
              <a:ext uri="{FF2B5EF4-FFF2-40B4-BE49-F238E27FC236}">
                <a16:creationId xmlns:a16="http://schemas.microsoft.com/office/drawing/2014/main" id="{8B7B0777-FF8E-9A48-BA32-CFF211890C15}"/>
              </a:ext>
            </a:extLst>
          </p:cNvPr>
          <p:cNvPicPr>
            <a:picLocks noChangeAspect="1"/>
          </p:cNvPicPr>
          <p:nvPr/>
        </p:nvPicPr>
        <p:blipFill>
          <a:blip r:embed="rId3"/>
          <a:stretch>
            <a:fillRect/>
          </a:stretch>
        </p:blipFill>
        <p:spPr>
          <a:xfrm>
            <a:off x="686448" y="2818752"/>
            <a:ext cx="8215541" cy="5477027"/>
          </a:xfrm>
          <a:prstGeom prst="rect">
            <a:avLst/>
          </a:prstGeom>
        </p:spPr>
      </p:pic>
      <p:sp>
        <p:nvSpPr>
          <p:cNvPr id="49" name="TextBox 48"/>
          <p:cNvSpPr txBox="1"/>
          <p:nvPr/>
        </p:nvSpPr>
        <p:spPr>
          <a:xfrm>
            <a:off x="1097280" y="9052560"/>
            <a:ext cx="16093440" cy="523220"/>
          </a:xfrm>
          <a:prstGeom prst="rect">
            <a:avLst/>
          </a:prstGeom>
          <a:noFill/>
        </p:spPr>
        <p:txBody>
          <a:bodyPr wrap="square">
            <a:spAutoFit/>
          </a:bodyPr>
          <a:lstStyle/>
          <a:p>
            <a:r>
              <a:rPr sz="2800" b="1">
                <a:solidFill>
                  <a:srgbClr val="334155"/>
                </a:solidFill>
                <a:latin typeface="Yu Gothic"/>
              </a:rPr>
              <a:t>目的：</a:t>
            </a:r>
            <a:r>
              <a:rPr sz="2800">
                <a:solidFill>
                  <a:srgbClr val="334155"/>
                </a:solidFill>
                <a:latin typeface="Yu Gothic"/>
              </a:rPr>
              <a:t>寝返りの動きを保ち、起き上がりや床ずれ予防につなげます。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598</Words>
  <Application>Microsoft Macintosh PowerPoint</Application>
  <PresentationFormat>ユーザー設定</PresentationFormat>
  <Paragraphs>144</Paragraphs>
  <Slides>8</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游ゴシック</vt:lpstr>
      <vt:lpstr>游ゴシック</vt:lpstr>
      <vt:lpstr>Arial</vt:lpstr>
      <vt:lpstr>Calibri</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誠 安宅</cp:lastModifiedBy>
  <cp:revision>12</cp:revision>
  <dcterms:created xsi:type="dcterms:W3CDTF">2026-05-06T14:18:54Z</dcterms:created>
  <dcterms:modified xsi:type="dcterms:W3CDTF">2026-06-29T19:36:46Z</dcterms:modified>
</cp:coreProperties>
</file>