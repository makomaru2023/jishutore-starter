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62" r:id="rId8"/>
    <p:sldId id="263" r:id="rId9"/>
    <p:sldId id="264" r:id="rId10"/>
  </p:sld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574"/>
    <p:restoredTop sz="92784"/>
  </p:normalViewPr>
  <p:slideViewPr>
    <p:cSldViewPr snapToGrid="0" snapToObjects="1">
      <p:cViewPr varScale="1">
        <p:scale>
          <a:sx n="81" d="100"/>
          <a:sy n="81" d="100"/>
        </p:scale>
        <p:origin x="952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312817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7750" y="1687068"/>
            <a:ext cx="16192500" cy="19050"/>
          </a:xfrm>
          <a:prstGeom prst="rect">
            <a:avLst/>
          </a:prstGeom>
          <a:solidFill>
            <a:srgbClr val="111418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638603" y="727023"/>
            <a:ext cx="12126087" cy="695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ja-JP" altLang="en-US" sz="4500" b="1">
                <a:solidFill>
                  <a:srgbClr val="1114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足関節ポンプ運動</a:t>
            </a:r>
          </a:p>
        </p:txBody>
      </p:sp>
      <p:sp>
        <p:nvSpPr>
          <p:cNvPr id="17" name="Shape 15"/>
          <p:cNvSpPr/>
          <p:nvPr/>
        </p:nvSpPr>
        <p:spPr>
          <a:xfrm>
            <a:off x="14497050" y="1807369"/>
            <a:ext cx="2743200" cy="1147763"/>
          </a:xfrm>
          <a:prstGeom prst="roundRect">
            <a:avLst>
              <a:gd name="adj" fmla="val 11618"/>
            </a:avLst>
          </a:prstGeom>
          <a:solidFill>
            <a:srgbClr val="111418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14687550" y="1959769"/>
            <a:ext cx="236220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800" b="1" kern="0" spc="324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回数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4687550" y="2331244"/>
            <a:ext cx="2362200" cy="5095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2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20回 × 3セット</a:t>
            </a:r>
          </a:p>
        </p:txBody>
      </p:sp>
      <p:sp>
        <p:nvSpPr>
          <p:cNvPr id="20" name="Shape 18"/>
          <p:cNvSpPr/>
          <p:nvPr/>
        </p:nvSpPr>
        <p:spPr>
          <a:xfrm>
            <a:off x="398718" y="2674620"/>
            <a:ext cx="8791001" cy="5765292"/>
          </a:xfrm>
          <a:prstGeom prst="roundRect">
            <a:avLst>
              <a:gd name="adj" fmla="val 2736"/>
            </a:avLst>
          </a:prstGeom>
          <a:solidFill>
            <a:srgbClr val="EAF1F9"/>
          </a:solidFill>
          <a:ln/>
        </p:spPr>
        <p:txBody>
          <a:bodyPr/>
          <a:p/>
        </p:txBody>
      </p:sp>
      <p:sp>
        <p:nvSpPr>
          <p:cNvPr id="23" name="Text 20"/>
          <p:cNvSpPr/>
          <p:nvPr/>
        </p:nvSpPr>
        <p:spPr>
          <a:xfrm>
            <a:off x="9527307" y="2678049"/>
            <a:ext cx="7944331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324" dirty="0">
                <a:solidFill>
                  <a:srgbClr val="6B7480"/>
                </a:solidFill>
                <a:latin typeface="Yu Gothic" pitchFamily="34" charset="0"/>
                <a:ea typeface="Arial" pitchFamily="34" charset="-122"/>
                <a:cs typeface="Arial" pitchFamily="34" charset="-120"/>
              </a:rPr>
              <a:t>手順</a:t>
            </a:r>
            <a:endParaRPr lang="en-US" sz="1800" dirty="0"/>
          </a:p>
        </p:txBody>
      </p:sp>
      <p:sp>
        <p:nvSpPr>
          <p:cNvPr id="24" name="Shape 21"/>
          <p:cNvSpPr/>
          <p:nvPr/>
        </p:nvSpPr>
        <p:spPr>
          <a:xfrm>
            <a:off x="9527307" y="3201924"/>
            <a:ext cx="7712943" cy="781050"/>
          </a:xfrm>
          <a:prstGeom prst="roundRect">
            <a:avLst>
              <a:gd name="adj" fmla="val 17073"/>
            </a:avLst>
          </a:prstGeom>
          <a:solidFill>
            <a:srgbClr val="FFFFFF"/>
          </a:solidFill>
          <a:ln w="9525">
            <a:solidFill>
              <a:srgbClr val="E3E6EA"/>
            </a:solidFill>
            <a:prstDash val="solid"/>
          </a:ln>
        </p:spPr>
        <p:txBody>
          <a:bodyPr/>
          <a:p/>
        </p:txBody>
      </p:sp>
      <p:sp>
        <p:nvSpPr>
          <p:cNvPr id="25" name="Shape 22"/>
          <p:cNvSpPr/>
          <p:nvPr/>
        </p:nvSpPr>
        <p:spPr>
          <a:xfrm>
            <a:off x="9746382" y="3363849"/>
            <a:ext cx="457200" cy="457200"/>
          </a:xfrm>
          <a:prstGeom prst="ellipse">
            <a:avLst/>
          </a:prstGeom>
          <a:solidFill>
            <a:srgbClr val="3B6EA8"/>
          </a:solidFill>
          <a:ln/>
        </p:spPr>
        <p:txBody>
          <a:bodyPr/>
          <a:p/>
        </p:txBody>
      </p:sp>
      <p:sp>
        <p:nvSpPr>
          <p:cNvPr id="26" name="Text 23"/>
          <p:cNvSpPr/>
          <p:nvPr/>
        </p:nvSpPr>
        <p:spPr>
          <a:xfrm>
            <a:off x="9708282" y="3328679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950" b="1" dirty="0">
                <a:solidFill>
                  <a:srgbClr val="FFFFFF"/>
                </a:solidFill>
                <a:latin typeface="Georgia" pitchFamily="34" charset="0"/>
              </a:rPr>
              <a:t>１</a:t>
            </a:r>
            <a:endParaRPr lang="en-US" sz="1950" dirty="0"/>
          </a:p>
        </p:txBody>
      </p:sp>
      <p:sp>
        <p:nvSpPr>
          <p:cNvPr id="27" name="Text 24"/>
          <p:cNvSpPr/>
          <p:nvPr/>
        </p:nvSpPr>
        <p:spPr>
          <a:xfrm>
            <a:off x="10377820" y="3319179"/>
            <a:ext cx="7523318" cy="6674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ja-JP" altLang="en-US" sz="200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仰向けに寝て、両足をまっすぐ伸ばします。</a:t>
            </a:r>
          </a:p>
        </p:txBody>
      </p:sp>
      <p:sp>
        <p:nvSpPr>
          <p:cNvPr id="28" name="Shape 25"/>
          <p:cNvSpPr/>
          <p:nvPr/>
        </p:nvSpPr>
        <p:spPr>
          <a:xfrm>
            <a:off x="9527307" y="4097275"/>
            <a:ext cx="7712943" cy="834926"/>
          </a:xfrm>
          <a:prstGeom prst="roundRect">
            <a:avLst>
              <a:gd name="adj" fmla="val 11618"/>
            </a:avLst>
          </a:prstGeom>
          <a:solidFill>
            <a:srgbClr val="FFFFFF"/>
          </a:solidFill>
          <a:ln w="9525">
            <a:solidFill>
              <a:srgbClr val="E3E6EA"/>
            </a:solidFill>
            <a:prstDash val="solid"/>
          </a:ln>
        </p:spPr>
        <p:txBody>
          <a:bodyPr/>
          <a:p/>
        </p:txBody>
      </p:sp>
      <p:sp>
        <p:nvSpPr>
          <p:cNvPr id="29" name="Shape 26"/>
          <p:cNvSpPr/>
          <p:nvPr/>
        </p:nvSpPr>
        <p:spPr>
          <a:xfrm>
            <a:off x="9746382" y="4276784"/>
            <a:ext cx="457200" cy="457200"/>
          </a:xfrm>
          <a:prstGeom prst="ellipse">
            <a:avLst/>
          </a:prstGeom>
          <a:solidFill>
            <a:srgbClr val="3B6EA8"/>
          </a:solidFill>
          <a:ln/>
        </p:spPr>
        <p:txBody>
          <a:bodyPr/>
          <a:p/>
        </p:txBody>
      </p:sp>
      <p:sp>
        <p:nvSpPr>
          <p:cNvPr id="30" name="Text 27"/>
          <p:cNvSpPr/>
          <p:nvPr/>
        </p:nvSpPr>
        <p:spPr>
          <a:xfrm>
            <a:off x="9708282" y="4259199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950" b="1" dirty="0">
                <a:solidFill>
                  <a:srgbClr val="FFFFFF"/>
                </a:solidFill>
                <a:latin typeface="Georgia" pitchFamily="34" charset="0"/>
              </a:rPr>
              <a:t>２</a:t>
            </a:r>
            <a:endParaRPr lang="en-US" sz="1950" dirty="0"/>
          </a:p>
        </p:txBody>
      </p:sp>
      <p:sp>
        <p:nvSpPr>
          <p:cNvPr id="31" name="Text 28"/>
          <p:cNvSpPr/>
          <p:nvPr/>
        </p:nvSpPr>
        <p:spPr>
          <a:xfrm>
            <a:off x="10374666" y="4235045"/>
            <a:ext cx="7093818" cy="7421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000" dirty="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つま先をグッと手前に引き上げます。</a:t>
            </a:r>
          </a:p>
        </p:txBody>
      </p:sp>
      <p:sp>
        <p:nvSpPr>
          <p:cNvPr id="32" name="Shape 29"/>
          <p:cNvSpPr/>
          <p:nvPr/>
        </p:nvSpPr>
        <p:spPr>
          <a:xfrm>
            <a:off x="9527307" y="5060397"/>
            <a:ext cx="7712943" cy="1026584"/>
          </a:xfrm>
          <a:prstGeom prst="roundRect">
            <a:avLst>
              <a:gd name="adj" fmla="val 17073"/>
            </a:avLst>
          </a:prstGeom>
          <a:solidFill>
            <a:srgbClr val="FFFFFF"/>
          </a:solidFill>
          <a:ln w="9525">
            <a:solidFill>
              <a:srgbClr val="E3E6EA"/>
            </a:solidFill>
            <a:prstDash val="solid"/>
          </a:ln>
        </p:spPr>
        <p:txBody>
          <a:bodyPr/>
          <a:p/>
        </p:txBody>
      </p:sp>
      <p:sp>
        <p:nvSpPr>
          <p:cNvPr id="33" name="Shape 30"/>
          <p:cNvSpPr/>
          <p:nvPr/>
        </p:nvSpPr>
        <p:spPr>
          <a:xfrm>
            <a:off x="9746382" y="5222322"/>
            <a:ext cx="457200" cy="457200"/>
          </a:xfrm>
          <a:prstGeom prst="ellipse">
            <a:avLst/>
          </a:prstGeom>
          <a:solidFill>
            <a:srgbClr val="3B6EA8"/>
          </a:solidFill>
          <a:ln/>
        </p:spPr>
        <p:txBody>
          <a:bodyPr/>
          <a:p/>
        </p:txBody>
      </p:sp>
      <p:sp>
        <p:nvSpPr>
          <p:cNvPr id="34" name="Text 31"/>
          <p:cNvSpPr/>
          <p:nvPr/>
        </p:nvSpPr>
        <p:spPr>
          <a:xfrm>
            <a:off x="9708282" y="5201099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950" b="1" dirty="0">
                <a:solidFill>
                  <a:srgbClr val="FFFFFF"/>
                </a:solidFill>
                <a:latin typeface="Georgia" pitchFamily="34" charset="0"/>
              </a:rPr>
              <a:t>３</a:t>
            </a:r>
            <a:endParaRPr lang="en-US" sz="1950" dirty="0"/>
          </a:p>
        </p:txBody>
      </p:sp>
      <p:sp>
        <p:nvSpPr>
          <p:cNvPr id="35" name="Text 32"/>
          <p:cNvSpPr/>
          <p:nvPr/>
        </p:nvSpPr>
        <p:spPr>
          <a:xfrm>
            <a:off x="10374666" y="5008637"/>
            <a:ext cx="6688555" cy="10056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000" dirty="0" err="1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続いて、つま先をピンと遠くへ伸ばします</a:t>
            </a:r>
            <a:r>
              <a:rPr lang="en-US" sz="2000" dirty="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。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2000" dirty="0" err="1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交互に繰り返します</a:t>
            </a:r>
            <a:r>
              <a:rPr lang="en-US" sz="2000" dirty="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。</a:t>
            </a:r>
          </a:p>
        </p:txBody>
      </p:sp>
      <p:sp>
        <p:nvSpPr>
          <p:cNvPr id="36" name="Shape 33"/>
          <p:cNvSpPr/>
          <p:nvPr/>
        </p:nvSpPr>
        <p:spPr>
          <a:xfrm>
            <a:off x="9527307" y="6330887"/>
            <a:ext cx="7712943" cy="967680"/>
          </a:xfrm>
          <a:prstGeom prst="roundRect">
            <a:avLst>
              <a:gd name="adj" fmla="val 11812"/>
            </a:avLst>
          </a:prstGeom>
          <a:solidFill>
            <a:srgbClr val="FAF1DE"/>
          </a:solidFill>
          <a:ln/>
        </p:spPr>
        <p:txBody>
          <a:bodyPr/>
          <a:p/>
        </p:txBody>
      </p:sp>
      <p:sp>
        <p:nvSpPr>
          <p:cNvPr id="37" name="Shape 34"/>
          <p:cNvSpPr/>
          <p:nvPr/>
        </p:nvSpPr>
        <p:spPr>
          <a:xfrm>
            <a:off x="9768388" y="6605177"/>
            <a:ext cx="419100" cy="419100"/>
          </a:xfrm>
          <a:prstGeom prst="ellipse">
            <a:avLst/>
          </a:prstGeom>
          <a:solidFill>
            <a:srgbClr val="C98A2B"/>
          </a:solidFill>
          <a:ln/>
        </p:spPr>
        <p:txBody>
          <a:bodyPr/>
          <a:p/>
        </p:txBody>
      </p:sp>
      <p:sp>
        <p:nvSpPr>
          <p:cNvPr id="38" name="Text 35"/>
          <p:cNvSpPr/>
          <p:nvPr/>
        </p:nvSpPr>
        <p:spPr>
          <a:xfrm>
            <a:off x="9716341" y="6587592"/>
            <a:ext cx="49530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◎</a:t>
            </a:r>
            <a:endParaRPr lang="en-US" sz="1800" dirty="0"/>
          </a:p>
        </p:txBody>
      </p:sp>
      <p:sp>
        <p:nvSpPr>
          <p:cNvPr id="39" name="Text 36"/>
          <p:cNvSpPr/>
          <p:nvPr/>
        </p:nvSpPr>
        <p:spPr>
          <a:xfrm>
            <a:off x="10374666" y="6315581"/>
            <a:ext cx="6786663" cy="1099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ja-JP" altLang="en-US" sz="2000" b="1">
                <a:solidFill>
                  <a:srgbClr val="3D28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臥床期の血流改善・むくみ予防に。</a:t>
            </a:r>
            <a:endParaRPr lang="en-US" altLang="ja-JP" sz="2000" b="1" dirty="0">
              <a:solidFill>
                <a:srgbClr val="3D2806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 algn="l">
              <a:lnSpc>
                <a:spcPct val="145000"/>
              </a:lnSpc>
              <a:buNone/>
            </a:pPr>
            <a:r>
              <a:rPr lang="ja-JP" altLang="en-US" sz="2000" b="1">
                <a:solidFill>
                  <a:srgbClr val="3D28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テレビを見ながらでもOKです。</a:t>
            </a:r>
          </a:p>
        </p:txBody>
      </p:sp>
      <p:sp>
        <p:nvSpPr>
          <p:cNvPr id="40" name="Shape 37"/>
          <p:cNvSpPr/>
          <p:nvPr/>
        </p:nvSpPr>
        <p:spPr>
          <a:xfrm>
            <a:off x="9527307" y="7489067"/>
            <a:ext cx="7712943" cy="990600"/>
          </a:xfrm>
          <a:prstGeom prst="roundRect">
            <a:avLst>
              <a:gd name="adj" fmla="val 7692"/>
            </a:avLst>
          </a:prstGeom>
          <a:solidFill>
            <a:srgbClr val="FDECE8"/>
          </a:solidFill>
          <a:ln/>
        </p:spPr>
        <p:txBody>
          <a:bodyPr/>
          <a:p/>
        </p:txBody>
      </p:sp>
      <p:sp>
        <p:nvSpPr>
          <p:cNvPr id="41" name="Shape 38"/>
          <p:cNvSpPr/>
          <p:nvPr/>
        </p:nvSpPr>
        <p:spPr>
          <a:xfrm>
            <a:off x="9527307" y="7489067"/>
            <a:ext cx="57150" cy="990600"/>
          </a:xfrm>
          <a:prstGeom prst="rect">
            <a:avLst/>
          </a:prstGeom>
          <a:solidFill>
            <a:srgbClr val="E87362"/>
          </a:solidFill>
          <a:ln/>
        </p:spPr>
        <p:txBody>
          <a:bodyPr/>
          <a:p/>
        </p:txBody>
      </p:sp>
      <p:sp>
        <p:nvSpPr>
          <p:cNvPr id="42" name="Shape 39"/>
          <p:cNvSpPr/>
          <p:nvPr/>
        </p:nvSpPr>
        <p:spPr>
          <a:xfrm>
            <a:off x="9784482" y="7739097"/>
            <a:ext cx="457200" cy="457200"/>
          </a:xfrm>
          <a:prstGeom prst="ellipse">
            <a:avLst/>
          </a:prstGeom>
          <a:solidFill>
            <a:srgbClr val="E87362"/>
          </a:solidFill>
          <a:ln/>
        </p:spPr>
        <p:txBody>
          <a:bodyPr/>
          <a:p/>
        </p:txBody>
      </p:sp>
      <p:sp>
        <p:nvSpPr>
          <p:cNvPr id="43" name="Text 40"/>
          <p:cNvSpPr/>
          <p:nvPr/>
        </p:nvSpPr>
        <p:spPr>
          <a:xfrm>
            <a:off x="9746382" y="7739097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!</a:t>
            </a:r>
            <a:endParaRPr lang="en-US" sz="2100" dirty="0"/>
          </a:p>
        </p:txBody>
      </p:sp>
      <p:sp>
        <p:nvSpPr>
          <p:cNvPr id="44" name="Text 41"/>
          <p:cNvSpPr/>
          <p:nvPr/>
        </p:nvSpPr>
        <p:spPr>
          <a:xfrm>
            <a:off x="10374666" y="7694025"/>
            <a:ext cx="6688555" cy="9444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ja-JP" altLang="en-US" sz="2000" b="1">
                <a:solidFill>
                  <a:srgbClr val="7A2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強い痛みやしびれが出たら中止してください。</a:t>
            </a:r>
          </a:p>
        </p:txBody>
      </p:sp>
      <p:pic>
        <p:nvPicPr>
          <p:cNvPr id="49" name="図 48">
            <a:extLst>
              <a:ext uri="{FF2B5EF4-FFF2-40B4-BE49-F238E27FC236}">
                <a16:creationId xmlns:a16="http://schemas.microsoft.com/office/drawing/2014/main" id="{BE84AA68-0E69-3144-93F1-649E53B0C4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8493" y="2818752"/>
            <a:ext cx="8351450" cy="5477027"/>
          </a:xfrm>
          <a:prstGeom prst="rect">
            <a:avLst/>
          </a:prstGeom>
        </p:spPr>
      </p:pic>
      <p:sp>
        <p:nvSpPr>
          <p:cNvPr id="50" name="TextBox 49"/>
          <p:cNvSpPr txBox="1"/>
          <p:nvPr/>
        </p:nvSpPr>
        <p:spPr>
          <a:xfrm>
            <a:off x="1097280" y="9052560"/>
            <a:ext cx="1609344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334155"/>
                </a:solidFill>
                <a:latin typeface="Yu Gothic"/>
              </a:rPr>
              <a:t>目的：</a:t>
            </a:r>
            <a:r>
              <a:rPr sz="2800">
                <a:solidFill>
                  <a:srgbClr val="334155"/>
                </a:solidFill>
                <a:latin typeface="Yu Gothic"/>
              </a:rPr>
              <a:t>足首を動かして血の巡りを良くし、血栓やむくみを防ぎます。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7750" y="1687068"/>
            <a:ext cx="16192500" cy="19050"/>
          </a:xfrm>
          <a:prstGeom prst="rect">
            <a:avLst/>
          </a:prstGeom>
          <a:solidFill>
            <a:srgbClr val="111418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638603" y="727023"/>
            <a:ext cx="12050590" cy="695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4500" b="1" dirty="0">
                <a:solidFill>
                  <a:srgbClr val="1114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大腿四頭筋セッティング</a:t>
            </a:r>
          </a:p>
        </p:txBody>
      </p:sp>
      <p:sp>
        <p:nvSpPr>
          <p:cNvPr id="17" name="Shape 15"/>
          <p:cNvSpPr/>
          <p:nvPr/>
        </p:nvSpPr>
        <p:spPr>
          <a:xfrm>
            <a:off x="14423752" y="1807369"/>
            <a:ext cx="2816498" cy="1147763"/>
          </a:xfrm>
          <a:prstGeom prst="roundRect">
            <a:avLst>
              <a:gd name="adj" fmla="val 11618"/>
            </a:avLst>
          </a:prstGeom>
          <a:solidFill>
            <a:srgbClr val="111418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14614252" y="1959769"/>
            <a:ext cx="2435498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800" b="1" kern="0" spc="324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回数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4614252" y="2331244"/>
            <a:ext cx="2435498" cy="5095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2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10秒 × 5セット</a:t>
            </a:r>
          </a:p>
        </p:txBody>
      </p:sp>
      <p:sp>
        <p:nvSpPr>
          <p:cNvPr id="20" name="Shape 18"/>
          <p:cNvSpPr/>
          <p:nvPr/>
        </p:nvSpPr>
        <p:spPr>
          <a:xfrm>
            <a:off x="398718" y="2674620"/>
            <a:ext cx="8791001" cy="5765292"/>
          </a:xfrm>
          <a:prstGeom prst="roundRect">
            <a:avLst>
              <a:gd name="adj" fmla="val 2736"/>
            </a:avLst>
          </a:prstGeom>
          <a:solidFill>
            <a:srgbClr val="EAF1F9"/>
          </a:solidFill>
          <a:ln/>
        </p:spPr>
        <p:txBody>
          <a:bodyPr/>
          <a:p/>
        </p:txBody>
      </p:sp>
      <p:pic>
        <p:nvPicPr>
          <p:cNvPr id="21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18493" y="2818752"/>
            <a:ext cx="8351450" cy="5477027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9527307" y="2678049"/>
            <a:ext cx="7944331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324" dirty="0">
                <a:solidFill>
                  <a:srgbClr val="6B7480"/>
                </a:solidFill>
                <a:latin typeface="Yu Gothic" pitchFamily="34" charset="0"/>
                <a:ea typeface="Arial" pitchFamily="34" charset="-122"/>
                <a:cs typeface="Arial" pitchFamily="34" charset="-120"/>
              </a:rPr>
              <a:t>手順</a:t>
            </a:r>
            <a:endParaRPr lang="en-US" sz="1800" dirty="0"/>
          </a:p>
        </p:txBody>
      </p:sp>
      <p:sp>
        <p:nvSpPr>
          <p:cNvPr id="24" name="Shape 21"/>
          <p:cNvSpPr/>
          <p:nvPr/>
        </p:nvSpPr>
        <p:spPr>
          <a:xfrm>
            <a:off x="9527307" y="3201924"/>
            <a:ext cx="7712943" cy="953964"/>
          </a:xfrm>
          <a:prstGeom prst="roundRect">
            <a:avLst>
              <a:gd name="adj" fmla="val 17073"/>
            </a:avLst>
          </a:prstGeom>
          <a:solidFill>
            <a:srgbClr val="FFFFFF"/>
          </a:solidFill>
          <a:ln w="9525">
            <a:solidFill>
              <a:srgbClr val="E3E6EA"/>
            </a:solidFill>
            <a:prstDash val="solid"/>
          </a:ln>
        </p:spPr>
        <p:txBody>
          <a:bodyPr/>
          <a:p/>
        </p:txBody>
      </p:sp>
      <p:sp>
        <p:nvSpPr>
          <p:cNvPr id="25" name="Shape 22"/>
          <p:cNvSpPr/>
          <p:nvPr/>
        </p:nvSpPr>
        <p:spPr>
          <a:xfrm>
            <a:off x="9746382" y="3381434"/>
            <a:ext cx="457200" cy="457200"/>
          </a:xfrm>
          <a:prstGeom prst="ellipse">
            <a:avLst/>
          </a:prstGeom>
          <a:solidFill>
            <a:srgbClr val="3B6EA8"/>
          </a:solidFill>
          <a:ln/>
        </p:spPr>
        <p:txBody>
          <a:bodyPr/>
          <a:p/>
        </p:txBody>
      </p:sp>
      <p:sp>
        <p:nvSpPr>
          <p:cNvPr id="26" name="Text 23"/>
          <p:cNvSpPr/>
          <p:nvPr/>
        </p:nvSpPr>
        <p:spPr>
          <a:xfrm>
            <a:off x="9708282" y="3363849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950" b="1" dirty="0">
                <a:solidFill>
                  <a:srgbClr val="FFFFFF"/>
                </a:solidFill>
                <a:latin typeface="Georgia" pitchFamily="34" charset="0"/>
              </a:rPr>
              <a:t>１</a:t>
            </a:r>
            <a:endParaRPr lang="en-US" sz="1950" dirty="0"/>
          </a:p>
        </p:txBody>
      </p:sp>
      <p:sp>
        <p:nvSpPr>
          <p:cNvPr id="27" name="Text 24"/>
          <p:cNvSpPr/>
          <p:nvPr/>
        </p:nvSpPr>
        <p:spPr>
          <a:xfrm>
            <a:off x="10396688" y="3157623"/>
            <a:ext cx="6688555" cy="95815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000" dirty="0" err="1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床や椅子に座り、両膝を伸ばします</a:t>
            </a:r>
            <a:r>
              <a:rPr lang="en-US" sz="2000" dirty="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。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2000" dirty="0" err="1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膝の下に丸めたタオルを置きます</a:t>
            </a:r>
            <a:r>
              <a:rPr lang="en-US" sz="2000" dirty="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。</a:t>
            </a:r>
          </a:p>
        </p:txBody>
      </p:sp>
      <p:sp>
        <p:nvSpPr>
          <p:cNvPr id="28" name="Shape 25"/>
          <p:cNvSpPr/>
          <p:nvPr/>
        </p:nvSpPr>
        <p:spPr>
          <a:xfrm>
            <a:off x="9527307" y="4241613"/>
            <a:ext cx="7712943" cy="729579"/>
          </a:xfrm>
          <a:prstGeom prst="roundRect">
            <a:avLst>
              <a:gd name="adj" fmla="val 11618"/>
            </a:avLst>
          </a:prstGeom>
          <a:solidFill>
            <a:srgbClr val="FFFFFF"/>
          </a:solidFill>
          <a:ln w="9525">
            <a:solidFill>
              <a:srgbClr val="E3E6EA"/>
            </a:solidFill>
            <a:prstDash val="solid"/>
          </a:ln>
        </p:spPr>
        <p:txBody>
          <a:bodyPr/>
          <a:p/>
        </p:txBody>
      </p:sp>
      <p:sp>
        <p:nvSpPr>
          <p:cNvPr id="29" name="Shape 26"/>
          <p:cNvSpPr/>
          <p:nvPr/>
        </p:nvSpPr>
        <p:spPr>
          <a:xfrm>
            <a:off x="9746382" y="4259199"/>
            <a:ext cx="457200" cy="457200"/>
          </a:xfrm>
          <a:prstGeom prst="ellipse">
            <a:avLst/>
          </a:prstGeom>
          <a:solidFill>
            <a:srgbClr val="3B6EA8"/>
          </a:solidFill>
          <a:ln/>
        </p:spPr>
        <p:txBody>
          <a:bodyPr/>
          <a:p/>
        </p:txBody>
      </p:sp>
      <p:sp>
        <p:nvSpPr>
          <p:cNvPr id="30" name="Text 27"/>
          <p:cNvSpPr/>
          <p:nvPr/>
        </p:nvSpPr>
        <p:spPr>
          <a:xfrm>
            <a:off x="9708282" y="4241614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950" b="1" dirty="0">
                <a:solidFill>
                  <a:srgbClr val="FFFFFF"/>
                </a:solidFill>
                <a:latin typeface="Georgia" pitchFamily="34" charset="0"/>
              </a:rPr>
              <a:t>２</a:t>
            </a:r>
            <a:endParaRPr lang="en-US" sz="1950" dirty="0"/>
          </a:p>
        </p:txBody>
      </p:sp>
      <p:sp>
        <p:nvSpPr>
          <p:cNvPr id="31" name="Text 28"/>
          <p:cNvSpPr/>
          <p:nvPr/>
        </p:nvSpPr>
        <p:spPr>
          <a:xfrm>
            <a:off x="10396688" y="4259199"/>
            <a:ext cx="7355284" cy="8620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000" dirty="0" err="1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タオルを押し潰すように、太ももにグッと力を入れます</a:t>
            </a:r>
            <a:r>
              <a:rPr lang="en-US" sz="2000" dirty="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。</a:t>
            </a:r>
          </a:p>
        </p:txBody>
      </p:sp>
      <p:sp>
        <p:nvSpPr>
          <p:cNvPr id="32" name="Shape 29"/>
          <p:cNvSpPr/>
          <p:nvPr/>
        </p:nvSpPr>
        <p:spPr>
          <a:xfrm>
            <a:off x="9527307" y="5095562"/>
            <a:ext cx="7712943" cy="781050"/>
          </a:xfrm>
          <a:prstGeom prst="roundRect">
            <a:avLst>
              <a:gd name="adj" fmla="val 17073"/>
            </a:avLst>
          </a:prstGeom>
          <a:solidFill>
            <a:srgbClr val="FFFFFF"/>
          </a:solidFill>
          <a:ln w="9525">
            <a:solidFill>
              <a:srgbClr val="E3E6EA"/>
            </a:solidFill>
            <a:prstDash val="solid"/>
          </a:ln>
        </p:spPr>
        <p:txBody>
          <a:bodyPr/>
          <a:p/>
        </p:txBody>
      </p:sp>
      <p:sp>
        <p:nvSpPr>
          <p:cNvPr id="33" name="Shape 30"/>
          <p:cNvSpPr/>
          <p:nvPr/>
        </p:nvSpPr>
        <p:spPr>
          <a:xfrm>
            <a:off x="9746382" y="5257487"/>
            <a:ext cx="457200" cy="457200"/>
          </a:xfrm>
          <a:prstGeom prst="ellipse">
            <a:avLst/>
          </a:prstGeom>
          <a:solidFill>
            <a:srgbClr val="3B6EA8"/>
          </a:solidFill>
          <a:ln/>
        </p:spPr>
        <p:txBody>
          <a:bodyPr/>
          <a:p/>
        </p:txBody>
      </p:sp>
      <p:sp>
        <p:nvSpPr>
          <p:cNvPr id="34" name="Text 31"/>
          <p:cNvSpPr/>
          <p:nvPr/>
        </p:nvSpPr>
        <p:spPr>
          <a:xfrm>
            <a:off x="9708282" y="5222317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950" b="1" dirty="0">
                <a:solidFill>
                  <a:srgbClr val="FFFFFF"/>
                </a:solidFill>
                <a:latin typeface="Georgia" pitchFamily="34" charset="0"/>
              </a:rPr>
              <a:t>３</a:t>
            </a:r>
            <a:endParaRPr lang="en-US" sz="1950" dirty="0"/>
          </a:p>
        </p:txBody>
      </p:sp>
      <p:sp>
        <p:nvSpPr>
          <p:cNvPr id="35" name="Text 32"/>
          <p:cNvSpPr/>
          <p:nvPr/>
        </p:nvSpPr>
        <p:spPr>
          <a:xfrm>
            <a:off x="10396687" y="5239540"/>
            <a:ext cx="6688555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000" dirty="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10秒キープし、ゆっくり力を抜きます。</a:t>
            </a:r>
          </a:p>
        </p:txBody>
      </p:sp>
      <p:grpSp>
        <p:nvGrpSpPr>
          <p:cNvPr id="45" name="グループ化 44">
            <a:extLst>
              <a:ext uri="{FF2B5EF4-FFF2-40B4-BE49-F238E27FC236}">
                <a16:creationId xmlns:a16="http://schemas.microsoft.com/office/drawing/2014/main" id="{6F9B30FD-2694-0044-B45F-F85377902FD1}"/>
              </a:ext>
            </a:extLst>
          </p:cNvPr>
          <p:cNvGrpSpPr/>
          <p:nvPr/>
        </p:nvGrpSpPr>
        <p:grpSpPr>
          <a:xfrm>
            <a:off x="9527307" y="6330887"/>
            <a:ext cx="7712943" cy="990600"/>
            <a:chOff x="9527307" y="6910388"/>
            <a:chExt cx="7712943" cy="990600"/>
          </a:xfrm>
        </p:grpSpPr>
        <p:sp>
          <p:nvSpPr>
            <p:cNvPr id="36" name="Shape 33"/>
            <p:cNvSpPr/>
            <p:nvPr/>
          </p:nvSpPr>
          <p:spPr>
            <a:xfrm>
              <a:off x="9527307" y="6910388"/>
              <a:ext cx="7712943" cy="990600"/>
            </a:xfrm>
            <a:prstGeom prst="roundRect">
              <a:avLst>
                <a:gd name="adj" fmla="val 7692"/>
              </a:avLst>
            </a:prstGeom>
            <a:solidFill>
              <a:srgbClr val="FDECE8"/>
            </a:solidFill>
            <a:ln/>
          </p:spPr>
        </p:sp>
        <p:sp>
          <p:nvSpPr>
            <p:cNvPr id="37" name="Shape 34"/>
            <p:cNvSpPr/>
            <p:nvPr/>
          </p:nvSpPr>
          <p:spPr>
            <a:xfrm>
              <a:off x="9527307" y="6910388"/>
              <a:ext cx="57150" cy="990600"/>
            </a:xfrm>
            <a:prstGeom prst="rect">
              <a:avLst/>
            </a:prstGeom>
            <a:solidFill>
              <a:srgbClr val="E87362"/>
            </a:solidFill>
            <a:ln/>
          </p:spPr>
        </p:sp>
      </p:grpSp>
      <p:grpSp>
        <p:nvGrpSpPr>
          <p:cNvPr id="44" name="グループ化 43">
            <a:extLst>
              <a:ext uri="{FF2B5EF4-FFF2-40B4-BE49-F238E27FC236}">
                <a16:creationId xmlns:a16="http://schemas.microsoft.com/office/drawing/2014/main" id="{D2EC8C07-4157-904C-9CC9-1A754141C2D3}"/>
              </a:ext>
            </a:extLst>
          </p:cNvPr>
          <p:cNvGrpSpPr/>
          <p:nvPr/>
        </p:nvGrpSpPr>
        <p:grpSpPr>
          <a:xfrm>
            <a:off x="9738322" y="6597587"/>
            <a:ext cx="533400" cy="495300"/>
            <a:chOff x="9738322" y="7159503"/>
            <a:chExt cx="533400" cy="495300"/>
          </a:xfrm>
        </p:grpSpPr>
        <p:sp>
          <p:nvSpPr>
            <p:cNvPr id="38" name="Shape 35"/>
            <p:cNvSpPr/>
            <p:nvPr/>
          </p:nvSpPr>
          <p:spPr>
            <a:xfrm>
              <a:off x="9795163" y="7159503"/>
              <a:ext cx="457200" cy="457200"/>
            </a:xfrm>
            <a:prstGeom prst="ellipse">
              <a:avLst/>
            </a:prstGeom>
            <a:solidFill>
              <a:srgbClr val="E87362"/>
            </a:solidFill>
            <a:ln/>
          </p:spPr>
        </p:sp>
        <p:sp>
          <p:nvSpPr>
            <p:cNvPr id="39" name="Text 36"/>
            <p:cNvSpPr/>
            <p:nvPr/>
          </p:nvSpPr>
          <p:spPr>
            <a:xfrm>
              <a:off x="9738322" y="7159503"/>
              <a:ext cx="533400" cy="49530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2100" b="1" dirty="0">
                  <a:solidFill>
                    <a:srgbClr val="FFFFFF"/>
                  </a:solidFill>
                  <a:latin typeface="Georgia" pitchFamily="34" charset="0"/>
                  <a:ea typeface="Georgia" pitchFamily="34" charset="-122"/>
                  <a:cs typeface="Georgia" pitchFamily="34" charset="-120"/>
                </a:rPr>
                <a:t>!</a:t>
              </a:r>
              <a:endParaRPr lang="en-US" sz="2100" dirty="0"/>
            </a:p>
          </p:txBody>
        </p:sp>
      </p:grpSp>
      <p:sp>
        <p:nvSpPr>
          <p:cNvPr id="40" name="Text 37"/>
          <p:cNvSpPr/>
          <p:nvPr/>
        </p:nvSpPr>
        <p:spPr>
          <a:xfrm>
            <a:off x="10527431" y="6499955"/>
            <a:ext cx="6688555" cy="70649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ja-JP" altLang="en-US" sz="2000" b="1">
                <a:solidFill>
                  <a:srgbClr val="5A1F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息を止めないように、自然な呼吸で行ってください。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97280" y="9052560"/>
            <a:ext cx="1609344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334155"/>
                </a:solidFill>
                <a:latin typeface="Yu Gothic"/>
              </a:rPr>
              <a:t>目的：</a:t>
            </a:r>
            <a:r>
              <a:rPr sz="2800">
                <a:solidFill>
                  <a:srgbClr val="334155"/>
                </a:solidFill>
                <a:latin typeface="Yu Gothic"/>
              </a:rPr>
              <a:t>太もも前の力を保ち、立ち上がりや歩行を支えます。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7750" y="1687068"/>
            <a:ext cx="16192500" cy="19050"/>
          </a:xfrm>
          <a:prstGeom prst="rect">
            <a:avLst/>
          </a:prstGeom>
          <a:solidFill>
            <a:srgbClr val="111418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638603" y="727023"/>
            <a:ext cx="12050590" cy="695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4500" b="1" dirty="0">
                <a:solidFill>
                  <a:srgbClr val="1114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殿筋セッティング</a:t>
            </a:r>
          </a:p>
        </p:txBody>
      </p:sp>
      <p:sp>
        <p:nvSpPr>
          <p:cNvPr id="17" name="Shape 15"/>
          <p:cNvSpPr/>
          <p:nvPr/>
        </p:nvSpPr>
        <p:spPr>
          <a:xfrm>
            <a:off x="14423752" y="1807369"/>
            <a:ext cx="2816498" cy="1147763"/>
          </a:xfrm>
          <a:prstGeom prst="roundRect">
            <a:avLst>
              <a:gd name="adj" fmla="val 11618"/>
            </a:avLst>
          </a:prstGeom>
          <a:solidFill>
            <a:srgbClr val="111418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14614252" y="1959769"/>
            <a:ext cx="2435498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800" b="1" kern="0" spc="324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回数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4614252" y="2331244"/>
            <a:ext cx="2435498" cy="5095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2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10秒 × 5セット</a:t>
            </a:r>
          </a:p>
        </p:txBody>
      </p:sp>
      <p:sp>
        <p:nvSpPr>
          <p:cNvPr id="20" name="Shape 18"/>
          <p:cNvSpPr/>
          <p:nvPr/>
        </p:nvSpPr>
        <p:spPr>
          <a:xfrm>
            <a:off x="398718" y="2674620"/>
            <a:ext cx="8791001" cy="5765292"/>
          </a:xfrm>
          <a:prstGeom prst="roundRect">
            <a:avLst>
              <a:gd name="adj" fmla="val 2736"/>
            </a:avLst>
          </a:prstGeom>
          <a:solidFill>
            <a:srgbClr val="EAF1F9"/>
          </a:solidFill>
          <a:ln/>
        </p:spPr>
        <p:txBody>
          <a:bodyPr/>
          <a:p/>
        </p:txBody>
      </p:sp>
      <p:pic>
        <p:nvPicPr>
          <p:cNvPr id="21" name="Image 0" descr="preencoded.png"/>
          <p:cNvPicPr>
            <a:picLocks noChangeAspect="1"/>
          </p:cNvPicPr>
          <p:nvPr/>
        </p:nvPicPr>
        <p:blipFill rotWithShape="1">
          <a:blip r:embed="rId3"/>
          <a:srcRect l="18633" t="7629" r="17750" b="32381"/>
          <a:stretch/>
        </p:blipFill>
        <p:spPr>
          <a:xfrm>
            <a:off x="486628" y="3272425"/>
            <a:ext cx="8615180" cy="4569682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9527307" y="2678049"/>
            <a:ext cx="7944331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324" dirty="0">
                <a:solidFill>
                  <a:srgbClr val="6B7480"/>
                </a:solidFill>
                <a:latin typeface="Yu Gothic" pitchFamily="34" charset="0"/>
                <a:ea typeface="Arial" pitchFamily="34" charset="-122"/>
                <a:cs typeface="Arial" pitchFamily="34" charset="-120"/>
              </a:rPr>
              <a:t>手順</a:t>
            </a:r>
            <a:endParaRPr lang="en-US" sz="1800" dirty="0"/>
          </a:p>
        </p:txBody>
      </p:sp>
      <p:sp>
        <p:nvSpPr>
          <p:cNvPr id="24" name="Shape 21"/>
          <p:cNvSpPr/>
          <p:nvPr/>
        </p:nvSpPr>
        <p:spPr>
          <a:xfrm>
            <a:off x="9527307" y="3201924"/>
            <a:ext cx="7712943" cy="699104"/>
          </a:xfrm>
          <a:prstGeom prst="roundRect">
            <a:avLst>
              <a:gd name="adj" fmla="val 17073"/>
            </a:avLst>
          </a:prstGeom>
          <a:solidFill>
            <a:srgbClr val="FFFFFF"/>
          </a:solidFill>
          <a:ln w="9525">
            <a:solidFill>
              <a:srgbClr val="E3E6EA"/>
            </a:solidFill>
            <a:prstDash val="solid"/>
          </a:ln>
        </p:spPr>
        <p:txBody>
          <a:bodyPr/>
          <a:p/>
        </p:txBody>
      </p:sp>
      <p:sp>
        <p:nvSpPr>
          <p:cNvPr id="25" name="Shape 22"/>
          <p:cNvSpPr/>
          <p:nvPr/>
        </p:nvSpPr>
        <p:spPr>
          <a:xfrm>
            <a:off x="9746382" y="3363849"/>
            <a:ext cx="457200" cy="457200"/>
          </a:xfrm>
          <a:prstGeom prst="ellipse">
            <a:avLst/>
          </a:prstGeom>
          <a:solidFill>
            <a:srgbClr val="3B6EA8"/>
          </a:solidFill>
          <a:ln/>
        </p:spPr>
        <p:txBody>
          <a:bodyPr/>
          <a:p/>
        </p:txBody>
      </p:sp>
      <p:sp>
        <p:nvSpPr>
          <p:cNvPr id="26" name="Text 23"/>
          <p:cNvSpPr/>
          <p:nvPr/>
        </p:nvSpPr>
        <p:spPr>
          <a:xfrm>
            <a:off x="9708282" y="3363849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950" b="1" dirty="0">
                <a:solidFill>
                  <a:srgbClr val="FFFFFF"/>
                </a:solidFill>
                <a:latin typeface="Georgia" pitchFamily="34" charset="0"/>
              </a:rPr>
              <a:t>１</a:t>
            </a:r>
            <a:endParaRPr lang="en-US" sz="1950" dirty="0"/>
          </a:p>
        </p:txBody>
      </p:sp>
      <p:sp>
        <p:nvSpPr>
          <p:cNvPr id="27" name="Text 24"/>
          <p:cNvSpPr/>
          <p:nvPr/>
        </p:nvSpPr>
        <p:spPr>
          <a:xfrm>
            <a:off x="10527432" y="3332317"/>
            <a:ext cx="6688555" cy="4619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100" dirty="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仰向けで膝を伸ばした状態に寝ます。</a:t>
            </a:r>
          </a:p>
        </p:txBody>
      </p:sp>
      <p:sp>
        <p:nvSpPr>
          <p:cNvPr id="28" name="Shape 25"/>
          <p:cNvSpPr/>
          <p:nvPr/>
        </p:nvSpPr>
        <p:spPr>
          <a:xfrm>
            <a:off x="9527307" y="3990526"/>
            <a:ext cx="7712943" cy="1022442"/>
          </a:xfrm>
          <a:prstGeom prst="roundRect">
            <a:avLst>
              <a:gd name="adj" fmla="val 11382"/>
            </a:avLst>
          </a:prstGeom>
          <a:solidFill>
            <a:srgbClr val="FFFFFF"/>
          </a:solidFill>
          <a:ln w="9525">
            <a:solidFill>
              <a:srgbClr val="E3E6EA"/>
            </a:solidFill>
            <a:prstDash val="solid"/>
          </a:ln>
        </p:spPr>
        <p:txBody>
          <a:bodyPr/>
          <a:p/>
        </p:txBody>
      </p:sp>
      <p:sp>
        <p:nvSpPr>
          <p:cNvPr id="29" name="Shape 26"/>
          <p:cNvSpPr/>
          <p:nvPr/>
        </p:nvSpPr>
        <p:spPr>
          <a:xfrm>
            <a:off x="9746382" y="4259199"/>
            <a:ext cx="457200" cy="457200"/>
          </a:xfrm>
          <a:prstGeom prst="ellipse">
            <a:avLst/>
          </a:prstGeom>
          <a:solidFill>
            <a:srgbClr val="3B6EA8"/>
          </a:solidFill>
          <a:ln/>
        </p:spPr>
        <p:txBody>
          <a:bodyPr/>
          <a:p/>
        </p:txBody>
      </p:sp>
      <p:sp>
        <p:nvSpPr>
          <p:cNvPr id="30" name="Text 27"/>
          <p:cNvSpPr/>
          <p:nvPr/>
        </p:nvSpPr>
        <p:spPr>
          <a:xfrm>
            <a:off x="9708282" y="4259199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950" b="1" dirty="0">
                <a:solidFill>
                  <a:srgbClr val="FFFFFF"/>
                </a:solidFill>
                <a:latin typeface="Georgia" pitchFamily="34" charset="0"/>
              </a:rPr>
              <a:t>２</a:t>
            </a:r>
            <a:endParaRPr lang="en-US" sz="1950" dirty="0"/>
          </a:p>
        </p:txBody>
      </p:sp>
      <p:sp>
        <p:nvSpPr>
          <p:cNvPr id="31" name="Text 28"/>
          <p:cNvSpPr/>
          <p:nvPr/>
        </p:nvSpPr>
        <p:spPr>
          <a:xfrm>
            <a:off x="10527432" y="3991177"/>
            <a:ext cx="6688555" cy="8858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000" dirty="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お尻の筋肉にギュッと力を入れて10秒キープ</a:t>
            </a:r>
            <a:r>
              <a:rPr lang="ja-JP" altLang="en-US" sz="200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して</a:t>
            </a:r>
            <a:r>
              <a:rPr lang="en-US" sz="2000" dirty="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、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2000" dirty="0" err="1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ゆっくり力を抜きます</a:t>
            </a:r>
            <a:r>
              <a:rPr lang="en-US" sz="2000" dirty="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。</a:t>
            </a:r>
          </a:p>
        </p:txBody>
      </p:sp>
      <p:sp>
        <p:nvSpPr>
          <p:cNvPr id="32" name="Shape 29"/>
          <p:cNvSpPr/>
          <p:nvPr/>
        </p:nvSpPr>
        <p:spPr>
          <a:xfrm>
            <a:off x="9555882" y="5034296"/>
            <a:ext cx="7760568" cy="924223"/>
          </a:xfrm>
          <a:prstGeom prst="roundRect">
            <a:avLst>
              <a:gd name="adj" fmla="val 11812"/>
            </a:avLst>
          </a:prstGeom>
          <a:solidFill>
            <a:srgbClr val="FAF1DE"/>
          </a:solidFill>
          <a:ln/>
        </p:spPr>
        <p:txBody>
          <a:bodyPr/>
          <a:p/>
        </p:txBody>
      </p:sp>
      <p:sp>
        <p:nvSpPr>
          <p:cNvPr id="33" name="Shape 30"/>
          <p:cNvSpPr/>
          <p:nvPr/>
        </p:nvSpPr>
        <p:spPr>
          <a:xfrm>
            <a:off x="9736857" y="5244302"/>
            <a:ext cx="419100" cy="419100"/>
          </a:xfrm>
          <a:prstGeom prst="ellipse">
            <a:avLst/>
          </a:prstGeom>
          <a:solidFill>
            <a:srgbClr val="C98A2B"/>
          </a:solidFill>
          <a:ln/>
        </p:spPr>
        <p:txBody>
          <a:bodyPr/>
          <a:p/>
        </p:txBody>
      </p:sp>
      <p:sp>
        <p:nvSpPr>
          <p:cNvPr id="34" name="Text 31"/>
          <p:cNvSpPr/>
          <p:nvPr/>
        </p:nvSpPr>
        <p:spPr>
          <a:xfrm>
            <a:off x="9698757" y="5244302"/>
            <a:ext cx="49530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◎</a:t>
            </a:r>
            <a:endParaRPr lang="en-US" sz="1800" dirty="0"/>
          </a:p>
        </p:txBody>
      </p:sp>
      <p:sp>
        <p:nvSpPr>
          <p:cNvPr id="35" name="Text 32"/>
          <p:cNvSpPr/>
          <p:nvPr/>
        </p:nvSpPr>
        <p:spPr>
          <a:xfrm>
            <a:off x="10453137" y="5019536"/>
            <a:ext cx="6982376" cy="9481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2000" b="1" dirty="0" err="1">
                <a:solidFill>
                  <a:srgbClr val="5A3D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お尻に「キュッ」と力が入る感覚を意識</a:t>
            </a:r>
            <a:r>
              <a:rPr lang="ja-JP" altLang="en-US" sz="2000" b="1">
                <a:solidFill>
                  <a:srgbClr val="5A3D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します</a:t>
            </a:r>
            <a:r>
              <a:rPr lang="en-US" sz="2000" b="1" dirty="0">
                <a:solidFill>
                  <a:srgbClr val="5A3D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。</a:t>
            </a:r>
          </a:p>
          <a:p>
            <a:pPr marL="0" indent="0" algn="l">
              <a:lnSpc>
                <a:spcPct val="145000"/>
              </a:lnSpc>
              <a:buNone/>
            </a:pPr>
            <a:r>
              <a:rPr lang="en-US" sz="2000" b="1" dirty="0" err="1">
                <a:solidFill>
                  <a:srgbClr val="5A3D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臥床中でも筋力維持できます</a:t>
            </a:r>
            <a:r>
              <a:rPr lang="en-US" sz="2000" b="1" dirty="0">
                <a:solidFill>
                  <a:srgbClr val="5A3D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。</a:t>
            </a:r>
          </a:p>
        </p:txBody>
      </p:sp>
      <p:grpSp>
        <p:nvGrpSpPr>
          <p:cNvPr id="45" name="グループ化 44">
            <a:extLst>
              <a:ext uri="{FF2B5EF4-FFF2-40B4-BE49-F238E27FC236}">
                <a16:creationId xmlns:a16="http://schemas.microsoft.com/office/drawing/2014/main" id="{AB395CD1-E90D-6942-93B1-960382CEBC01}"/>
              </a:ext>
            </a:extLst>
          </p:cNvPr>
          <p:cNvGrpSpPr/>
          <p:nvPr/>
        </p:nvGrpSpPr>
        <p:grpSpPr>
          <a:xfrm>
            <a:off x="9527307" y="6195497"/>
            <a:ext cx="7789143" cy="990600"/>
            <a:chOff x="9527307" y="7197030"/>
            <a:chExt cx="7789143" cy="990600"/>
          </a:xfrm>
        </p:grpSpPr>
        <p:sp>
          <p:nvSpPr>
            <p:cNvPr id="36" name="Shape 33"/>
            <p:cNvSpPr/>
            <p:nvPr/>
          </p:nvSpPr>
          <p:spPr>
            <a:xfrm>
              <a:off x="9527307" y="7197030"/>
              <a:ext cx="7789143" cy="990600"/>
            </a:xfrm>
            <a:prstGeom prst="roundRect">
              <a:avLst>
                <a:gd name="adj" fmla="val 7692"/>
              </a:avLst>
            </a:prstGeom>
            <a:solidFill>
              <a:srgbClr val="FDECE8"/>
            </a:solidFill>
            <a:ln/>
          </p:spPr>
        </p:sp>
        <p:sp>
          <p:nvSpPr>
            <p:cNvPr id="37" name="Shape 34"/>
            <p:cNvSpPr/>
            <p:nvPr/>
          </p:nvSpPr>
          <p:spPr>
            <a:xfrm>
              <a:off x="9527307" y="7197030"/>
              <a:ext cx="57150" cy="990600"/>
            </a:xfrm>
            <a:prstGeom prst="rect">
              <a:avLst/>
            </a:prstGeom>
            <a:solidFill>
              <a:srgbClr val="E87362"/>
            </a:solidFill>
            <a:ln/>
          </p:spPr>
        </p:sp>
      </p:grpSp>
      <p:sp>
        <p:nvSpPr>
          <p:cNvPr id="38" name="Shape 35"/>
          <p:cNvSpPr/>
          <p:nvPr/>
        </p:nvSpPr>
        <p:spPr>
          <a:xfrm>
            <a:off x="9764783" y="6510671"/>
            <a:ext cx="457200" cy="457200"/>
          </a:xfrm>
          <a:prstGeom prst="ellipse">
            <a:avLst/>
          </a:prstGeom>
          <a:solidFill>
            <a:srgbClr val="E87362"/>
          </a:solidFill>
          <a:ln/>
        </p:spPr>
        <p:txBody>
          <a:bodyPr/>
          <a:p/>
        </p:txBody>
      </p:sp>
      <p:sp>
        <p:nvSpPr>
          <p:cNvPr id="39" name="Text 36"/>
          <p:cNvSpPr/>
          <p:nvPr/>
        </p:nvSpPr>
        <p:spPr>
          <a:xfrm>
            <a:off x="9710917" y="6510671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!</a:t>
            </a:r>
            <a:endParaRPr lang="en-US" sz="2100" dirty="0"/>
          </a:p>
        </p:txBody>
      </p:sp>
      <p:sp>
        <p:nvSpPr>
          <p:cNvPr id="40" name="Text 37"/>
          <p:cNvSpPr/>
          <p:nvPr/>
        </p:nvSpPr>
        <p:spPr>
          <a:xfrm>
            <a:off x="10453137" y="6445187"/>
            <a:ext cx="6772375" cy="7409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000" b="1" dirty="0" err="1">
                <a:solidFill>
                  <a:srgbClr val="5A1F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腰を反らせず、骨盤はニュートラルで行ってください。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97280" y="9052560"/>
            <a:ext cx="1609344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334155"/>
                </a:solidFill>
                <a:latin typeface="Yu Gothic"/>
              </a:rPr>
              <a:t>目的：</a:t>
            </a:r>
            <a:r>
              <a:rPr sz="2800">
                <a:solidFill>
                  <a:srgbClr val="334155"/>
                </a:solidFill>
                <a:latin typeface="Yu Gothic"/>
              </a:rPr>
              <a:t>お尻の筋肉を保ち、立つ・歩く動作を支えます。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7750" y="1687068"/>
            <a:ext cx="16192500" cy="19050"/>
          </a:xfrm>
          <a:prstGeom prst="rect">
            <a:avLst/>
          </a:prstGeom>
          <a:solidFill>
            <a:srgbClr val="111418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638603" y="727023"/>
            <a:ext cx="11977853" cy="695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ja-JP" altLang="en-US" sz="4500" b="1">
                <a:solidFill>
                  <a:srgbClr val="1114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ヒールスライド</a:t>
            </a:r>
          </a:p>
        </p:txBody>
      </p:sp>
      <p:sp>
        <p:nvSpPr>
          <p:cNvPr id="17" name="Shape 15"/>
          <p:cNvSpPr/>
          <p:nvPr/>
        </p:nvSpPr>
        <p:spPr>
          <a:xfrm>
            <a:off x="14353133" y="1807369"/>
            <a:ext cx="2887117" cy="1147763"/>
          </a:xfrm>
          <a:prstGeom prst="roundRect">
            <a:avLst>
              <a:gd name="adj" fmla="val 11618"/>
            </a:avLst>
          </a:prstGeom>
          <a:solidFill>
            <a:srgbClr val="111418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14543633" y="1959769"/>
            <a:ext cx="2506117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800" b="1" kern="0" spc="324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回数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4543633" y="2331244"/>
            <a:ext cx="2506117" cy="5095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2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10回 × 2セット</a:t>
            </a:r>
          </a:p>
        </p:txBody>
      </p:sp>
      <p:sp>
        <p:nvSpPr>
          <p:cNvPr id="20" name="Shape 18"/>
          <p:cNvSpPr/>
          <p:nvPr/>
        </p:nvSpPr>
        <p:spPr>
          <a:xfrm>
            <a:off x="398718" y="2674620"/>
            <a:ext cx="8791001" cy="5765292"/>
          </a:xfrm>
          <a:prstGeom prst="roundRect">
            <a:avLst>
              <a:gd name="adj" fmla="val 2736"/>
            </a:avLst>
          </a:prstGeom>
          <a:solidFill>
            <a:srgbClr val="EAF1F9"/>
          </a:solidFill>
          <a:ln/>
        </p:spPr>
        <p:txBody>
          <a:bodyPr/>
          <a:p/>
        </p:txBody>
      </p:sp>
      <p:sp>
        <p:nvSpPr>
          <p:cNvPr id="23" name="Text 20"/>
          <p:cNvSpPr/>
          <p:nvPr/>
        </p:nvSpPr>
        <p:spPr>
          <a:xfrm>
            <a:off x="9527307" y="2678049"/>
            <a:ext cx="7944331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324" dirty="0">
                <a:solidFill>
                  <a:srgbClr val="6B7480"/>
                </a:solidFill>
                <a:latin typeface="Yu Gothic" pitchFamily="34" charset="0"/>
                <a:ea typeface="Arial" pitchFamily="34" charset="-122"/>
                <a:cs typeface="Arial" pitchFamily="34" charset="-120"/>
              </a:rPr>
              <a:t>手順</a:t>
            </a:r>
            <a:endParaRPr lang="en-US" sz="1800" dirty="0"/>
          </a:p>
        </p:txBody>
      </p:sp>
      <p:sp>
        <p:nvSpPr>
          <p:cNvPr id="24" name="Shape 21"/>
          <p:cNvSpPr/>
          <p:nvPr/>
        </p:nvSpPr>
        <p:spPr>
          <a:xfrm>
            <a:off x="9527307" y="3201924"/>
            <a:ext cx="7712943" cy="781050"/>
          </a:xfrm>
          <a:prstGeom prst="roundRect">
            <a:avLst>
              <a:gd name="adj" fmla="val 17073"/>
            </a:avLst>
          </a:prstGeom>
          <a:solidFill>
            <a:srgbClr val="FFFFFF"/>
          </a:solidFill>
          <a:ln w="9525">
            <a:solidFill>
              <a:srgbClr val="E3E6EA"/>
            </a:solidFill>
            <a:prstDash val="solid"/>
          </a:ln>
        </p:spPr>
        <p:txBody>
          <a:bodyPr/>
          <a:p/>
        </p:txBody>
      </p:sp>
      <p:sp>
        <p:nvSpPr>
          <p:cNvPr id="25" name="Shape 22"/>
          <p:cNvSpPr/>
          <p:nvPr/>
        </p:nvSpPr>
        <p:spPr>
          <a:xfrm>
            <a:off x="9746382" y="3363849"/>
            <a:ext cx="457200" cy="457200"/>
          </a:xfrm>
          <a:prstGeom prst="ellipse">
            <a:avLst/>
          </a:prstGeom>
          <a:solidFill>
            <a:srgbClr val="3B6EA8"/>
          </a:solidFill>
          <a:ln/>
        </p:spPr>
        <p:txBody>
          <a:bodyPr/>
          <a:p/>
        </p:txBody>
      </p:sp>
      <p:sp>
        <p:nvSpPr>
          <p:cNvPr id="26" name="Text 23"/>
          <p:cNvSpPr/>
          <p:nvPr/>
        </p:nvSpPr>
        <p:spPr>
          <a:xfrm>
            <a:off x="9708282" y="3328679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950" b="1" dirty="0">
                <a:solidFill>
                  <a:srgbClr val="FFFFFF"/>
                </a:solidFill>
                <a:latin typeface="Georgia" pitchFamily="34" charset="0"/>
              </a:rPr>
              <a:t>１</a:t>
            </a:r>
            <a:endParaRPr lang="en-US" sz="1950" dirty="0"/>
          </a:p>
        </p:txBody>
      </p:sp>
      <p:sp>
        <p:nvSpPr>
          <p:cNvPr id="27" name="Text 24"/>
          <p:cNvSpPr/>
          <p:nvPr/>
        </p:nvSpPr>
        <p:spPr>
          <a:xfrm>
            <a:off x="10527432" y="3328679"/>
            <a:ext cx="6688555" cy="4619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ja-JP" altLang="en-US" sz="2000" b="1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仰向けに寝て、両膝を伸ばします。</a:t>
            </a:r>
          </a:p>
        </p:txBody>
      </p:sp>
      <p:sp>
        <p:nvSpPr>
          <p:cNvPr id="28" name="Shape 25"/>
          <p:cNvSpPr/>
          <p:nvPr/>
        </p:nvSpPr>
        <p:spPr>
          <a:xfrm>
            <a:off x="9527307" y="4103868"/>
            <a:ext cx="7712943" cy="867323"/>
          </a:xfrm>
          <a:prstGeom prst="roundRect">
            <a:avLst>
              <a:gd name="adj" fmla="val 11618"/>
            </a:avLst>
          </a:prstGeom>
          <a:solidFill>
            <a:srgbClr val="FFFFFF"/>
          </a:solidFill>
          <a:ln w="9525">
            <a:solidFill>
              <a:srgbClr val="E3E6EA"/>
            </a:solidFill>
            <a:prstDash val="solid"/>
          </a:ln>
        </p:spPr>
        <p:txBody>
          <a:bodyPr/>
          <a:p/>
        </p:txBody>
      </p:sp>
      <p:sp>
        <p:nvSpPr>
          <p:cNvPr id="29" name="Shape 26"/>
          <p:cNvSpPr/>
          <p:nvPr/>
        </p:nvSpPr>
        <p:spPr>
          <a:xfrm>
            <a:off x="9746382" y="4259199"/>
            <a:ext cx="457200" cy="457200"/>
          </a:xfrm>
          <a:prstGeom prst="ellipse">
            <a:avLst/>
          </a:prstGeom>
          <a:solidFill>
            <a:srgbClr val="3B6EA8"/>
          </a:solidFill>
          <a:ln/>
        </p:spPr>
        <p:txBody>
          <a:bodyPr/>
          <a:p/>
        </p:txBody>
      </p:sp>
      <p:sp>
        <p:nvSpPr>
          <p:cNvPr id="30" name="Text 27"/>
          <p:cNvSpPr/>
          <p:nvPr/>
        </p:nvSpPr>
        <p:spPr>
          <a:xfrm>
            <a:off x="9708282" y="4224029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950" b="1" dirty="0">
                <a:solidFill>
                  <a:srgbClr val="FFFFFF"/>
                </a:solidFill>
                <a:latin typeface="Georgia" pitchFamily="34" charset="0"/>
              </a:rPr>
              <a:t>２</a:t>
            </a:r>
            <a:endParaRPr lang="en-US" sz="1950" dirty="0"/>
          </a:p>
        </p:txBody>
      </p:sp>
      <p:sp>
        <p:nvSpPr>
          <p:cNvPr id="31" name="Text 28"/>
          <p:cNvSpPr/>
          <p:nvPr/>
        </p:nvSpPr>
        <p:spPr>
          <a:xfrm>
            <a:off x="10527432" y="4206444"/>
            <a:ext cx="6688555" cy="7620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000" dirty="0" err="1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かかとを床に滑らせて、ゆっくり片膝を曲げていきます。</a:t>
            </a:r>
          </a:p>
        </p:txBody>
      </p:sp>
      <p:sp>
        <p:nvSpPr>
          <p:cNvPr id="32" name="Shape 29"/>
          <p:cNvSpPr/>
          <p:nvPr/>
        </p:nvSpPr>
        <p:spPr>
          <a:xfrm>
            <a:off x="9527307" y="5227870"/>
            <a:ext cx="7712943" cy="912517"/>
          </a:xfrm>
          <a:prstGeom prst="roundRect">
            <a:avLst>
              <a:gd name="adj" fmla="val 17073"/>
            </a:avLst>
          </a:prstGeom>
          <a:solidFill>
            <a:srgbClr val="FFFFFF"/>
          </a:solidFill>
          <a:ln w="9525">
            <a:solidFill>
              <a:srgbClr val="E3E6EA"/>
            </a:solidFill>
            <a:prstDash val="solid"/>
          </a:ln>
        </p:spPr>
        <p:txBody>
          <a:bodyPr/>
          <a:p/>
        </p:txBody>
      </p:sp>
      <p:sp>
        <p:nvSpPr>
          <p:cNvPr id="33" name="Shape 30"/>
          <p:cNvSpPr/>
          <p:nvPr/>
        </p:nvSpPr>
        <p:spPr>
          <a:xfrm>
            <a:off x="9746382" y="5521262"/>
            <a:ext cx="457200" cy="457200"/>
          </a:xfrm>
          <a:prstGeom prst="ellipse">
            <a:avLst/>
          </a:prstGeom>
          <a:solidFill>
            <a:srgbClr val="3B6EA8"/>
          </a:solidFill>
          <a:ln/>
        </p:spPr>
        <p:txBody>
          <a:bodyPr/>
          <a:p/>
        </p:txBody>
      </p:sp>
      <p:sp>
        <p:nvSpPr>
          <p:cNvPr id="34" name="Text 31"/>
          <p:cNvSpPr/>
          <p:nvPr/>
        </p:nvSpPr>
        <p:spPr>
          <a:xfrm>
            <a:off x="9708282" y="5486092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950" b="1" dirty="0">
                <a:solidFill>
                  <a:srgbClr val="FFFFFF"/>
                </a:solidFill>
                <a:latin typeface="Georgia" pitchFamily="34" charset="0"/>
              </a:rPr>
              <a:t>３</a:t>
            </a:r>
            <a:endParaRPr lang="en-US" sz="1950" dirty="0"/>
          </a:p>
        </p:txBody>
      </p:sp>
      <p:sp>
        <p:nvSpPr>
          <p:cNvPr id="35" name="Text 32"/>
          <p:cNvSpPr/>
          <p:nvPr/>
        </p:nvSpPr>
        <p:spPr>
          <a:xfrm>
            <a:off x="10527432" y="5218672"/>
            <a:ext cx="6688555" cy="9334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000" dirty="0" err="1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痛くない範囲まで曲げたら、ゆっくり伸ばして戻します</a:t>
            </a:r>
            <a:r>
              <a:rPr lang="en-US" sz="2000" dirty="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。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2000" dirty="0" err="1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反対側も同じように</a:t>
            </a:r>
            <a:r>
              <a:rPr lang="en-US" sz="2000" dirty="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。</a:t>
            </a:r>
          </a:p>
        </p:txBody>
      </p:sp>
      <p:sp>
        <p:nvSpPr>
          <p:cNvPr id="36" name="Shape 33"/>
          <p:cNvSpPr/>
          <p:nvPr/>
        </p:nvSpPr>
        <p:spPr>
          <a:xfrm>
            <a:off x="9527307" y="6330887"/>
            <a:ext cx="7712943" cy="967680"/>
          </a:xfrm>
          <a:prstGeom prst="roundRect">
            <a:avLst>
              <a:gd name="adj" fmla="val 11812"/>
            </a:avLst>
          </a:prstGeom>
          <a:solidFill>
            <a:srgbClr val="FAF1DE"/>
          </a:solidFill>
          <a:ln/>
        </p:spPr>
        <p:txBody>
          <a:bodyPr/>
          <a:p/>
        </p:txBody>
      </p:sp>
      <p:sp>
        <p:nvSpPr>
          <p:cNvPr id="37" name="Shape 34"/>
          <p:cNvSpPr/>
          <p:nvPr/>
        </p:nvSpPr>
        <p:spPr>
          <a:xfrm>
            <a:off x="9736857" y="6605177"/>
            <a:ext cx="419100" cy="419100"/>
          </a:xfrm>
          <a:prstGeom prst="ellipse">
            <a:avLst/>
          </a:prstGeom>
          <a:solidFill>
            <a:srgbClr val="C98A2B"/>
          </a:solidFill>
          <a:ln/>
        </p:spPr>
        <p:txBody>
          <a:bodyPr/>
          <a:p/>
        </p:txBody>
      </p:sp>
      <p:sp>
        <p:nvSpPr>
          <p:cNvPr id="38" name="Text 35"/>
          <p:cNvSpPr/>
          <p:nvPr/>
        </p:nvSpPr>
        <p:spPr>
          <a:xfrm>
            <a:off x="9698757" y="6605177"/>
            <a:ext cx="49530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◎</a:t>
            </a:r>
            <a:endParaRPr lang="en-US" sz="1800" dirty="0"/>
          </a:p>
        </p:txBody>
      </p:sp>
      <p:sp>
        <p:nvSpPr>
          <p:cNvPr id="39" name="Text 36"/>
          <p:cNvSpPr/>
          <p:nvPr/>
        </p:nvSpPr>
        <p:spPr>
          <a:xfrm>
            <a:off x="10441707" y="6502915"/>
            <a:ext cx="6786663" cy="6738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ja-JP" altLang="en-US" sz="2000" b="1">
                <a:solidFill>
                  <a:srgbClr val="3D28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関節こわばり対策に。臥床期でもベッド上で行えます。</a:t>
            </a:r>
          </a:p>
        </p:txBody>
      </p:sp>
      <p:pic>
        <p:nvPicPr>
          <p:cNvPr id="44" name="図 43">
            <a:extLst>
              <a:ext uri="{FF2B5EF4-FFF2-40B4-BE49-F238E27FC236}">
                <a16:creationId xmlns:a16="http://schemas.microsoft.com/office/drawing/2014/main" id="{5D8FEF07-D62F-BC4A-AE08-299360A73BE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8492" r="373" b="30880"/>
          <a:stretch/>
        </p:blipFill>
        <p:spPr>
          <a:xfrm>
            <a:off x="486628" y="4146548"/>
            <a:ext cx="8615180" cy="2821435"/>
          </a:xfrm>
          <a:prstGeom prst="rect">
            <a:avLst/>
          </a:prstGeom>
        </p:spPr>
      </p:pic>
      <p:sp>
        <p:nvSpPr>
          <p:cNvPr id="45" name="TextBox 44"/>
          <p:cNvSpPr txBox="1"/>
          <p:nvPr/>
        </p:nvSpPr>
        <p:spPr>
          <a:xfrm>
            <a:off x="1097280" y="9052560"/>
            <a:ext cx="1609344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334155"/>
                </a:solidFill>
                <a:latin typeface="Yu Gothic"/>
              </a:rPr>
              <a:t>目的：</a:t>
            </a:r>
            <a:r>
              <a:rPr sz="2800">
                <a:solidFill>
                  <a:srgbClr val="334155"/>
                </a:solidFill>
                <a:latin typeface="Yu Gothic"/>
              </a:rPr>
              <a:t>膝をやさしく曲げ伸ばしし、足の動きを保ちます。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7750" y="1687068"/>
            <a:ext cx="16192500" cy="19050"/>
          </a:xfrm>
          <a:prstGeom prst="rect">
            <a:avLst/>
          </a:prstGeom>
          <a:solidFill>
            <a:srgbClr val="111418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638603" y="727023"/>
            <a:ext cx="12050590" cy="695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4500" b="1" dirty="0">
                <a:solidFill>
                  <a:srgbClr val="1114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仰向けで両手を頭上に</a:t>
            </a:r>
          </a:p>
        </p:txBody>
      </p:sp>
      <p:sp>
        <p:nvSpPr>
          <p:cNvPr id="17" name="Shape 15"/>
          <p:cNvSpPr/>
          <p:nvPr/>
        </p:nvSpPr>
        <p:spPr>
          <a:xfrm>
            <a:off x="14423752" y="1807369"/>
            <a:ext cx="2816498" cy="1147763"/>
          </a:xfrm>
          <a:prstGeom prst="roundRect">
            <a:avLst>
              <a:gd name="adj" fmla="val 11618"/>
            </a:avLst>
          </a:prstGeom>
          <a:solidFill>
            <a:srgbClr val="111418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14614252" y="1959769"/>
            <a:ext cx="2435498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800" b="1" kern="0" spc="324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回数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4614252" y="2331244"/>
            <a:ext cx="2435498" cy="5095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2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10回 × 2セット</a:t>
            </a:r>
          </a:p>
        </p:txBody>
      </p:sp>
      <p:sp>
        <p:nvSpPr>
          <p:cNvPr id="20" name="Shape 18"/>
          <p:cNvSpPr/>
          <p:nvPr/>
        </p:nvSpPr>
        <p:spPr>
          <a:xfrm>
            <a:off x="398718" y="2674620"/>
            <a:ext cx="8791001" cy="5765292"/>
          </a:xfrm>
          <a:prstGeom prst="roundRect">
            <a:avLst>
              <a:gd name="adj" fmla="val 2736"/>
            </a:avLst>
          </a:prstGeom>
          <a:solidFill>
            <a:srgbClr val="EAF1F9"/>
          </a:solidFill>
          <a:ln/>
        </p:spPr>
        <p:txBody>
          <a:bodyPr/>
          <a:p/>
        </p:txBody>
      </p:sp>
      <p:pic>
        <p:nvPicPr>
          <p:cNvPr id="21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18493" y="2818752"/>
            <a:ext cx="8351450" cy="5477027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9527307" y="2678049"/>
            <a:ext cx="7944331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324" dirty="0">
                <a:solidFill>
                  <a:srgbClr val="6B7480"/>
                </a:solidFill>
                <a:latin typeface="Yu Gothic" pitchFamily="34" charset="0"/>
                <a:ea typeface="Arial" pitchFamily="34" charset="-122"/>
                <a:cs typeface="Arial" pitchFamily="34" charset="-120"/>
              </a:rPr>
              <a:t>手順</a:t>
            </a:r>
            <a:endParaRPr lang="en-US" sz="1800" dirty="0"/>
          </a:p>
        </p:txBody>
      </p:sp>
      <p:sp>
        <p:nvSpPr>
          <p:cNvPr id="24" name="Shape 21"/>
          <p:cNvSpPr/>
          <p:nvPr/>
        </p:nvSpPr>
        <p:spPr>
          <a:xfrm>
            <a:off x="9527307" y="3201924"/>
            <a:ext cx="7712943" cy="781050"/>
          </a:xfrm>
          <a:prstGeom prst="roundRect">
            <a:avLst>
              <a:gd name="adj" fmla="val 17073"/>
            </a:avLst>
          </a:prstGeom>
          <a:solidFill>
            <a:srgbClr val="FFFFFF"/>
          </a:solidFill>
          <a:ln w="9525">
            <a:solidFill>
              <a:srgbClr val="E3E6EA"/>
            </a:solidFill>
            <a:prstDash val="solid"/>
          </a:ln>
        </p:spPr>
        <p:txBody>
          <a:bodyPr/>
          <a:p/>
        </p:txBody>
      </p:sp>
      <p:sp>
        <p:nvSpPr>
          <p:cNvPr id="25" name="Shape 22"/>
          <p:cNvSpPr/>
          <p:nvPr/>
        </p:nvSpPr>
        <p:spPr>
          <a:xfrm>
            <a:off x="9746382" y="3363849"/>
            <a:ext cx="457200" cy="457200"/>
          </a:xfrm>
          <a:prstGeom prst="ellipse">
            <a:avLst/>
          </a:prstGeom>
          <a:solidFill>
            <a:srgbClr val="3B6EA8"/>
          </a:solidFill>
          <a:ln/>
        </p:spPr>
        <p:txBody>
          <a:bodyPr/>
          <a:p/>
        </p:txBody>
      </p:sp>
      <p:sp>
        <p:nvSpPr>
          <p:cNvPr id="26" name="Text 23"/>
          <p:cNvSpPr/>
          <p:nvPr/>
        </p:nvSpPr>
        <p:spPr>
          <a:xfrm>
            <a:off x="9708282" y="3363849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950" b="1" dirty="0">
                <a:solidFill>
                  <a:srgbClr val="FFFFFF"/>
                </a:solidFill>
                <a:latin typeface="Georgia" pitchFamily="34" charset="0"/>
              </a:rPr>
              <a:t>１</a:t>
            </a:r>
            <a:endParaRPr lang="en-US" sz="1950" dirty="0"/>
          </a:p>
        </p:txBody>
      </p:sp>
      <p:sp>
        <p:nvSpPr>
          <p:cNvPr id="27" name="Text 24"/>
          <p:cNvSpPr/>
          <p:nvPr/>
        </p:nvSpPr>
        <p:spPr>
          <a:xfrm>
            <a:off x="10527432" y="3332317"/>
            <a:ext cx="6688555" cy="4619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000" dirty="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仰向けに寝て、両手を体の横に置きます。</a:t>
            </a:r>
          </a:p>
        </p:txBody>
      </p:sp>
      <p:sp>
        <p:nvSpPr>
          <p:cNvPr id="28" name="Shape 25"/>
          <p:cNvSpPr/>
          <p:nvPr/>
        </p:nvSpPr>
        <p:spPr>
          <a:xfrm>
            <a:off x="9527307" y="4097273"/>
            <a:ext cx="7712943" cy="916781"/>
          </a:xfrm>
          <a:prstGeom prst="roundRect">
            <a:avLst>
              <a:gd name="adj" fmla="val 17073"/>
            </a:avLst>
          </a:prstGeom>
          <a:solidFill>
            <a:srgbClr val="FFFFFF"/>
          </a:solidFill>
          <a:ln w="9525">
            <a:solidFill>
              <a:srgbClr val="E3E6EA"/>
            </a:solidFill>
            <a:prstDash val="solid"/>
          </a:ln>
        </p:spPr>
        <p:txBody>
          <a:bodyPr/>
          <a:p/>
        </p:txBody>
      </p:sp>
      <p:sp>
        <p:nvSpPr>
          <p:cNvPr id="29" name="Shape 26"/>
          <p:cNvSpPr/>
          <p:nvPr/>
        </p:nvSpPr>
        <p:spPr>
          <a:xfrm>
            <a:off x="9746382" y="4259199"/>
            <a:ext cx="457200" cy="457200"/>
          </a:xfrm>
          <a:prstGeom prst="ellipse">
            <a:avLst/>
          </a:prstGeom>
          <a:solidFill>
            <a:srgbClr val="3B6EA8"/>
          </a:solidFill>
          <a:ln/>
        </p:spPr>
        <p:txBody>
          <a:bodyPr/>
          <a:p/>
        </p:txBody>
      </p:sp>
      <p:sp>
        <p:nvSpPr>
          <p:cNvPr id="30" name="Text 27"/>
          <p:cNvSpPr/>
          <p:nvPr/>
        </p:nvSpPr>
        <p:spPr>
          <a:xfrm>
            <a:off x="9708282" y="4259199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950" b="1" dirty="0">
                <a:solidFill>
                  <a:srgbClr val="FFFFFF"/>
                </a:solidFill>
                <a:latin typeface="Georgia" pitchFamily="34" charset="0"/>
              </a:rPr>
              <a:t>２</a:t>
            </a:r>
            <a:endParaRPr lang="en-US" sz="1950" dirty="0"/>
          </a:p>
        </p:txBody>
      </p:sp>
      <p:sp>
        <p:nvSpPr>
          <p:cNvPr id="31" name="Text 28"/>
          <p:cNvSpPr/>
          <p:nvPr/>
        </p:nvSpPr>
        <p:spPr>
          <a:xfrm>
            <a:off x="10536957" y="4073963"/>
            <a:ext cx="6688555" cy="861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000" dirty="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両手をゆっくり頭の上に伸ばし、5秒キープしてゆっくり下ろします。</a:t>
            </a:r>
          </a:p>
        </p:txBody>
      </p:sp>
      <p:sp>
        <p:nvSpPr>
          <p:cNvPr id="32" name="Shape 29"/>
          <p:cNvSpPr/>
          <p:nvPr/>
        </p:nvSpPr>
        <p:spPr>
          <a:xfrm>
            <a:off x="9527307" y="5068824"/>
            <a:ext cx="7712943" cy="967680"/>
          </a:xfrm>
          <a:prstGeom prst="roundRect">
            <a:avLst>
              <a:gd name="adj" fmla="val 11812"/>
            </a:avLst>
          </a:prstGeom>
          <a:solidFill>
            <a:srgbClr val="FAF1DE"/>
          </a:solidFill>
          <a:ln/>
        </p:spPr>
        <p:txBody>
          <a:bodyPr/>
          <a:p/>
        </p:txBody>
      </p:sp>
      <p:sp>
        <p:nvSpPr>
          <p:cNvPr id="33" name="Shape 30"/>
          <p:cNvSpPr/>
          <p:nvPr/>
        </p:nvSpPr>
        <p:spPr>
          <a:xfrm>
            <a:off x="9784482" y="5335524"/>
            <a:ext cx="419100" cy="419100"/>
          </a:xfrm>
          <a:prstGeom prst="ellipse">
            <a:avLst/>
          </a:prstGeom>
          <a:solidFill>
            <a:srgbClr val="C98A2B"/>
          </a:solidFill>
          <a:ln/>
        </p:spPr>
        <p:txBody>
          <a:bodyPr/>
          <a:p/>
        </p:txBody>
      </p:sp>
      <p:sp>
        <p:nvSpPr>
          <p:cNvPr id="34" name="Text 31"/>
          <p:cNvSpPr/>
          <p:nvPr/>
        </p:nvSpPr>
        <p:spPr>
          <a:xfrm>
            <a:off x="9746382" y="5335524"/>
            <a:ext cx="49530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◎</a:t>
            </a:r>
            <a:endParaRPr lang="en-US" sz="1800" dirty="0"/>
          </a:p>
        </p:txBody>
      </p:sp>
      <p:sp>
        <p:nvSpPr>
          <p:cNvPr id="35" name="Text 32"/>
          <p:cNvSpPr/>
          <p:nvPr/>
        </p:nvSpPr>
        <p:spPr>
          <a:xfrm>
            <a:off x="10441707" y="5079330"/>
            <a:ext cx="6786663" cy="9906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2000" b="1" dirty="0" err="1">
                <a:solidFill>
                  <a:srgbClr val="5A3D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猫背で固くなった胸郭が広がり、呼吸も深くなります</a:t>
            </a:r>
            <a:r>
              <a:rPr lang="en-US" sz="2000" b="1" dirty="0">
                <a:solidFill>
                  <a:srgbClr val="5A3D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。</a:t>
            </a:r>
          </a:p>
          <a:p>
            <a:pPr marL="0" indent="0" algn="l">
              <a:lnSpc>
                <a:spcPct val="145000"/>
              </a:lnSpc>
              <a:buNone/>
            </a:pPr>
            <a:r>
              <a:rPr lang="en-US" sz="2000" b="1" dirty="0" err="1">
                <a:solidFill>
                  <a:srgbClr val="5A3D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圧迫骨折後の円背予防に</a:t>
            </a:r>
            <a:r>
              <a:rPr lang="en-US" sz="2000" b="1" dirty="0">
                <a:solidFill>
                  <a:srgbClr val="5A3D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。</a:t>
            </a:r>
          </a:p>
        </p:txBody>
      </p:sp>
      <p:sp>
        <p:nvSpPr>
          <p:cNvPr id="36" name="Shape 33"/>
          <p:cNvSpPr/>
          <p:nvPr/>
        </p:nvSpPr>
        <p:spPr>
          <a:xfrm>
            <a:off x="9527307" y="6227004"/>
            <a:ext cx="7712943" cy="1015902"/>
          </a:xfrm>
          <a:prstGeom prst="roundRect">
            <a:avLst>
              <a:gd name="adj" fmla="val 10000"/>
            </a:avLst>
          </a:prstGeom>
          <a:solidFill>
            <a:srgbClr val="FDECE8"/>
          </a:solidFill>
          <a:ln/>
        </p:spPr>
        <p:txBody>
          <a:bodyPr/>
          <a:p/>
        </p:txBody>
      </p:sp>
      <p:sp>
        <p:nvSpPr>
          <p:cNvPr id="37" name="Shape 34"/>
          <p:cNvSpPr/>
          <p:nvPr/>
        </p:nvSpPr>
        <p:spPr>
          <a:xfrm>
            <a:off x="9527307" y="6227004"/>
            <a:ext cx="45719" cy="1015902"/>
          </a:xfrm>
          <a:prstGeom prst="rect">
            <a:avLst/>
          </a:prstGeom>
          <a:solidFill>
            <a:srgbClr val="E87362"/>
          </a:solidFill>
          <a:ln/>
        </p:spPr>
        <p:txBody>
          <a:bodyPr/>
          <a:p/>
        </p:txBody>
      </p:sp>
      <p:sp>
        <p:nvSpPr>
          <p:cNvPr id="38" name="Shape 35"/>
          <p:cNvSpPr/>
          <p:nvPr/>
        </p:nvSpPr>
        <p:spPr>
          <a:xfrm>
            <a:off x="9794007" y="6379404"/>
            <a:ext cx="457200" cy="457200"/>
          </a:xfrm>
          <a:prstGeom prst="ellipse">
            <a:avLst/>
          </a:prstGeom>
          <a:solidFill>
            <a:srgbClr val="E87362"/>
          </a:solidFill>
          <a:ln/>
        </p:spPr>
        <p:txBody>
          <a:bodyPr/>
          <a:p/>
        </p:txBody>
      </p:sp>
      <p:sp>
        <p:nvSpPr>
          <p:cNvPr id="39" name="Text 36"/>
          <p:cNvSpPr/>
          <p:nvPr/>
        </p:nvSpPr>
        <p:spPr>
          <a:xfrm>
            <a:off x="9755907" y="6379404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!</a:t>
            </a:r>
            <a:endParaRPr lang="en-US" sz="2100" dirty="0"/>
          </a:p>
        </p:txBody>
      </p:sp>
      <p:sp>
        <p:nvSpPr>
          <p:cNvPr id="40" name="Text 37"/>
          <p:cNvSpPr/>
          <p:nvPr/>
        </p:nvSpPr>
        <p:spPr>
          <a:xfrm>
            <a:off x="10536957" y="6373489"/>
            <a:ext cx="6688555" cy="5122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000" b="1" dirty="0">
                <a:solidFill>
                  <a:srgbClr val="7A2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肩や腰に強い痛みが出たら中止してください。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97280" y="9052560"/>
            <a:ext cx="1609344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334155"/>
                </a:solidFill>
                <a:latin typeface="Yu Gothic"/>
              </a:rPr>
              <a:t>目的：</a:t>
            </a:r>
            <a:r>
              <a:rPr sz="2800">
                <a:solidFill>
                  <a:srgbClr val="334155"/>
                </a:solidFill>
                <a:latin typeface="Yu Gothic"/>
              </a:rPr>
              <a:t>背すじを伸ばし、丸まりやすい姿勢を整えます。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7750" y="1687068"/>
            <a:ext cx="16192500" cy="19050"/>
          </a:xfrm>
          <a:prstGeom prst="rect">
            <a:avLst/>
          </a:prstGeom>
          <a:solidFill>
            <a:srgbClr val="111418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638603" y="727023"/>
            <a:ext cx="11586649" cy="695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4500" b="1" dirty="0">
                <a:solidFill>
                  <a:srgbClr val="1114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肩甲骨寄せ運動</a:t>
            </a:r>
          </a:p>
        </p:txBody>
      </p:sp>
      <p:sp>
        <p:nvSpPr>
          <p:cNvPr id="15" name="Shape 13"/>
          <p:cNvSpPr/>
          <p:nvPr/>
        </p:nvSpPr>
        <p:spPr>
          <a:xfrm>
            <a:off x="13973324" y="1807369"/>
            <a:ext cx="3266926" cy="1147763"/>
          </a:xfrm>
          <a:prstGeom prst="roundRect">
            <a:avLst>
              <a:gd name="adj" fmla="val 11618"/>
            </a:avLst>
          </a:prstGeom>
          <a:solidFill>
            <a:srgbClr val="111418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14159778" y="1959769"/>
            <a:ext cx="2894018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800" b="1" kern="0" spc="324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回数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4159778" y="2331244"/>
            <a:ext cx="2894018" cy="5095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2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10回 × 2セット</a:t>
            </a:r>
          </a:p>
        </p:txBody>
      </p:sp>
      <p:sp>
        <p:nvSpPr>
          <p:cNvPr id="18" name="Shape 16"/>
          <p:cNvSpPr/>
          <p:nvPr/>
        </p:nvSpPr>
        <p:spPr>
          <a:xfrm>
            <a:off x="398718" y="2674620"/>
            <a:ext cx="8791001" cy="5765292"/>
          </a:xfrm>
          <a:prstGeom prst="roundRect">
            <a:avLst>
              <a:gd name="adj" fmla="val 2736"/>
            </a:avLst>
          </a:prstGeom>
          <a:solidFill>
            <a:srgbClr val="EAF1F9"/>
          </a:solidFill>
          <a:ln/>
        </p:spPr>
        <p:txBody>
          <a:bodyPr/>
          <a:p/>
        </p:txBody>
      </p:sp>
      <p:sp>
        <p:nvSpPr>
          <p:cNvPr id="21" name="Text 18"/>
          <p:cNvSpPr/>
          <p:nvPr/>
        </p:nvSpPr>
        <p:spPr>
          <a:xfrm>
            <a:off x="9527307" y="2678049"/>
            <a:ext cx="7944331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324" dirty="0">
                <a:solidFill>
                  <a:srgbClr val="6B7480"/>
                </a:solidFill>
                <a:latin typeface="Yu Gothic" pitchFamily="34" charset="0"/>
                <a:ea typeface="Arial" pitchFamily="34" charset="-122"/>
                <a:cs typeface="Arial" pitchFamily="34" charset="-120"/>
              </a:rPr>
              <a:t>手順</a:t>
            </a:r>
            <a:endParaRPr lang="en-US" sz="1800" dirty="0"/>
          </a:p>
        </p:txBody>
      </p:sp>
      <p:sp>
        <p:nvSpPr>
          <p:cNvPr id="22" name="Shape 19"/>
          <p:cNvSpPr/>
          <p:nvPr/>
        </p:nvSpPr>
        <p:spPr>
          <a:xfrm>
            <a:off x="9527307" y="3201924"/>
            <a:ext cx="7712943" cy="781050"/>
          </a:xfrm>
          <a:prstGeom prst="roundRect">
            <a:avLst>
              <a:gd name="adj" fmla="val 17073"/>
            </a:avLst>
          </a:prstGeom>
          <a:solidFill>
            <a:srgbClr val="FFFFFF"/>
          </a:solidFill>
          <a:ln w="9525">
            <a:solidFill>
              <a:srgbClr val="E3E6EA"/>
            </a:solidFill>
            <a:prstDash val="solid"/>
          </a:ln>
        </p:spPr>
        <p:txBody>
          <a:bodyPr/>
          <a:p/>
        </p:txBody>
      </p:sp>
      <p:sp>
        <p:nvSpPr>
          <p:cNvPr id="23" name="Shape 20"/>
          <p:cNvSpPr/>
          <p:nvPr/>
        </p:nvSpPr>
        <p:spPr>
          <a:xfrm>
            <a:off x="9746382" y="3363849"/>
            <a:ext cx="457200" cy="457200"/>
          </a:xfrm>
          <a:prstGeom prst="ellipse">
            <a:avLst/>
          </a:prstGeom>
          <a:solidFill>
            <a:srgbClr val="3B6EA8"/>
          </a:solidFill>
          <a:ln/>
        </p:spPr>
        <p:txBody>
          <a:bodyPr/>
          <a:p/>
        </p:txBody>
      </p:sp>
      <p:sp>
        <p:nvSpPr>
          <p:cNvPr id="24" name="Text 21"/>
          <p:cNvSpPr/>
          <p:nvPr/>
        </p:nvSpPr>
        <p:spPr>
          <a:xfrm>
            <a:off x="9708282" y="3328679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950" b="1" dirty="0">
                <a:solidFill>
                  <a:srgbClr val="FFFFFF"/>
                </a:solidFill>
                <a:latin typeface="Georgia" pitchFamily="34" charset="0"/>
              </a:rPr>
              <a:t>１</a:t>
            </a:r>
            <a:endParaRPr lang="en-US" sz="1950" dirty="0"/>
          </a:p>
        </p:txBody>
      </p:sp>
      <p:sp>
        <p:nvSpPr>
          <p:cNvPr id="25" name="Text 22"/>
          <p:cNvSpPr/>
          <p:nvPr/>
        </p:nvSpPr>
        <p:spPr>
          <a:xfrm>
            <a:off x="10377820" y="3314401"/>
            <a:ext cx="6688555" cy="4619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000" dirty="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椅子に深く座り、背筋を伸ばします。</a:t>
            </a:r>
          </a:p>
        </p:txBody>
      </p:sp>
      <p:sp>
        <p:nvSpPr>
          <p:cNvPr id="26" name="Shape 23"/>
          <p:cNvSpPr/>
          <p:nvPr/>
        </p:nvSpPr>
        <p:spPr>
          <a:xfrm>
            <a:off x="9527307" y="4097275"/>
            <a:ext cx="7712943" cy="704849"/>
          </a:xfrm>
          <a:prstGeom prst="roundRect">
            <a:avLst>
              <a:gd name="adj" fmla="val 11618"/>
            </a:avLst>
          </a:prstGeom>
          <a:solidFill>
            <a:srgbClr val="FFFFFF"/>
          </a:solidFill>
          <a:ln w="9525">
            <a:solidFill>
              <a:srgbClr val="E3E6EA"/>
            </a:solidFill>
            <a:prstDash val="solid"/>
          </a:ln>
        </p:spPr>
        <p:txBody>
          <a:bodyPr/>
          <a:p/>
        </p:txBody>
      </p:sp>
      <p:sp>
        <p:nvSpPr>
          <p:cNvPr id="27" name="Shape 24"/>
          <p:cNvSpPr/>
          <p:nvPr/>
        </p:nvSpPr>
        <p:spPr>
          <a:xfrm>
            <a:off x="9746382" y="4259199"/>
            <a:ext cx="457200" cy="457200"/>
          </a:xfrm>
          <a:prstGeom prst="ellipse">
            <a:avLst/>
          </a:prstGeom>
          <a:solidFill>
            <a:srgbClr val="3B6EA8"/>
          </a:solidFill>
          <a:ln/>
        </p:spPr>
        <p:txBody>
          <a:bodyPr/>
          <a:p/>
        </p:txBody>
      </p:sp>
      <p:sp>
        <p:nvSpPr>
          <p:cNvPr id="28" name="Text 25"/>
          <p:cNvSpPr/>
          <p:nvPr/>
        </p:nvSpPr>
        <p:spPr>
          <a:xfrm>
            <a:off x="9708282" y="4224029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950" b="1" dirty="0">
                <a:solidFill>
                  <a:srgbClr val="FFFFFF"/>
                </a:solidFill>
                <a:latin typeface="Georgia" pitchFamily="34" charset="0"/>
              </a:rPr>
              <a:t>２</a:t>
            </a:r>
            <a:endParaRPr lang="en-US" sz="1950" dirty="0"/>
          </a:p>
        </p:txBody>
      </p:sp>
      <p:sp>
        <p:nvSpPr>
          <p:cNvPr id="29" name="Text 26"/>
          <p:cNvSpPr/>
          <p:nvPr/>
        </p:nvSpPr>
        <p:spPr>
          <a:xfrm>
            <a:off x="10377820" y="4190143"/>
            <a:ext cx="7093818" cy="604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000" dirty="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両肩甲骨を背中の中央に寄せるように動かします。</a:t>
            </a:r>
          </a:p>
        </p:txBody>
      </p:sp>
      <p:grpSp>
        <p:nvGrpSpPr>
          <p:cNvPr id="41" name="グループ化 40">
            <a:extLst>
              <a:ext uri="{FF2B5EF4-FFF2-40B4-BE49-F238E27FC236}">
                <a16:creationId xmlns:a16="http://schemas.microsoft.com/office/drawing/2014/main" id="{B03C15D3-1373-B649-BB5E-93E867AFF31B}"/>
              </a:ext>
            </a:extLst>
          </p:cNvPr>
          <p:cNvGrpSpPr/>
          <p:nvPr/>
        </p:nvGrpSpPr>
        <p:grpSpPr>
          <a:xfrm>
            <a:off x="9527307" y="4937297"/>
            <a:ext cx="7712943" cy="781050"/>
            <a:chOff x="9527307" y="5938838"/>
            <a:chExt cx="7712943" cy="781050"/>
          </a:xfrm>
        </p:grpSpPr>
        <p:sp>
          <p:nvSpPr>
            <p:cNvPr id="30" name="Shape 27"/>
            <p:cNvSpPr/>
            <p:nvPr/>
          </p:nvSpPr>
          <p:spPr>
            <a:xfrm>
              <a:off x="9527307" y="5938838"/>
              <a:ext cx="7712943" cy="781050"/>
            </a:xfrm>
            <a:prstGeom prst="roundRect">
              <a:avLst>
                <a:gd name="adj" fmla="val 17073"/>
              </a:avLst>
            </a:prstGeom>
            <a:solidFill>
              <a:srgbClr val="FFFFFF"/>
            </a:solidFill>
            <a:ln w="9525">
              <a:solidFill>
                <a:srgbClr val="E3E6EA"/>
              </a:solidFill>
              <a:prstDash val="solid"/>
            </a:ln>
          </p:spPr>
        </p:sp>
        <p:sp>
          <p:nvSpPr>
            <p:cNvPr id="31" name="Shape 28"/>
            <p:cNvSpPr/>
            <p:nvPr/>
          </p:nvSpPr>
          <p:spPr>
            <a:xfrm>
              <a:off x="9746382" y="6100763"/>
              <a:ext cx="457200" cy="457200"/>
            </a:xfrm>
            <a:prstGeom prst="ellipse">
              <a:avLst/>
            </a:prstGeom>
            <a:solidFill>
              <a:srgbClr val="3B6EA8"/>
            </a:solidFill>
            <a:ln/>
          </p:spPr>
        </p:sp>
        <p:sp>
          <p:nvSpPr>
            <p:cNvPr id="32" name="Text 29"/>
            <p:cNvSpPr/>
            <p:nvPr/>
          </p:nvSpPr>
          <p:spPr>
            <a:xfrm>
              <a:off x="9708282" y="6065593"/>
              <a:ext cx="533400" cy="49530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950" b="1" dirty="0">
                  <a:solidFill>
                    <a:srgbClr val="FFFFFF"/>
                  </a:solidFill>
                  <a:latin typeface="Georgia" pitchFamily="34" charset="0"/>
                </a:rPr>
                <a:t>３</a:t>
              </a:r>
              <a:endParaRPr lang="en-US" sz="1950" dirty="0"/>
            </a:p>
          </p:txBody>
        </p:sp>
      </p:grpSp>
      <p:sp>
        <p:nvSpPr>
          <p:cNvPr id="33" name="Text 30"/>
          <p:cNvSpPr/>
          <p:nvPr/>
        </p:nvSpPr>
        <p:spPr>
          <a:xfrm>
            <a:off x="10527432" y="5099222"/>
            <a:ext cx="6688555" cy="4619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000" dirty="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5秒キープしたら、ゆっくり力を抜きます。</a:t>
            </a:r>
          </a:p>
        </p:txBody>
      </p:sp>
      <p:grpSp>
        <p:nvGrpSpPr>
          <p:cNvPr id="43" name="グループ化 42">
            <a:extLst>
              <a:ext uri="{FF2B5EF4-FFF2-40B4-BE49-F238E27FC236}">
                <a16:creationId xmlns:a16="http://schemas.microsoft.com/office/drawing/2014/main" id="{4CB15133-0822-4E4C-84E9-AB9447B7BD51}"/>
              </a:ext>
            </a:extLst>
          </p:cNvPr>
          <p:cNvGrpSpPr/>
          <p:nvPr/>
        </p:nvGrpSpPr>
        <p:grpSpPr>
          <a:xfrm>
            <a:off x="9527307" y="6330887"/>
            <a:ext cx="7712943" cy="1015156"/>
            <a:chOff x="9527307" y="6910388"/>
            <a:chExt cx="7712943" cy="1015156"/>
          </a:xfrm>
        </p:grpSpPr>
        <p:sp>
          <p:nvSpPr>
            <p:cNvPr id="34" name="Shape 31"/>
            <p:cNvSpPr/>
            <p:nvPr/>
          </p:nvSpPr>
          <p:spPr>
            <a:xfrm>
              <a:off x="9527307" y="6910388"/>
              <a:ext cx="7712943" cy="967680"/>
            </a:xfrm>
            <a:prstGeom prst="roundRect">
              <a:avLst>
                <a:gd name="adj" fmla="val 11812"/>
              </a:avLst>
            </a:prstGeom>
            <a:solidFill>
              <a:srgbClr val="FAF1DE"/>
            </a:solidFill>
            <a:ln/>
          </p:spPr>
        </p:sp>
        <p:sp>
          <p:nvSpPr>
            <p:cNvPr id="35" name="Shape 32"/>
            <p:cNvSpPr/>
            <p:nvPr/>
          </p:nvSpPr>
          <p:spPr>
            <a:xfrm>
              <a:off x="9736857" y="7184678"/>
              <a:ext cx="419100" cy="419100"/>
            </a:xfrm>
            <a:prstGeom prst="ellipse">
              <a:avLst/>
            </a:prstGeom>
            <a:solidFill>
              <a:srgbClr val="C98A2B"/>
            </a:solidFill>
            <a:ln/>
          </p:spPr>
        </p:sp>
        <p:sp>
          <p:nvSpPr>
            <p:cNvPr id="36" name="Text 33"/>
            <p:cNvSpPr/>
            <p:nvPr/>
          </p:nvSpPr>
          <p:spPr>
            <a:xfrm>
              <a:off x="9698757" y="7184678"/>
              <a:ext cx="495300" cy="45720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800" b="1" dirty="0">
                  <a:solidFill>
                    <a:srgbClr val="FFFFF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◎</a:t>
              </a:r>
              <a:endParaRPr lang="en-US" sz="1800" dirty="0"/>
            </a:p>
          </p:txBody>
        </p:sp>
        <p:sp>
          <p:nvSpPr>
            <p:cNvPr id="37" name="Text 34"/>
            <p:cNvSpPr/>
            <p:nvPr/>
          </p:nvSpPr>
          <p:spPr>
            <a:xfrm>
              <a:off x="10441707" y="6922108"/>
              <a:ext cx="6786663" cy="1003436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rmAutofit/>
            </a:bodyPr>
            <a:lstStyle/>
            <a:p>
              <a:pPr marL="0" indent="0" algn="l">
                <a:lnSpc>
                  <a:spcPct val="145000"/>
                </a:lnSpc>
                <a:buNone/>
              </a:pPr>
              <a:r>
                <a:rPr lang="ja-JP" altLang="en-US" sz="2000" b="1">
                  <a:solidFill>
                    <a:srgbClr val="3D2806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圧迫骨折後の円背防止のための大事な運動です。</a:t>
              </a:r>
              <a:endParaRPr lang="en-US" altLang="ja-JP" sz="2000" b="1" dirty="0">
                <a:solidFill>
                  <a:srgbClr val="3D2806"/>
                </a:solidFill>
                <a:latin typeface="Arial" pitchFamily="34" charset="0"/>
                <a:ea typeface="Arial" pitchFamily="34" charset="-122"/>
                <a:cs typeface="Arial" pitchFamily="34" charset="-120"/>
              </a:endParaRPr>
            </a:p>
            <a:p>
              <a:pPr marL="0" indent="0" algn="l">
                <a:lnSpc>
                  <a:spcPct val="145000"/>
                </a:lnSpc>
                <a:buNone/>
              </a:pPr>
              <a:r>
                <a:rPr lang="en-US" sz="2000" b="1" dirty="0" err="1">
                  <a:solidFill>
                    <a:srgbClr val="3D2806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日常でも意識してみましょう</a:t>
              </a:r>
              <a:r>
                <a:rPr lang="en-US" sz="2000" b="1" dirty="0">
                  <a:solidFill>
                    <a:srgbClr val="3D2806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。</a:t>
              </a:r>
            </a:p>
          </p:txBody>
        </p:sp>
      </p:grpSp>
      <p:pic>
        <p:nvPicPr>
          <p:cNvPr id="39" name="図 38">
            <a:extLst>
              <a:ext uri="{FF2B5EF4-FFF2-40B4-BE49-F238E27FC236}">
                <a16:creationId xmlns:a16="http://schemas.microsoft.com/office/drawing/2014/main" id="{E58E042B-EAE3-4A4D-BF8D-BCB111A552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8493" y="2818752"/>
            <a:ext cx="8351450" cy="5477027"/>
          </a:xfrm>
          <a:prstGeom prst="rect">
            <a:avLst/>
          </a:prstGeom>
        </p:spPr>
      </p:pic>
      <p:sp>
        <p:nvSpPr>
          <p:cNvPr id="44" name="TextBox 43"/>
          <p:cNvSpPr txBox="1"/>
          <p:nvPr/>
        </p:nvSpPr>
        <p:spPr>
          <a:xfrm>
            <a:off x="1097280" y="9052560"/>
            <a:ext cx="1609344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334155"/>
                </a:solidFill>
                <a:latin typeface="Yu Gothic"/>
              </a:rPr>
              <a:t>目的：</a:t>
            </a:r>
            <a:r>
              <a:rPr sz="2800">
                <a:solidFill>
                  <a:srgbClr val="334155"/>
                </a:solidFill>
                <a:latin typeface="Yu Gothic"/>
              </a:rPr>
              <a:t>背中を伸ばし、姿勢を整えます。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7750" y="1687068"/>
            <a:ext cx="16192500" cy="19050"/>
          </a:xfrm>
          <a:prstGeom prst="rect">
            <a:avLst/>
          </a:prstGeom>
          <a:solidFill>
            <a:srgbClr val="111418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638603" y="727023"/>
            <a:ext cx="12050590" cy="695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4500" b="1" dirty="0">
                <a:solidFill>
                  <a:srgbClr val="1114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棒でヒップヒンジ(浅く)</a:t>
            </a:r>
          </a:p>
        </p:txBody>
      </p:sp>
      <p:sp>
        <p:nvSpPr>
          <p:cNvPr id="15" name="Shape 13"/>
          <p:cNvSpPr/>
          <p:nvPr/>
        </p:nvSpPr>
        <p:spPr>
          <a:xfrm>
            <a:off x="14423752" y="1807369"/>
            <a:ext cx="2816498" cy="1147763"/>
          </a:xfrm>
          <a:prstGeom prst="roundRect">
            <a:avLst>
              <a:gd name="adj" fmla="val 11618"/>
            </a:avLst>
          </a:prstGeom>
          <a:solidFill>
            <a:srgbClr val="111418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14614252" y="1959769"/>
            <a:ext cx="2435498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800" b="1" kern="0" spc="324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回数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4614252" y="2331244"/>
            <a:ext cx="2435498" cy="5095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2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10回 × 2セット</a:t>
            </a:r>
          </a:p>
        </p:txBody>
      </p:sp>
      <p:sp>
        <p:nvSpPr>
          <p:cNvPr id="18" name="Shape 16"/>
          <p:cNvSpPr/>
          <p:nvPr/>
        </p:nvSpPr>
        <p:spPr>
          <a:xfrm>
            <a:off x="398718" y="2674620"/>
            <a:ext cx="8791001" cy="5765292"/>
          </a:xfrm>
          <a:prstGeom prst="roundRect">
            <a:avLst>
              <a:gd name="adj" fmla="val 2736"/>
            </a:avLst>
          </a:prstGeom>
          <a:solidFill>
            <a:srgbClr val="EAF1F9"/>
          </a:solidFill>
          <a:ln/>
        </p:spPr>
        <p:txBody>
          <a:bodyPr/>
          <a:p/>
        </p:txBody>
      </p:sp>
      <p:pic>
        <p:nvPicPr>
          <p:cNvPr id="19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18493" y="2818752"/>
            <a:ext cx="8351450" cy="5477027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9527307" y="2678049"/>
            <a:ext cx="7944331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324" dirty="0">
                <a:solidFill>
                  <a:srgbClr val="6B7480"/>
                </a:solidFill>
                <a:latin typeface="Yu Gothic" pitchFamily="34" charset="0"/>
                <a:ea typeface="Arial" pitchFamily="34" charset="-122"/>
                <a:cs typeface="Arial" pitchFamily="34" charset="-120"/>
              </a:rPr>
              <a:t>手順</a:t>
            </a:r>
            <a:endParaRPr lang="en-US" sz="1800" dirty="0"/>
          </a:p>
        </p:txBody>
      </p:sp>
      <p:sp>
        <p:nvSpPr>
          <p:cNvPr id="22" name="Shape 19"/>
          <p:cNvSpPr/>
          <p:nvPr/>
        </p:nvSpPr>
        <p:spPr>
          <a:xfrm>
            <a:off x="9527307" y="3201923"/>
            <a:ext cx="7712943" cy="996851"/>
          </a:xfrm>
          <a:prstGeom prst="roundRect">
            <a:avLst>
              <a:gd name="adj" fmla="val 17073"/>
            </a:avLst>
          </a:prstGeom>
          <a:solidFill>
            <a:srgbClr val="FFFFFF"/>
          </a:solidFill>
          <a:ln w="9525">
            <a:solidFill>
              <a:srgbClr val="E3E6EA"/>
            </a:solidFill>
            <a:prstDash val="solid"/>
          </a:ln>
        </p:spPr>
        <p:txBody>
          <a:bodyPr/>
          <a:p/>
        </p:txBody>
      </p:sp>
      <p:sp>
        <p:nvSpPr>
          <p:cNvPr id="23" name="Shape 20"/>
          <p:cNvSpPr/>
          <p:nvPr/>
        </p:nvSpPr>
        <p:spPr>
          <a:xfrm>
            <a:off x="9746382" y="3363849"/>
            <a:ext cx="457200" cy="457200"/>
          </a:xfrm>
          <a:prstGeom prst="ellipse">
            <a:avLst/>
          </a:prstGeom>
          <a:solidFill>
            <a:srgbClr val="3B6EA8"/>
          </a:solidFill>
          <a:ln/>
        </p:spPr>
        <p:txBody>
          <a:bodyPr/>
          <a:p/>
        </p:txBody>
      </p:sp>
      <p:sp>
        <p:nvSpPr>
          <p:cNvPr id="24" name="Text 21"/>
          <p:cNvSpPr/>
          <p:nvPr/>
        </p:nvSpPr>
        <p:spPr>
          <a:xfrm>
            <a:off x="9708282" y="3363849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950" b="1" dirty="0">
                <a:solidFill>
                  <a:srgbClr val="FFFFFF"/>
                </a:solidFill>
                <a:latin typeface="Georgia" pitchFamily="34" charset="0"/>
              </a:rPr>
              <a:t>１</a:t>
            </a:r>
            <a:endParaRPr lang="en-US" sz="1950" dirty="0"/>
          </a:p>
        </p:txBody>
      </p:sp>
      <p:sp>
        <p:nvSpPr>
          <p:cNvPr id="25" name="Text 22"/>
          <p:cNvSpPr/>
          <p:nvPr/>
        </p:nvSpPr>
        <p:spPr>
          <a:xfrm>
            <a:off x="10441707" y="3144525"/>
            <a:ext cx="6688555" cy="9318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000" dirty="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棒を背中に沿わせ、後頭部・背中・お尻の3点に当てて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2000" dirty="0" err="1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立ちます</a:t>
            </a:r>
            <a:r>
              <a:rPr lang="en-US" sz="2000" dirty="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。</a:t>
            </a:r>
          </a:p>
        </p:txBody>
      </p:sp>
      <p:sp>
        <p:nvSpPr>
          <p:cNvPr id="26" name="Shape 23"/>
          <p:cNvSpPr/>
          <p:nvPr/>
        </p:nvSpPr>
        <p:spPr>
          <a:xfrm>
            <a:off x="9527307" y="4302228"/>
            <a:ext cx="7712943" cy="1095209"/>
          </a:xfrm>
          <a:prstGeom prst="roundRect">
            <a:avLst>
              <a:gd name="adj" fmla="val 11618"/>
            </a:avLst>
          </a:prstGeom>
          <a:solidFill>
            <a:srgbClr val="FFFFFF"/>
          </a:solidFill>
          <a:ln w="9525">
            <a:solidFill>
              <a:srgbClr val="E3E6EA"/>
            </a:solidFill>
            <a:prstDash val="solid"/>
          </a:ln>
        </p:spPr>
        <p:txBody>
          <a:bodyPr/>
          <a:p/>
        </p:txBody>
      </p:sp>
      <p:sp>
        <p:nvSpPr>
          <p:cNvPr id="27" name="Shape 24"/>
          <p:cNvSpPr/>
          <p:nvPr/>
        </p:nvSpPr>
        <p:spPr>
          <a:xfrm>
            <a:off x="9746382" y="4464153"/>
            <a:ext cx="457200" cy="457200"/>
          </a:xfrm>
          <a:prstGeom prst="ellipse">
            <a:avLst/>
          </a:prstGeom>
          <a:solidFill>
            <a:srgbClr val="3B6EA8"/>
          </a:solidFill>
          <a:ln/>
        </p:spPr>
        <p:txBody>
          <a:bodyPr/>
          <a:p/>
        </p:txBody>
      </p:sp>
      <p:sp>
        <p:nvSpPr>
          <p:cNvPr id="28" name="Text 25"/>
          <p:cNvSpPr/>
          <p:nvPr/>
        </p:nvSpPr>
        <p:spPr>
          <a:xfrm>
            <a:off x="9708282" y="4464153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950" b="1" dirty="0">
                <a:solidFill>
                  <a:srgbClr val="FFFFFF"/>
                </a:solidFill>
                <a:latin typeface="Georgia" pitchFamily="34" charset="0"/>
              </a:rPr>
              <a:t>２</a:t>
            </a:r>
            <a:endParaRPr lang="en-US" sz="1950" dirty="0"/>
          </a:p>
        </p:txBody>
      </p:sp>
      <p:sp>
        <p:nvSpPr>
          <p:cNvPr id="29" name="Text 26"/>
          <p:cNvSpPr/>
          <p:nvPr/>
        </p:nvSpPr>
        <p:spPr>
          <a:xfrm>
            <a:off x="10527431" y="4360123"/>
            <a:ext cx="6688555" cy="9243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000" dirty="0" err="1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棒が離れないよう、お尻を後ろに突き出し『浅く</a:t>
            </a:r>
            <a:r>
              <a:rPr lang="en-US" sz="2000" dirty="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』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2000" dirty="0" err="1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前傾し、ゆっくり戻ります</a:t>
            </a:r>
            <a:r>
              <a:rPr lang="en-US" sz="2000" dirty="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。</a:t>
            </a:r>
          </a:p>
        </p:txBody>
      </p:sp>
      <p:sp>
        <p:nvSpPr>
          <p:cNvPr id="30" name="Shape 27"/>
          <p:cNvSpPr/>
          <p:nvPr/>
        </p:nvSpPr>
        <p:spPr>
          <a:xfrm>
            <a:off x="9527307" y="5435537"/>
            <a:ext cx="7712943" cy="967680"/>
          </a:xfrm>
          <a:prstGeom prst="roundRect">
            <a:avLst>
              <a:gd name="adj" fmla="val 11812"/>
            </a:avLst>
          </a:prstGeom>
          <a:solidFill>
            <a:srgbClr val="FAF1DE"/>
          </a:solidFill>
          <a:ln/>
        </p:spPr>
        <p:txBody>
          <a:bodyPr/>
          <a:p/>
        </p:txBody>
      </p:sp>
      <p:sp>
        <p:nvSpPr>
          <p:cNvPr id="31" name="Shape 28"/>
          <p:cNvSpPr/>
          <p:nvPr/>
        </p:nvSpPr>
        <p:spPr>
          <a:xfrm>
            <a:off x="9752622" y="5646765"/>
            <a:ext cx="419100" cy="419100"/>
          </a:xfrm>
          <a:prstGeom prst="ellipse">
            <a:avLst/>
          </a:prstGeom>
          <a:solidFill>
            <a:srgbClr val="C98A2B"/>
          </a:solidFill>
          <a:ln/>
        </p:spPr>
        <p:txBody>
          <a:bodyPr/>
          <a:p/>
        </p:txBody>
      </p:sp>
      <p:sp>
        <p:nvSpPr>
          <p:cNvPr id="32" name="Text 29"/>
          <p:cNvSpPr/>
          <p:nvPr/>
        </p:nvSpPr>
        <p:spPr>
          <a:xfrm>
            <a:off x="9714522" y="5646765"/>
            <a:ext cx="49530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◎</a:t>
            </a:r>
            <a:endParaRPr lang="en-US" sz="1800" dirty="0"/>
          </a:p>
        </p:txBody>
      </p:sp>
      <p:sp>
        <p:nvSpPr>
          <p:cNvPr id="33" name="Text 30"/>
          <p:cNvSpPr/>
          <p:nvPr/>
        </p:nvSpPr>
        <p:spPr>
          <a:xfrm>
            <a:off x="10441707" y="5446996"/>
            <a:ext cx="6786663" cy="9943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2000" b="1" dirty="0">
                <a:solidFill>
                  <a:srgbClr val="5A3D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腰を丸めずに前傾する練習。物を拾う・靴下を履く動作で椎体への負担を減らします。</a:t>
            </a:r>
          </a:p>
        </p:txBody>
      </p:sp>
      <p:sp>
        <p:nvSpPr>
          <p:cNvPr id="34" name="Shape 31"/>
          <p:cNvSpPr/>
          <p:nvPr/>
        </p:nvSpPr>
        <p:spPr>
          <a:xfrm>
            <a:off x="9527307" y="6593717"/>
            <a:ext cx="7712943" cy="990600"/>
          </a:xfrm>
          <a:prstGeom prst="roundRect">
            <a:avLst>
              <a:gd name="adj" fmla="val 7692"/>
            </a:avLst>
          </a:prstGeom>
          <a:solidFill>
            <a:srgbClr val="FDECE8"/>
          </a:solidFill>
          <a:ln/>
        </p:spPr>
        <p:txBody>
          <a:bodyPr/>
          <a:p/>
        </p:txBody>
      </p:sp>
      <p:sp>
        <p:nvSpPr>
          <p:cNvPr id="35" name="Shape 32"/>
          <p:cNvSpPr/>
          <p:nvPr/>
        </p:nvSpPr>
        <p:spPr>
          <a:xfrm>
            <a:off x="9527307" y="6593717"/>
            <a:ext cx="57150" cy="990600"/>
          </a:xfrm>
          <a:prstGeom prst="rect">
            <a:avLst/>
          </a:prstGeom>
          <a:solidFill>
            <a:srgbClr val="E87362"/>
          </a:solidFill>
          <a:ln/>
        </p:spPr>
        <p:txBody>
          <a:bodyPr/>
          <a:p/>
        </p:txBody>
      </p:sp>
      <p:sp>
        <p:nvSpPr>
          <p:cNvPr id="36" name="Shape 33"/>
          <p:cNvSpPr/>
          <p:nvPr/>
        </p:nvSpPr>
        <p:spPr>
          <a:xfrm>
            <a:off x="9746382" y="6824103"/>
            <a:ext cx="457200" cy="457200"/>
          </a:xfrm>
          <a:prstGeom prst="ellipse">
            <a:avLst/>
          </a:prstGeom>
          <a:solidFill>
            <a:srgbClr val="E87362"/>
          </a:solidFill>
          <a:ln/>
        </p:spPr>
        <p:txBody>
          <a:bodyPr/>
          <a:p/>
        </p:txBody>
      </p:sp>
      <p:sp>
        <p:nvSpPr>
          <p:cNvPr id="37" name="Text 34"/>
          <p:cNvSpPr/>
          <p:nvPr/>
        </p:nvSpPr>
        <p:spPr>
          <a:xfrm>
            <a:off x="9708282" y="6824103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!</a:t>
            </a:r>
            <a:endParaRPr lang="en-US" sz="2100" dirty="0"/>
          </a:p>
        </p:txBody>
      </p:sp>
      <p:sp>
        <p:nvSpPr>
          <p:cNvPr id="38" name="Text 35"/>
          <p:cNvSpPr/>
          <p:nvPr/>
        </p:nvSpPr>
        <p:spPr>
          <a:xfrm>
            <a:off x="10539815" y="6631815"/>
            <a:ext cx="6688555" cy="9525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000" b="1" dirty="0">
                <a:solidFill>
                  <a:srgbClr val="7A2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急性期は禁忌。コルセット装着中は前傾30度以内に。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2000" b="1" dirty="0" err="1">
                <a:solidFill>
                  <a:srgbClr val="7A2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痛みが出たらすぐ中止</a:t>
            </a:r>
            <a:r>
              <a:rPr lang="en-US" sz="2000" b="1" dirty="0">
                <a:solidFill>
                  <a:srgbClr val="7A2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。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97280" y="9052560"/>
            <a:ext cx="1609344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334155"/>
                </a:solidFill>
                <a:latin typeface="Yu Gothic"/>
              </a:rPr>
              <a:t>目的：</a:t>
            </a:r>
            <a:r>
              <a:rPr sz="2800">
                <a:solidFill>
                  <a:srgbClr val="334155"/>
                </a:solidFill>
                <a:latin typeface="Yu Gothic"/>
              </a:rPr>
              <a:t>腰を曲げずに股関節から動く方法を身につけます。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7750" y="1687068"/>
            <a:ext cx="16192500" cy="19050"/>
          </a:xfrm>
          <a:prstGeom prst="rect">
            <a:avLst/>
          </a:prstGeom>
          <a:solidFill>
            <a:srgbClr val="111418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638603" y="727023"/>
            <a:ext cx="12123328" cy="695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4500" b="1" dirty="0">
                <a:solidFill>
                  <a:srgbClr val="1114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椅子からの立ち上がり</a:t>
            </a:r>
          </a:p>
        </p:txBody>
      </p:sp>
      <p:sp>
        <p:nvSpPr>
          <p:cNvPr id="17" name="Shape 15"/>
          <p:cNvSpPr/>
          <p:nvPr/>
        </p:nvSpPr>
        <p:spPr>
          <a:xfrm>
            <a:off x="14494371" y="1807369"/>
            <a:ext cx="2745879" cy="1147763"/>
          </a:xfrm>
          <a:prstGeom prst="roundRect">
            <a:avLst>
              <a:gd name="adj" fmla="val 11618"/>
            </a:avLst>
          </a:prstGeom>
          <a:solidFill>
            <a:srgbClr val="111418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14684871" y="1959769"/>
            <a:ext cx="2364879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800" b="1" kern="0" spc="324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回数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4684871" y="2331244"/>
            <a:ext cx="2364879" cy="5095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altLang="ja-JP" sz="2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10回 × 2セット</a:t>
            </a:r>
          </a:p>
        </p:txBody>
      </p:sp>
      <p:sp>
        <p:nvSpPr>
          <p:cNvPr id="20" name="Shape 18"/>
          <p:cNvSpPr/>
          <p:nvPr/>
        </p:nvSpPr>
        <p:spPr>
          <a:xfrm>
            <a:off x="398718" y="2674620"/>
            <a:ext cx="8791001" cy="5765292"/>
          </a:xfrm>
          <a:prstGeom prst="roundRect">
            <a:avLst>
              <a:gd name="adj" fmla="val 2736"/>
            </a:avLst>
          </a:prstGeom>
          <a:solidFill>
            <a:srgbClr val="EAF1F9"/>
          </a:solidFill>
          <a:ln/>
        </p:spPr>
        <p:txBody>
          <a:bodyPr/>
          <a:p/>
        </p:txBody>
      </p:sp>
      <p:sp>
        <p:nvSpPr>
          <p:cNvPr id="23" name="Text 20"/>
          <p:cNvSpPr/>
          <p:nvPr/>
        </p:nvSpPr>
        <p:spPr>
          <a:xfrm>
            <a:off x="9527307" y="2678049"/>
            <a:ext cx="7944331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324" dirty="0">
                <a:solidFill>
                  <a:srgbClr val="6B7480"/>
                </a:solidFill>
                <a:latin typeface="Yu Gothic" pitchFamily="34" charset="0"/>
                <a:ea typeface="Arial" pitchFamily="34" charset="-122"/>
                <a:cs typeface="Arial" pitchFamily="34" charset="-120"/>
              </a:rPr>
              <a:t>手順</a:t>
            </a:r>
            <a:endParaRPr lang="en-US" sz="1800" dirty="0"/>
          </a:p>
        </p:txBody>
      </p:sp>
      <p:sp>
        <p:nvSpPr>
          <p:cNvPr id="24" name="Shape 21"/>
          <p:cNvSpPr/>
          <p:nvPr/>
        </p:nvSpPr>
        <p:spPr>
          <a:xfrm>
            <a:off x="9527307" y="3201924"/>
            <a:ext cx="7712943" cy="781050"/>
          </a:xfrm>
          <a:prstGeom prst="roundRect">
            <a:avLst>
              <a:gd name="adj" fmla="val 17073"/>
            </a:avLst>
          </a:prstGeom>
          <a:solidFill>
            <a:srgbClr val="FFFFFF"/>
          </a:solidFill>
          <a:ln w="9525">
            <a:solidFill>
              <a:srgbClr val="E3E6EA"/>
            </a:solidFill>
            <a:prstDash val="solid"/>
          </a:ln>
        </p:spPr>
        <p:txBody>
          <a:bodyPr/>
          <a:p/>
        </p:txBody>
      </p:sp>
      <p:sp>
        <p:nvSpPr>
          <p:cNvPr id="25" name="Shape 22"/>
          <p:cNvSpPr/>
          <p:nvPr/>
        </p:nvSpPr>
        <p:spPr>
          <a:xfrm>
            <a:off x="9746382" y="3363849"/>
            <a:ext cx="457200" cy="457200"/>
          </a:xfrm>
          <a:prstGeom prst="ellipse">
            <a:avLst/>
          </a:prstGeom>
          <a:solidFill>
            <a:srgbClr val="3B6EA8"/>
          </a:solidFill>
          <a:ln/>
        </p:spPr>
        <p:txBody>
          <a:bodyPr/>
          <a:p/>
        </p:txBody>
      </p:sp>
      <p:sp>
        <p:nvSpPr>
          <p:cNvPr id="26" name="Text 23"/>
          <p:cNvSpPr/>
          <p:nvPr/>
        </p:nvSpPr>
        <p:spPr>
          <a:xfrm>
            <a:off x="9708282" y="3363849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950" b="1" dirty="0">
                <a:solidFill>
                  <a:srgbClr val="FFFFFF"/>
                </a:solidFill>
                <a:latin typeface="Georgia" pitchFamily="34" charset="0"/>
              </a:rPr>
              <a:t>１</a:t>
            </a:r>
            <a:endParaRPr lang="en-US" sz="1950" dirty="0"/>
          </a:p>
        </p:txBody>
      </p:sp>
      <p:sp>
        <p:nvSpPr>
          <p:cNvPr id="27" name="Text 24"/>
          <p:cNvSpPr/>
          <p:nvPr/>
        </p:nvSpPr>
        <p:spPr>
          <a:xfrm>
            <a:off x="10527432" y="3363849"/>
            <a:ext cx="6688555" cy="4619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000" dirty="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椅子に浅く座り、足を肩幅に開きます。</a:t>
            </a:r>
          </a:p>
        </p:txBody>
      </p:sp>
      <p:sp>
        <p:nvSpPr>
          <p:cNvPr id="28" name="Shape 25"/>
          <p:cNvSpPr/>
          <p:nvPr/>
        </p:nvSpPr>
        <p:spPr>
          <a:xfrm>
            <a:off x="9527307" y="4097274"/>
            <a:ext cx="7712943" cy="781050"/>
          </a:xfrm>
          <a:prstGeom prst="roundRect">
            <a:avLst>
              <a:gd name="adj" fmla="val 17073"/>
            </a:avLst>
          </a:prstGeom>
          <a:solidFill>
            <a:srgbClr val="FFFFFF"/>
          </a:solidFill>
          <a:ln w="9525">
            <a:solidFill>
              <a:srgbClr val="E3E6EA"/>
            </a:solidFill>
            <a:prstDash val="solid"/>
          </a:ln>
        </p:spPr>
        <p:txBody>
          <a:bodyPr/>
          <a:p/>
        </p:txBody>
      </p:sp>
      <p:sp>
        <p:nvSpPr>
          <p:cNvPr id="29" name="Shape 26"/>
          <p:cNvSpPr/>
          <p:nvPr/>
        </p:nvSpPr>
        <p:spPr>
          <a:xfrm>
            <a:off x="9746382" y="4259199"/>
            <a:ext cx="457200" cy="457200"/>
          </a:xfrm>
          <a:prstGeom prst="ellipse">
            <a:avLst/>
          </a:prstGeom>
          <a:solidFill>
            <a:srgbClr val="3B6EA8"/>
          </a:solidFill>
          <a:ln/>
        </p:spPr>
        <p:txBody>
          <a:bodyPr/>
          <a:p/>
        </p:txBody>
      </p:sp>
      <p:sp>
        <p:nvSpPr>
          <p:cNvPr id="30" name="Text 27"/>
          <p:cNvSpPr/>
          <p:nvPr/>
        </p:nvSpPr>
        <p:spPr>
          <a:xfrm>
            <a:off x="9708282" y="4259199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950" b="1" dirty="0">
                <a:solidFill>
                  <a:srgbClr val="FFFFFF"/>
                </a:solidFill>
                <a:latin typeface="Georgia" pitchFamily="34" charset="0"/>
              </a:rPr>
              <a:t>２</a:t>
            </a:r>
            <a:endParaRPr lang="en-US" sz="1950" dirty="0"/>
          </a:p>
        </p:txBody>
      </p:sp>
      <p:sp>
        <p:nvSpPr>
          <p:cNvPr id="31" name="Text 28"/>
          <p:cNvSpPr/>
          <p:nvPr/>
        </p:nvSpPr>
        <p:spPr>
          <a:xfrm>
            <a:off x="10527432" y="4259199"/>
            <a:ext cx="6688555" cy="4619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000" dirty="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体を『少し』前傾させて、ゆっくり立ち上がります。</a:t>
            </a:r>
          </a:p>
        </p:txBody>
      </p:sp>
      <p:sp>
        <p:nvSpPr>
          <p:cNvPr id="32" name="Shape 29"/>
          <p:cNvSpPr/>
          <p:nvPr/>
        </p:nvSpPr>
        <p:spPr>
          <a:xfrm>
            <a:off x="9527307" y="4992624"/>
            <a:ext cx="7712943" cy="866775"/>
          </a:xfrm>
          <a:prstGeom prst="roundRect">
            <a:avLst>
              <a:gd name="adj" fmla="val 11618"/>
            </a:avLst>
          </a:prstGeom>
          <a:solidFill>
            <a:srgbClr val="FFFFFF"/>
          </a:solidFill>
          <a:ln w="9525">
            <a:solidFill>
              <a:srgbClr val="E3E6EA"/>
            </a:solidFill>
            <a:prstDash val="solid"/>
          </a:ln>
        </p:spPr>
        <p:txBody>
          <a:bodyPr/>
          <a:p/>
        </p:txBody>
      </p:sp>
      <p:sp>
        <p:nvSpPr>
          <p:cNvPr id="33" name="Shape 30"/>
          <p:cNvSpPr/>
          <p:nvPr/>
        </p:nvSpPr>
        <p:spPr>
          <a:xfrm>
            <a:off x="9746382" y="5169511"/>
            <a:ext cx="457200" cy="457200"/>
          </a:xfrm>
          <a:prstGeom prst="ellipse">
            <a:avLst/>
          </a:prstGeom>
          <a:solidFill>
            <a:srgbClr val="3B6EA8"/>
          </a:solidFill>
          <a:ln/>
        </p:spPr>
        <p:txBody>
          <a:bodyPr/>
          <a:p/>
        </p:txBody>
      </p:sp>
      <p:sp>
        <p:nvSpPr>
          <p:cNvPr id="34" name="Text 31"/>
          <p:cNvSpPr/>
          <p:nvPr/>
        </p:nvSpPr>
        <p:spPr>
          <a:xfrm>
            <a:off x="9708282" y="5154549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950" b="1" dirty="0">
                <a:solidFill>
                  <a:srgbClr val="FFFFFF"/>
                </a:solidFill>
                <a:latin typeface="Georgia" pitchFamily="34" charset="0"/>
              </a:rPr>
              <a:t>３</a:t>
            </a:r>
            <a:endParaRPr lang="en-US" sz="1950" dirty="0"/>
          </a:p>
        </p:txBody>
      </p:sp>
      <p:sp>
        <p:nvSpPr>
          <p:cNvPr id="35" name="Text 32"/>
          <p:cNvSpPr/>
          <p:nvPr/>
        </p:nvSpPr>
        <p:spPr>
          <a:xfrm>
            <a:off x="10527432" y="5154549"/>
            <a:ext cx="6688555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000" dirty="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ゆっくり座る動作も丁寧に。何度か繰り返します。</a:t>
            </a:r>
          </a:p>
        </p:txBody>
      </p:sp>
      <p:sp>
        <p:nvSpPr>
          <p:cNvPr id="36" name="Shape 33"/>
          <p:cNvSpPr/>
          <p:nvPr/>
        </p:nvSpPr>
        <p:spPr>
          <a:xfrm>
            <a:off x="9527307" y="6123471"/>
            <a:ext cx="7712943" cy="1113299"/>
          </a:xfrm>
          <a:prstGeom prst="roundRect">
            <a:avLst>
              <a:gd name="adj" fmla="val 11812"/>
            </a:avLst>
          </a:prstGeom>
          <a:solidFill>
            <a:srgbClr val="FAF1DE"/>
          </a:solidFill>
          <a:ln/>
        </p:spPr>
        <p:txBody>
          <a:bodyPr/>
          <a:p/>
        </p:txBody>
      </p:sp>
      <p:sp>
        <p:nvSpPr>
          <p:cNvPr id="37" name="Shape 34"/>
          <p:cNvSpPr/>
          <p:nvPr/>
        </p:nvSpPr>
        <p:spPr>
          <a:xfrm>
            <a:off x="9721359" y="6413829"/>
            <a:ext cx="457200" cy="457200"/>
          </a:xfrm>
          <a:prstGeom prst="ellipse">
            <a:avLst/>
          </a:prstGeom>
          <a:solidFill>
            <a:srgbClr val="C98A2B"/>
          </a:solidFill>
          <a:ln/>
        </p:spPr>
        <p:txBody>
          <a:bodyPr/>
          <a:p/>
        </p:txBody>
      </p:sp>
      <p:sp>
        <p:nvSpPr>
          <p:cNvPr id="38" name="Text 35"/>
          <p:cNvSpPr/>
          <p:nvPr/>
        </p:nvSpPr>
        <p:spPr>
          <a:xfrm>
            <a:off x="9698757" y="6429327"/>
            <a:ext cx="49530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◎</a:t>
            </a:r>
            <a:endParaRPr lang="en-US" sz="1800" dirty="0"/>
          </a:p>
        </p:txBody>
      </p:sp>
      <p:sp>
        <p:nvSpPr>
          <p:cNvPr id="39" name="Text 36"/>
          <p:cNvSpPr/>
          <p:nvPr/>
        </p:nvSpPr>
        <p:spPr>
          <a:xfrm>
            <a:off x="10241682" y="6141026"/>
            <a:ext cx="6974305" cy="10963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ja-JP" altLang="en-US" sz="2000" b="1">
                <a:solidFill>
                  <a:srgbClr val="3D28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反動を使わずゆっくり立ち上がるのがコツ。</a:t>
            </a:r>
            <a:endParaRPr lang="en-US" altLang="ja-JP" sz="2000" b="1" dirty="0">
              <a:solidFill>
                <a:srgbClr val="3D2806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 algn="l">
              <a:lnSpc>
                <a:spcPct val="145000"/>
              </a:lnSpc>
              <a:buNone/>
            </a:pPr>
            <a:r>
              <a:rPr lang="ja-JP" altLang="en-US" sz="2000" b="1">
                <a:solidFill>
                  <a:srgbClr val="3D28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手すりや椅子の背を持って必ず安全確保をしましょう。</a:t>
            </a:r>
          </a:p>
        </p:txBody>
      </p:sp>
      <p:pic>
        <p:nvPicPr>
          <p:cNvPr id="43" name="図 42">
            <a:extLst>
              <a:ext uri="{FF2B5EF4-FFF2-40B4-BE49-F238E27FC236}">
                <a16:creationId xmlns:a16="http://schemas.microsoft.com/office/drawing/2014/main" id="{FB7F086C-B296-EE4C-9DEF-CC0C2276B8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8493" y="2818752"/>
            <a:ext cx="8351450" cy="5477027"/>
          </a:xfrm>
          <a:prstGeom prst="rect">
            <a:avLst/>
          </a:prstGeom>
        </p:spPr>
      </p:pic>
      <p:sp>
        <p:nvSpPr>
          <p:cNvPr id="44" name="TextBox 43"/>
          <p:cNvSpPr txBox="1"/>
          <p:nvPr/>
        </p:nvSpPr>
        <p:spPr>
          <a:xfrm>
            <a:off x="1097280" y="9052560"/>
            <a:ext cx="1609344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334155"/>
                </a:solidFill>
                <a:latin typeface="Yu Gothic"/>
              </a:rPr>
              <a:t>目的：</a:t>
            </a:r>
            <a:r>
              <a:rPr sz="2800">
                <a:solidFill>
                  <a:srgbClr val="334155"/>
                </a:solidFill>
                <a:latin typeface="Yu Gothic"/>
              </a:rPr>
              <a:t>立ち上がる力を高め、生活動作を楽にします。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7750" y="1687068"/>
            <a:ext cx="16192500" cy="19050"/>
          </a:xfrm>
          <a:prstGeom prst="rect">
            <a:avLst/>
          </a:prstGeom>
          <a:solidFill>
            <a:srgbClr val="111418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638603" y="727023"/>
            <a:ext cx="12050590" cy="695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ja-JP" altLang="en-US" sz="4500" b="1">
                <a:solidFill>
                  <a:srgbClr val="1114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踵上げ</a:t>
            </a:r>
            <a:endParaRPr lang="en-US" sz="4500" b="1" dirty="0" err="1">
              <a:solidFill>
                <a:srgbClr val="111418"/>
              </a:solidFill>
              <a:latin typeface="Georgia" pitchFamily="34" charset="0"/>
              <a:ea typeface="Georgia" pitchFamily="34" charset="-122"/>
              <a:cs typeface="Georgia" pitchFamily="34" charset="-12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14423752" y="1807369"/>
            <a:ext cx="2816498" cy="1147763"/>
          </a:xfrm>
          <a:prstGeom prst="roundRect">
            <a:avLst>
              <a:gd name="adj" fmla="val 11618"/>
            </a:avLst>
          </a:prstGeom>
          <a:solidFill>
            <a:srgbClr val="111418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14614252" y="1959769"/>
            <a:ext cx="2435498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800" b="1" kern="0" spc="324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回数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4614252" y="2331244"/>
            <a:ext cx="2435498" cy="5095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2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10回 × 2セット</a:t>
            </a:r>
          </a:p>
        </p:txBody>
      </p:sp>
      <p:sp>
        <p:nvSpPr>
          <p:cNvPr id="20" name="Shape 18"/>
          <p:cNvSpPr/>
          <p:nvPr/>
        </p:nvSpPr>
        <p:spPr>
          <a:xfrm>
            <a:off x="398718" y="2674620"/>
            <a:ext cx="8791001" cy="5765292"/>
          </a:xfrm>
          <a:prstGeom prst="roundRect">
            <a:avLst>
              <a:gd name="adj" fmla="val 2736"/>
            </a:avLst>
          </a:prstGeom>
          <a:solidFill>
            <a:srgbClr val="EAF1F9"/>
          </a:solidFill>
          <a:ln/>
        </p:spPr>
        <p:txBody>
          <a:bodyPr/>
          <a:p/>
        </p:txBody>
      </p:sp>
      <p:sp>
        <p:nvSpPr>
          <p:cNvPr id="23" name="Text 20"/>
          <p:cNvSpPr/>
          <p:nvPr/>
        </p:nvSpPr>
        <p:spPr>
          <a:xfrm>
            <a:off x="9527307" y="2678049"/>
            <a:ext cx="7944331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324" dirty="0">
                <a:solidFill>
                  <a:srgbClr val="6B7480"/>
                </a:solidFill>
                <a:latin typeface="Yu Gothic" pitchFamily="34" charset="0"/>
                <a:ea typeface="Arial" pitchFamily="34" charset="-122"/>
                <a:cs typeface="Arial" pitchFamily="34" charset="-120"/>
              </a:rPr>
              <a:t>手順</a:t>
            </a:r>
            <a:endParaRPr lang="en-US" sz="1800" dirty="0"/>
          </a:p>
        </p:txBody>
      </p:sp>
      <p:sp>
        <p:nvSpPr>
          <p:cNvPr id="24" name="Shape 21"/>
          <p:cNvSpPr/>
          <p:nvPr/>
        </p:nvSpPr>
        <p:spPr>
          <a:xfrm>
            <a:off x="9527307" y="3201924"/>
            <a:ext cx="7712943" cy="781050"/>
          </a:xfrm>
          <a:prstGeom prst="roundRect">
            <a:avLst>
              <a:gd name="adj" fmla="val 17073"/>
            </a:avLst>
          </a:prstGeom>
          <a:solidFill>
            <a:srgbClr val="FFFFFF"/>
          </a:solidFill>
          <a:ln w="9525">
            <a:solidFill>
              <a:srgbClr val="E3E6EA"/>
            </a:solidFill>
            <a:prstDash val="solid"/>
          </a:ln>
        </p:spPr>
        <p:txBody>
          <a:bodyPr/>
          <a:p/>
        </p:txBody>
      </p:sp>
      <p:sp>
        <p:nvSpPr>
          <p:cNvPr id="25" name="Shape 22"/>
          <p:cNvSpPr/>
          <p:nvPr/>
        </p:nvSpPr>
        <p:spPr>
          <a:xfrm>
            <a:off x="9746382" y="3363849"/>
            <a:ext cx="457200" cy="457200"/>
          </a:xfrm>
          <a:prstGeom prst="ellipse">
            <a:avLst/>
          </a:prstGeom>
          <a:solidFill>
            <a:srgbClr val="3B6EA8"/>
          </a:solidFill>
          <a:ln/>
        </p:spPr>
        <p:txBody>
          <a:bodyPr/>
          <a:p/>
        </p:txBody>
      </p:sp>
      <p:sp>
        <p:nvSpPr>
          <p:cNvPr id="26" name="Text 23"/>
          <p:cNvSpPr/>
          <p:nvPr/>
        </p:nvSpPr>
        <p:spPr>
          <a:xfrm>
            <a:off x="9708282" y="3363849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950" b="1" dirty="0">
                <a:solidFill>
                  <a:srgbClr val="FFFFFF"/>
                </a:solidFill>
                <a:latin typeface="Georgia" pitchFamily="34" charset="0"/>
              </a:rPr>
              <a:t>１</a:t>
            </a:r>
            <a:endParaRPr lang="en-US" sz="1950" dirty="0"/>
          </a:p>
        </p:txBody>
      </p:sp>
      <p:sp>
        <p:nvSpPr>
          <p:cNvPr id="27" name="Text 24"/>
          <p:cNvSpPr/>
          <p:nvPr/>
        </p:nvSpPr>
        <p:spPr>
          <a:xfrm>
            <a:off x="10527432" y="3363849"/>
            <a:ext cx="6688555" cy="4619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000" b="1" dirty="0" err="1">
                <a:solidFill>
                  <a:srgbClr val="264A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手すりや壁を支えにして立ちます。</a:t>
            </a:r>
          </a:p>
        </p:txBody>
      </p:sp>
      <p:sp>
        <p:nvSpPr>
          <p:cNvPr id="28" name="Shape 25"/>
          <p:cNvSpPr/>
          <p:nvPr/>
        </p:nvSpPr>
        <p:spPr>
          <a:xfrm>
            <a:off x="9527307" y="4097274"/>
            <a:ext cx="7712943" cy="900112"/>
          </a:xfrm>
          <a:prstGeom prst="roundRect">
            <a:avLst>
              <a:gd name="adj" fmla="val 17073"/>
            </a:avLst>
          </a:prstGeom>
          <a:solidFill>
            <a:srgbClr val="FFFFFF"/>
          </a:solidFill>
          <a:ln w="9525">
            <a:solidFill>
              <a:srgbClr val="E3E6EA"/>
            </a:solidFill>
            <a:prstDash val="solid"/>
          </a:ln>
        </p:spPr>
        <p:txBody>
          <a:bodyPr/>
          <a:p/>
        </p:txBody>
      </p:sp>
      <p:sp>
        <p:nvSpPr>
          <p:cNvPr id="29" name="Shape 26"/>
          <p:cNvSpPr/>
          <p:nvPr/>
        </p:nvSpPr>
        <p:spPr>
          <a:xfrm>
            <a:off x="9746382" y="4259199"/>
            <a:ext cx="457200" cy="457200"/>
          </a:xfrm>
          <a:prstGeom prst="ellipse">
            <a:avLst/>
          </a:prstGeom>
          <a:solidFill>
            <a:srgbClr val="3B6EA8"/>
          </a:solidFill>
          <a:ln/>
        </p:spPr>
        <p:txBody>
          <a:bodyPr/>
          <a:p/>
        </p:txBody>
      </p:sp>
      <p:sp>
        <p:nvSpPr>
          <p:cNvPr id="30" name="Text 27"/>
          <p:cNvSpPr/>
          <p:nvPr/>
        </p:nvSpPr>
        <p:spPr>
          <a:xfrm>
            <a:off x="9708282" y="4259199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950" b="1" dirty="0">
                <a:solidFill>
                  <a:srgbClr val="FFFFFF"/>
                </a:solidFill>
                <a:latin typeface="Georgia" pitchFamily="34" charset="0"/>
              </a:rPr>
              <a:t>２</a:t>
            </a:r>
            <a:endParaRPr lang="en-US" sz="1950" dirty="0"/>
          </a:p>
        </p:txBody>
      </p:sp>
      <p:sp>
        <p:nvSpPr>
          <p:cNvPr id="31" name="Text 28"/>
          <p:cNvSpPr/>
          <p:nvPr/>
        </p:nvSpPr>
        <p:spPr>
          <a:xfrm>
            <a:off x="10527432" y="4065742"/>
            <a:ext cx="6688555" cy="9001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000" dirty="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両足のかかとをゆっくり上げてつま先立ちで3秒キープ。ゆっくり下ろします。</a:t>
            </a:r>
          </a:p>
        </p:txBody>
      </p:sp>
      <p:sp>
        <p:nvSpPr>
          <p:cNvPr id="32" name="Shape 29"/>
          <p:cNvSpPr/>
          <p:nvPr/>
        </p:nvSpPr>
        <p:spPr>
          <a:xfrm>
            <a:off x="9527307" y="5068824"/>
            <a:ext cx="7712943" cy="967680"/>
          </a:xfrm>
          <a:prstGeom prst="roundRect">
            <a:avLst>
              <a:gd name="adj" fmla="val 11812"/>
            </a:avLst>
          </a:prstGeom>
          <a:solidFill>
            <a:srgbClr val="FAF1DE"/>
          </a:solidFill>
          <a:ln/>
        </p:spPr>
        <p:txBody>
          <a:bodyPr/>
          <a:p/>
        </p:txBody>
      </p:sp>
      <p:sp>
        <p:nvSpPr>
          <p:cNvPr id="33" name="Shape 30"/>
          <p:cNvSpPr/>
          <p:nvPr/>
        </p:nvSpPr>
        <p:spPr>
          <a:xfrm>
            <a:off x="9736857" y="5343114"/>
            <a:ext cx="419100" cy="419100"/>
          </a:xfrm>
          <a:prstGeom prst="ellipse">
            <a:avLst/>
          </a:prstGeom>
          <a:solidFill>
            <a:srgbClr val="C98A2B"/>
          </a:solidFill>
          <a:ln/>
        </p:spPr>
        <p:txBody>
          <a:bodyPr/>
          <a:p/>
        </p:txBody>
      </p:sp>
      <p:sp>
        <p:nvSpPr>
          <p:cNvPr id="34" name="Text 31"/>
          <p:cNvSpPr/>
          <p:nvPr/>
        </p:nvSpPr>
        <p:spPr>
          <a:xfrm>
            <a:off x="9698757" y="5343114"/>
            <a:ext cx="49530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◎</a:t>
            </a:r>
            <a:endParaRPr lang="en-US" sz="1800" dirty="0"/>
          </a:p>
        </p:txBody>
      </p:sp>
      <p:sp>
        <p:nvSpPr>
          <p:cNvPr id="35" name="Text 32"/>
          <p:cNvSpPr/>
          <p:nvPr/>
        </p:nvSpPr>
        <p:spPr>
          <a:xfrm>
            <a:off x="10527432" y="5083111"/>
            <a:ext cx="6939063" cy="9533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2000" b="1" dirty="0" err="1">
                <a:solidFill>
                  <a:srgbClr val="3D28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ふくらはぎに力が入る感覚を大事に</a:t>
            </a:r>
            <a:r>
              <a:rPr lang="en-US" sz="2000" b="1" dirty="0">
                <a:solidFill>
                  <a:srgbClr val="3D28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。</a:t>
            </a:r>
          </a:p>
          <a:p>
            <a:pPr marL="0" indent="0" algn="l">
              <a:lnSpc>
                <a:spcPct val="145000"/>
              </a:lnSpc>
              <a:buNone/>
            </a:pPr>
            <a:r>
              <a:rPr lang="en-US" sz="2000" b="1" dirty="0" err="1">
                <a:solidFill>
                  <a:srgbClr val="3D28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歩行時の蹴り出しがスムーズに</a:t>
            </a:r>
            <a:r>
              <a:rPr lang="ja-JP" altLang="en-US" sz="2000" b="1">
                <a:solidFill>
                  <a:srgbClr val="3D28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なります</a:t>
            </a:r>
            <a:r>
              <a:rPr lang="en-US" sz="2000" b="1" dirty="0">
                <a:solidFill>
                  <a:srgbClr val="3D28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。</a:t>
            </a:r>
          </a:p>
        </p:txBody>
      </p:sp>
      <p:sp>
        <p:nvSpPr>
          <p:cNvPr id="36" name="Shape 33"/>
          <p:cNvSpPr/>
          <p:nvPr/>
        </p:nvSpPr>
        <p:spPr>
          <a:xfrm>
            <a:off x="9527307" y="6227004"/>
            <a:ext cx="7712943" cy="990600"/>
          </a:xfrm>
          <a:prstGeom prst="roundRect">
            <a:avLst>
              <a:gd name="adj" fmla="val 7692"/>
            </a:avLst>
          </a:prstGeom>
          <a:solidFill>
            <a:srgbClr val="FDECE8"/>
          </a:solidFill>
          <a:ln/>
        </p:spPr>
        <p:txBody>
          <a:bodyPr/>
          <a:p/>
        </p:txBody>
      </p:sp>
      <p:sp>
        <p:nvSpPr>
          <p:cNvPr id="37" name="Shape 34"/>
          <p:cNvSpPr/>
          <p:nvPr/>
        </p:nvSpPr>
        <p:spPr>
          <a:xfrm>
            <a:off x="9527307" y="6227004"/>
            <a:ext cx="57150" cy="990600"/>
          </a:xfrm>
          <a:prstGeom prst="rect">
            <a:avLst/>
          </a:prstGeom>
          <a:solidFill>
            <a:srgbClr val="E87362"/>
          </a:solidFill>
          <a:ln/>
        </p:spPr>
        <p:txBody>
          <a:bodyPr/>
          <a:p/>
        </p:txBody>
      </p:sp>
      <p:sp>
        <p:nvSpPr>
          <p:cNvPr id="38" name="Shape 35"/>
          <p:cNvSpPr/>
          <p:nvPr/>
        </p:nvSpPr>
        <p:spPr>
          <a:xfrm>
            <a:off x="9746382" y="6510969"/>
            <a:ext cx="457200" cy="457200"/>
          </a:xfrm>
          <a:prstGeom prst="ellipse">
            <a:avLst/>
          </a:prstGeom>
          <a:solidFill>
            <a:srgbClr val="E87362"/>
          </a:solidFill>
          <a:ln/>
        </p:spPr>
        <p:txBody>
          <a:bodyPr/>
          <a:p/>
        </p:txBody>
      </p:sp>
      <p:sp>
        <p:nvSpPr>
          <p:cNvPr id="39" name="Text 36"/>
          <p:cNvSpPr/>
          <p:nvPr/>
        </p:nvSpPr>
        <p:spPr>
          <a:xfrm>
            <a:off x="9708282" y="6510969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!</a:t>
            </a:r>
            <a:endParaRPr lang="en-US" sz="2100" dirty="0"/>
          </a:p>
        </p:txBody>
      </p:sp>
      <p:sp>
        <p:nvSpPr>
          <p:cNvPr id="40" name="Text 37"/>
          <p:cNvSpPr/>
          <p:nvPr/>
        </p:nvSpPr>
        <p:spPr>
          <a:xfrm>
            <a:off x="10536957" y="6397888"/>
            <a:ext cx="6688555" cy="5857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000" b="1" dirty="0">
                <a:solidFill>
                  <a:srgbClr val="7A2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ふらつく時は必ず支えを持って行ってください。</a:t>
            </a:r>
          </a:p>
        </p:txBody>
      </p:sp>
      <p:pic>
        <p:nvPicPr>
          <p:cNvPr id="45" name="図 44">
            <a:extLst>
              <a:ext uri="{FF2B5EF4-FFF2-40B4-BE49-F238E27FC236}">
                <a16:creationId xmlns:a16="http://schemas.microsoft.com/office/drawing/2014/main" id="{3C4C9FC1-1DD2-9B43-B56D-9F5DCA44541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5064" r="11077" b="20296"/>
          <a:stretch/>
        </p:blipFill>
        <p:spPr>
          <a:xfrm>
            <a:off x="618493" y="2818752"/>
            <a:ext cx="8351450" cy="5477027"/>
          </a:xfrm>
          <a:prstGeom prst="rect">
            <a:avLst/>
          </a:prstGeom>
        </p:spPr>
      </p:pic>
      <p:sp>
        <p:nvSpPr>
          <p:cNvPr id="46" name="TextBox 45"/>
          <p:cNvSpPr txBox="1"/>
          <p:nvPr/>
        </p:nvSpPr>
        <p:spPr>
          <a:xfrm>
            <a:off x="1097280" y="9052560"/>
            <a:ext cx="1609344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334155"/>
                </a:solidFill>
                <a:latin typeface="Yu Gothic"/>
              </a:rPr>
              <a:t>目的：</a:t>
            </a:r>
            <a:r>
              <a:rPr sz="2800">
                <a:solidFill>
                  <a:srgbClr val="334155"/>
                </a:solidFill>
                <a:latin typeface="Yu Gothic"/>
              </a:rPr>
              <a:t>ふくらはぎを鍛え、歩行や立位を安定させます。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1822</TotalTime>
  <Words>841</Words>
  <Application>Microsoft Macintosh PowerPoint</Application>
  <PresentationFormat>ユーザー設定</PresentationFormat>
  <Paragraphs>311</Paragraphs>
  <Slides>12</Slides>
  <Notes>12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12</vt:i4>
      </vt:variant>
    </vt:vector>
  </HeadingPairs>
  <TitlesOfParts>
    <vt:vector size="18" baseType="lpstr">
      <vt:lpstr>Yu Gothic</vt:lpstr>
      <vt:lpstr>Yu Gothic</vt:lpstr>
      <vt:lpstr>Arial</vt:lpstr>
      <vt:lpstr>Calibri</vt:lpstr>
      <vt:lpstr>Georgia</vt:lpstr>
      <vt:lpstr>Office Theme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>PptxGenJS</Company>
  <LinksUpToDate>false</LinksUpToDate>
  <SharedDoc>false</SharedDoc>
  <HyperlinksChanged>false</HyperlinksChanged>
  <AppVersion>16.0016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誠 安宅</cp:lastModifiedBy>
  <cp:revision>18</cp:revision>
  <dcterms:created xsi:type="dcterms:W3CDTF">2026-04-19T20:11:14Z</dcterms:created>
  <dcterms:modified xsi:type="dcterms:W3CDTF">2026-05-07T14:15:57Z</dcterms:modified>
</cp:coreProperties>
</file>