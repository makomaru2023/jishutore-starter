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4"/>
    <p:restoredTop sz="92784"/>
  </p:normalViewPr>
  <p:slideViewPr>
    <p:cSldViewPr snapToGrid="0" snapToObjects="1">
      <p:cViewPr varScale="1">
        <p:scale>
          <a:sx n="81" d="100"/>
          <a:sy n="81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3B6EA8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333500"/>
            <a:ext cx="1608963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720" dirty="0">
                <a:solidFill>
                  <a:srgbClr val="3B6EA8"/>
                </a:solidFill>
                <a:ea typeface="Arial" pitchFamily="34" charset="-122"/>
                <a:cs typeface="Arial" pitchFamily="34" charset="-120"/>
              </a:rPr>
              <a:t>REHABILITATION HANDBOOK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333500" y="2385509"/>
            <a:ext cx="16089630" cy="309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ja-JP" altLang="en-US" sz="8800" kern="0" spc="105">
                <a:solidFill>
                  <a:srgbClr val="111418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Georgia" pitchFamily="34" charset="-120"/>
              </a:rPr>
              <a:t>腰痛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ja-JP" altLang="en-US" sz="8800" kern="0" spc="105">
                <a:solidFill>
                  <a:srgbClr val="111418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Georgia" pitchFamily="34" charset="-120"/>
              </a:rPr>
              <a:t>自主トレメニュー</a:t>
            </a:r>
          </a:p>
        </p:txBody>
      </p:sp>
      <p:sp>
        <p:nvSpPr>
          <p:cNvPr id="5" name="Text 3"/>
          <p:cNvSpPr/>
          <p:nvPr/>
        </p:nvSpPr>
        <p:spPr>
          <a:xfrm>
            <a:off x="1849029" y="6067929"/>
            <a:ext cx="1505857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000" dirty="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ご自宅で続けていただきたい9つの腰痛運動。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000" dirty="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無理のない範囲で、毎日少しずつ取り組んでみましょう。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D7BA8319-DBD4-F04E-9E9E-6323B15E2586}"/>
              </a:ext>
            </a:extLst>
          </p:cNvPr>
          <p:cNvGrpSpPr/>
          <p:nvPr/>
        </p:nvGrpSpPr>
        <p:grpSpPr>
          <a:xfrm>
            <a:off x="1333500" y="7877175"/>
            <a:ext cx="3717610" cy="942975"/>
            <a:chOff x="1333500" y="8577263"/>
            <a:chExt cx="3717610" cy="942975"/>
          </a:xfrm>
        </p:grpSpPr>
        <p:sp>
          <p:nvSpPr>
            <p:cNvPr id="6" name="Shape 4"/>
            <p:cNvSpPr/>
            <p:nvPr/>
          </p:nvSpPr>
          <p:spPr>
            <a:xfrm>
              <a:off x="1333500" y="8577263"/>
              <a:ext cx="38100" cy="942975"/>
            </a:xfrm>
            <a:prstGeom prst="rect">
              <a:avLst/>
            </a:prstGeom>
            <a:solidFill>
              <a:srgbClr val="3B6EA8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1600200" y="8634413"/>
              <a:ext cx="3139440" cy="371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kern="0" spc="252" dirty="0">
                  <a:solidFill>
                    <a:srgbClr val="6B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FOR</a:t>
              </a:r>
              <a:endParaRPr lang="en-US" sz="1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600199" y="9024938"/>
              <a:ext cx="3450911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腰痛でお悩みの方へ</a:t>
              </a: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8A25D08E-FF02-1842-95A1-36C61C380605}"/>
              </a:ext>
            </a:extLst>
          </p:cNvPr>
          <p:cNvGrpSpPr/>
          <p:nvPr/>
        </p:nvGrpSpPr>
        <p:grpSpPr>
          <a:xfrm>
            <a:off x="5206622" y="7877175"/>
            <a:ext cx="4411774" cy="942975"/>
            <a:chOff x="5219700" y="8577263"/>
            <a:chExt cx="4411774" cy="942975"/>
          </a:xfrm>
        </p:grpSpPr>
        <p:sp>
          <p:nvSpPr>
            <p:cNvPr id="9" name="Shape 7"/>
            <p:cNvSpPr/>
            <p:nvPr/>
          </p:nvSpPr>
          <p:spPr>
            <a:xfrm>
              <a:off x="5219700" y="8577263"/>
              <a:ext cx="38100" cy="942975"/>
            </a:xfrm>
            <a:prstGeom prst="rect">
              <a:avLst/>
            </a:prstGeom>
            <a:solidFill>
              <a:srgbClr val="3B6EA8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5486400" y="8634413"/>
              <a:ext cx="4037430" cy="371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kern="0" spc="252" dirty="0">
                  <a:solidFill>
                    <a:srgbClr val="6B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CONTENT</a:t>
              </a:r>
              <a:endParaRPr lang="en-US" sz="1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486400" y="9024938"/>
              <a:ext cx="4145074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腰を守る運動 9種 + 続けるコツ</a:t>
              </a: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76A7285-4551-454F-B8E9-753C4A6D20AA}"/>
              </a:ext>
            </a:extLst>
          </p:cNvPr>
          <p:cNvGrpSpPr/>
          <p:nvPr/>
        </p:nvGrpSpPr>
        <p:grpSpPr>
          <a:xfrm>
            <a:off x="9932963" y="7861363"/>
            <a:ext cx="2650923" cy="942975"/>
            <a:chOff x="9977735" y="8577263"/>
            <a:chExt cx="2650923" cy="942975"/>
          </a:xfrm>
        </p:grpSpPr>
        <p:sp>
          <p:nvSpPr>
            <p:cNvPr id="12" name="Shape 10"/>
            <p:cNvSpPr/>
            <p:nvPr/>
          </p:nvSpPr>
          <p:spPr>
            <a:xfrm>
              <a:off x="9977735" y="8577263"/>
              <a:ext cx="38100" cy="942975"/>
            </a:xfrm>
            <a:prstGeom prst="rect">
              <a:avLst/>
            </a:prstGeom>
            <a:solidFill>
              <a:srgbClr val="3B6EA8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10244435" y="8634413"/>
              <a:ext cx="2263229" cy="371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kern="0" spc="252" dirty="0">
                  <a:solidFill>
                    <a:srgbClr val="6B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TIME</a:t>
              </a:r>
              <a:endParaRPr lang="en-US" sz="18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244435" y="9024938"/>
              <a:ext cx="2384223" cy="3414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1日 約15〜20分</a:t>
              </a:r>
              <a:endParaRPr lang="en-US" sz="20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13491518" y="8431429"/>
            <a:ext cx="4580597" cy="739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担当療法士 </a:t>
            </a: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(配布日: </a:t>
            </a:r>
            <a:r>
              <a:rPr lang="ja-JP" altLang="en-US" sz="180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</a:t>
            </a:r>
            <a:r>
              <a:rPr lang="ja-JP" altLang="en-US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</a:t>
            </a: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ja-JP" altLang="en-US" sz="180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</a:t>
            </a:r>
            <a:r>
              <a:rPr lang="ja-JP" altLang="en-US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</a:t>
            </a: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ja-JP" altLang="en-US" sz="180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</a:t>
            </a:r>
            <a:r>
              <a:rPr lang="ja-JP" altLang="en-US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</a:t>
            </a: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F9070600-DA6D-D940-B036-DC006DE2BC8F}"/>
              </a:ext>
            </a:extLst>
          </p:cNvPr>
          <p:cNvGrpSpPr/>
          <p:nvPr/>
        </p:nvGrpSpPr>
        <p:grpSpPr>
          <a:xfrm>
            <a:off x="1009650" y="762000"/>
            <a:ext cx="5330577" cy="552450"/>
            <a:chOff x="1009650" y="762000"/>
            <a:chExt cx="5330577" cy="552450"/>
          </a:xfrm>
        </p:grpSpPr>
        <p:sp>
          <p:nvSpPr>
            <p:cNvPr id="4" name="Text 2"/>
            <p:cNvSpPr/>
            <p:nvPr/>
          </p:nvSpPr>
          <p:spPr>
            <a:xfrm>
              <a:off x="1009650" y="762000"/>
              <a:ext cx="590550" cy="552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腰</a:t>
              </a:r>
              <a:endParaRPr lang="en-US" sz="21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733550" y="840581"/>
              <a:ext cx="3584909" cy="3952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950" b="1" kern="0" spc="78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腰痛 自主トレメニュー</a:t>
              </a:r>
            </a:p>
          </p:txBody>
        </p:sp>
        <p:sp>
          <p:nvSpPr>
            <p:cNvPr id="6" name="Text 4"/>
            <p:cNvSpPr/>
            <p:nvPr/>
          </p:nvSpPr>
          <p:spPr>
            <a:xfrm>
              <a:off x="5518845" y="852488"/>
              <a:ext cx="821382" cy="371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6B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| 目次</a:t>
              </a:r>
              <a:endParaRPr lang="en-US" sz="18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1771650"/>
            <a:ext cx="16678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3B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2238375"/>
            <a:ext cx="16678275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本日お渡しする９つの運動</a:t>
            </a:r>
          </a:p>
        </p:txBody>
      </p:sp>
      <p:sp>
        <p:nvSpPr>
          <p:cNvPr id="10" name="Shape 8"/>
          <p:cNvSpPr/>
          <p:nvPr/>
        </p:nvSpPr>
        <p:spPr>
          <a:xfrm>
            <a:off x="1047750" y="4382393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3603724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１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095499" y="3453705"/>
            <a:ext cx="291192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骨盤傾斜</a:t>
            </a:r>
          </a:p>
        </p:txBody>
      </p:sp>
      <p:sp>
        <p:nvSpPr>
          <p:cNvPr id="13" name="Text 11"/>
          <p:cNvSpPr/>
          <p:nvPr/>
        </p:nvSpPr>
        <p:spPr>
          <a:xfrm>
            <a:off x="2095500" y="3877568"/>
            <a:ext cx="51432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腹横筋・姿勢の基礎</a:t>
            </a:r>
          </a:p>
        </p:txBody>
      </p:sp>
      <p:sp>
        <p:nvSpPr>
          <p:cNvPr id="14" name="Shape 12"/>
          <p:cNvSpPr/>
          <p:nvPr/>
        </p:nvSpPr>
        <p:spPr>
          <a:xfrm>
            <a:off x="7165107" y="3589437"/>
            <a:ext cx="1693143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5" name="Text 13"/>
          <p:cNvSpPr/>
          <p:nvPr/>
        </p:nvSpPr>
        <p:spPr>
          <a:xfrm>
            <a:off x="7240821" y="3651123"/>
            <a:ext cx="15407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</a:t>
            </a:r>
          </a:p>
        </p:txBody>
      </p:sp>
      <p:sp>
        <p:nvSpPr>
          <p:cNvPr id="16" name="Shape 14"/>
          <p:cNvSpPr/>
          <p:nvPr/>
        </p:nvSpPr>
        <p:spPr>
          <a:xfrm>
            <a:off x="9372600" y="4382393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0" y="3603724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420350" y="3453705"/>
            <a:ext cx="3288211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両膝抱え</a:t>
            </a:r>
          </a:p>
        </p:txBody>
      </p:sp>
      <p:sp>
        <p:nvSpPr>
          <p:cNvPr id="19" name="Text 17"/>
          <p:cNvSpPr/>
          <p:nvPr/>
        </p:nvSpPr>
        <p:spPr>
          <a:xfrm>
            <a:off x="10420350" y="3877568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腰部ストレッチ</a:t>
            </a:r>
          </a:p>
        </p:txBody>
      </p:sp>
      <p:sp>
        <p:nvSpPr>
          <p:cNvPr id="20" name="Shape 18"/>
          <p:cNvSpPr/>
          <p:nvPr/>
        </p:nvSpPr>
        <p:spPr>
          <a:xfrm>
            <a:off x="15510136" y="3589437"/>
            <a:ext cx="167296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21" name="Text 19"/>
          <p:cNvSpPr/>
          <p:nvPr/>
        </p:nvSpPr>
        <p:spPr>
          <a:xfrm>
            <a:off x="15701860" y="3661470"/>
            <a:ext cx="1291866" cy="393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 × 3</a:t>
            </a:r>
          </a:p>
        </p:txBody>
      </p:sp>
      <p:sp>
        <p:nvSpPr>
          <p:cNvPr id="22" name="Shape 20"/>
          <p:cNvSpPr/>
          <p:nvPr/>
        </p:nvSpPr>
        <p:spPr>
          <a:xfrm>
            <a:off x="1047750" y="5682555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4903887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３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95500" y="4753868"/>
            <a:ext cx="383209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片膝抱え</a:t>
            </a:r>
          </a:p>
        </p:txBody>
      </p:sp>
      <p:sp>
        <p:nvSpPr>
          <p:cNvPr id="25" name="Text 23"/>
          <p:cNvSpPr/>
          <p:nvPr/>
        </p:nvSpPr>
        <p:spPr>
          <a:xfrm>
            <a:off x="2095500" y="5177730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腰・お尻のストレッチ</a:t>
            </a:r>
          </a:p>
        </p:txBody>
      </p:sp>
      <p:sp>
        <p:nvSpPr>
          <p:cNvPr id="26" name="Shape 24"/>
          <p:cNvSpPr/>
          <p:nvPr/>
        </p:nvSpPr>
        <p:spPr>
          <a:xfrm>
            <a:off x="7165107" y="4889599"/>
            <a:ext cx="1693143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27" name="Text 25"/>
          <p:cNvSpPr/>
          <p:nvPr/>
        </p:nvSpPr>
        <p:spPr>
          <a:xfrm>
            <a:off x="7296765" y="4965799"/>
            <a:ext cx="14090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各30秒</a:t>
            </a:r>
          </a:p>
        </p:txBody>
      </p:sp>
      <p:sp>
        <p:nvSpPr>
          <p:cNvPr id="28" name="Shape 26"/>
          <p:cNvSpPr/>
          <p:nvPr/>
        </p:nvSpPr>
        <p:spPr>
          <a:xfrm>
            <a:off x="9372600" y="5682555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29" name="Text 27"/>
          <p:cNvSpPr/>
          <p:nvPr/>
        </p:nvSpPr>
        <p:spPr>
          <a:xfrm>
            <a:off x="9429750" y="4903887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４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0420349" y="4753868"/>
            <a:ext cx="3748933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ストレッチポールで胸を開く</a:t>
            </a:r>
          </a:p>
        </p:txBody>
      </p:sp>
      <p:sp>
        <p:nvSpPr>
          <p:cNvPr id="31" name="Text 29"/>
          <p:cNvSpPr/>
          <p:nvPr/>
        </p:nvSpPr>
        <p:spPr>
          <a:xfrm>
            <a:off x="10420350" y="5177730"/>
            <a:ext cx="46732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胸椎伸展・円背予防</a:t>
            </a:r>
          </a:p>
        </p:txBody>
      </p:sp>
      <p:sp>
        <p:nvSpPr>
          <p:cNvPr id="32" name="Shape 30"/>
          <p:cNvSpPr/>
          <p:nvPr/>
        </p:nvSpPr>
        <p:spPr>
          <a:xfrm>
            <a:off x="15510136" y="4889599"/>
            <a:ext cx="167296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33" name="Text 31"/>
          <p:cNvSpPr/>
          <p:nvPr/>
        </p:nvSpPr>
        <p:spPr>
          <a:xfrm>
            <a:off x="15580511" y="4966237"/>
            <a:ext cx="1532214" cy="38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1〜2分</a:t>
            </a:r>
          </a:p>
        </p:txBody>
      </p:sp>
      <p:sp>
        <p:nvSpPr>
          <p:cNvPr id="34" name="Shape 32"/>
          <p:cNvSpPr/>
          <p:nvPr/>
        </p:nvSpPr>
        <p:spPr>
          <a:xfrm>
            <a:off x="1047750" y="6982718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35" name="Text 33"/>
          <p:cNvSpPr/>
          <p:nvPr/>
        </p:nvSpPr>
        <p:spPr>
          <a:xfrm>
            <a:off x="1104900" y="6204049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５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2095500" y="6054030"/>
            <a:ext cx="3282692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座って開脚ストレッチ</a:t>
            </a:r>
          </a:p>
        </p:txBody>
      </p:sp>
      <p:sp>
        <p:nvSpPr>
          <p:cNvPr id="37" name="Text 35"/>
          <p:cNvSpPr/>
          <p:nvPr/>
        </p:nvSpPr>
        <p:spPr>
          <a:xfrm>
            <a:off x="2095500" y="6477893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もも裏の柔軟性</a:t>
            </a:r>
          </a:p>
        </p:txBody>
      </p:sp>
      <p:sp>
        <p:nvSpPr>
          <p:cNvPr id="38" name="Shape 36"/>
          <p:cNvSpPr/>
          <p:nvPr/>
        </p:nvSpPr>
        <p:spPr>
          <a:xfrm>
            <a:off x="7165107" y="6189762"/>
            <a:ext cx="1693143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39" name="Text 37"/>
          <p:cNvSpPr/>
          <p:nvPr/>
        </p:nvSpPr>
        <p:spPr>
          <a:xfrm>
            <a:off x="7290546" y="6265962"/>
            <a:ext cx="14153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各30秒</a:t>
            </a:r>
          </a:p>
        </p:txBody>
      </p:sp>
      <p:sp>
        <p:nvSpPr>
          <p:cNvPr id="40" name="Shape 38"/>
          <p:cNvSpPr/>
          <p:nvPr/>
        </p:nvSpPr>
        <p:spPr>
          <a:xfrm>
            <a:off x="9372600" y="6982718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1" name="Text 39"/>
          <p:cNvSpPr/>
          <p:nvPr/>
        </p:nvSpPr>
        <p:spPr>
          <a:xfrm>
            <a:off x="9429750" y="6204049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６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10420350" y="6054030"/>
            <a:ext cx="3288210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肩甲骨寄せ運動</a:t>
            </a:r>
          </a:p>
        </p:txBody>
      </p:sp>
      <p:sp>
        <p:nvSpPr>
          <p:cNvPr id="43" name="Text 41"/>
          <p:cNvSpPr/>
          <p:nvPr/>
        </p:nvSpPr>
        <p:spPr>
          <a:xfrm>
            <a:off x="10420350" y="6477893"/>
            <a:ext cx="50897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姿勢改善・背筋</a:t>
            </a:r>
          </a:p>
        </p:txBody>
      </p:sp>
      <p:sp>
        <p:nvSpPr>
          <p:cNvPr id="44" name="Shape 42"/>
          <p:cNvSpPr/>
          <p:nvPr/>
        </p:nvSpPr>
        <p:spPr>
          <a:xfrm>
            <a:off x="15510136" y="6189762"/>
            <a:ext cx="173011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45" name="Text 43"/>
          <p:cNvSpPr/>
          <p:nvPr/>
        </p:nvSpPr>
        <p:spPr>
          <a:xfrm>
            <a:off x="15666690" y="6265962"/>
            <a:ext cx="13640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</a:t>
            </a:r>
          </a:p>
        </p:txBody>
      </p:sp>
      <p:sp>
        <p:nvSpPr>
          <p:cNvPr id="46" name="Shape 44"/>
          <p:cNvSpPr/>
          <p:nvPr/>
        </p:nvSpPr>
        <p:spPr>
          <a:xfrm>
            <a:off x="1047750" y="8282880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7" name="Text 45"/>
          <p:cNvSpPr/>
          <p:nvPr/>
        </p:nvSpPr>
        <p:spPr>
          <a:xfrm>
            <a:off x="1104900" y="7504212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７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2095499" y="7354193"/>
            <a:ext cx="2479799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膝つきプランク</a:t>
            </a:r>
          </a:p>
        </p:txBody>
      </p:sp>
      <p:sp>
        <p:nvSpPr>
          <p:cNvPr id="49" name="Text 47"/>
          <p:cNvSpPr/>
          <p:nvPr/>
        </p:nvSpPr>
        <p:spPr>
          <a:xfrm>
            <a:off x="2095500" y="7778055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コア安定性</a:t>
            </a:r>
          </a:p>
        </p:txBody>
      </p:sp>
      <p:sp>
        <p:nvSpPr>
          <p:cNvPr id="50" name="Shape 48"/>
          <p:cNvSpPr/>
          <p:nvPr/>
        </p:nvSpPr>
        <p:spPr>
          <a:xfrm>
            <a:off x="7165107" y="7489924"/>
            <a:ext cx="1693143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51" name="Text 49"/>
          <p:cNvSpPr/>
          <p:nvPr/>
        </p:nvSpPr>
        <p:spPr>
          <a:xfrm>
            <a:off x="7296765" y="7566124"/>
            <a:ext cx="14671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20秒 × 3</a:t>
            </a:r>
          </a:p>
        </p:txBody>
      </p:sp>
      <p:sp>
        <p:nvSpPr>
          <p:cNvPr id="52" name="Shape 50"/>
          <p:cNvSpPr/>
          <p:nvPr/>
        </p:nvSpPr>
        <p:spPr>
          <a:xfrm>
            <a:off x="9372600" y="8282880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53" name="Text 51"/>
          <p:cNvSpPr/>
          <p:nvPr/>
        </p:nvSpPr>
        <p:spPr>
          <a:xfrm>
            <a:off x="9429750" y="7504212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８</a:t>
            </a:r>
            <a:endParaRPr lang="en-US" sz="3600" dirty="0"/>
          </a:p>
        </p:txBody>
      </p:sp>
      <p:sp>
        <p:nvSpPr>
          <p:cNvPr id="54" name="Text 52"/>
          <p:cNvSpPr/>
          <p:nvPr/>
        </p:nvSpPr>
        <p:spPr>
          <a:xfrm>
            <a:off x="10420350" y="7354193"/>
            <a:ext cx="3288210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サイドブリッジ</a:t>
            </a:r>
            <a:endParaRPr lang="en-US" sz="2100" b="1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420350" y="7778055"/>
            <a:ext cx="54640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体側の安定性</a:t>
            </a:r>
          </a:p>
        </p:txBody>
      </p:sp>
      <p:sp>
        <p:nvSpPr>
          <p:cNvPr id="56" name="Shape 54"/>
          <p:cNvSpPr/>
          <p:nvPr/>
        </p:nvSpPr>
        <p:spPr>
          <a:xfrm>
            <a:off x="15510136" y="7489924"/>
            <a:ext cx="180631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57" name="Text 55"/>
          <p:cNvSpPr/>
          <p:nvPr/>
        </p:nvSpPr>
        <p:spPr>
          <a:xfrm>
            <a:off x="15666690" y="7566125"/>
            <a:ext cx="1516409" cy="371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各20秒 × 2</a:t>
            </a:r>
          </a:p>
        </p:txBody>
      </p:sp>
      <p:sp>
        <p:nvSpPr>
          <p:cNvPr id="58" name="Shape 56"/>
          <p:cNvSpPr/>
          <p:nvPr/>
        </p:nvSpPr>
        <p:spPr>
          <a:xfrm>
            <a:off x="1047750" y="9583043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59" name="Text 57"/>
          <p:cNvSpPr/>
          <p:nvPr/>
        </p:nvSpPr>
        <p:spPr>
          <a:xfrm>
            <a:off x="1104900" y="8804374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９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2095500" y="8654355"/>
            <a:ext cx="2911928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棒でヒップヒンジ</a:t>
            </a:r>
          </a:p>
        </p:txBody>
      </p:sp>
      <p:sp>
        <p:nvSpPr>
          <p:cNvPr id="61" name="Text 59"/>
          <p:cNvSpPr/>
          <p:nvPr/>
        </p:nvSpPr>
        <p:spPr>
          <a:xfrm>
            <a:off x="2095500" y="9078218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動作学習・腰を守る</a:t>
            </a:r>
          </a:p>
        </p:txBody>
      </p:sp>
      <p:sp>
        <p:nvSpPr>
          <p:cNvPr id="62" name="Shape 60"/>
          <p:cNvSpPr/>
          <p:nvPr/>
        </p:nvSpPr>
        <p:spPr>
          <a:xfrm>
            <a:off x="7165107" y="8790087"/>
            <a:ext cx="1693143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63" name="Text 61"/>
          <p:cNvSpPr/>
          <p:nvPr/>
        </p:nvSpPr>
        <p:spPr>
          <a:xfrm>
            <a:off x="7296765" y="8866287"/>
            <a:ext cx="14090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</a:t>
            </a:r>
          </a:p>
        </p:txBody>
      </p:sp>
      <p:sp>
        <p:nvSpPr>
          <p:cNvPr id="64" name="Shape 62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65" name="Text 63"/>
          <p:cNvSpPr/>
          <p:nvPr/>
        </p:nvSpPr>
        <p:spPr>
          <a:xfrm>
            <a:off x="1047750" y="9610725"/>
            <a:ext cx="3309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6" name="Text 64"/>
          <p:cNvSpPr/>
          <p:nvPr/>
        </p:nvSpPr>
        <p:spPr>
          <a:xfrm>
            <a:off x="15559088" y="9610725"/>
            <a:ext cx="1757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P.02 / 12 目次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骨盤傾斜(膝立て仰臥位)</a:t>
            </a:r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352591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491456" y="2600325"/>
            <a:ext cx="1344921" cy="428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腹横筋</a:t>
            </a:r>
          </a:p>
        </p:txBody>
      </p:sp>
      <p:sp>
        <p:nvSpPr>
          <p:cNvPr id="13" name="Shape 11"/>
          <p:cNvSpPr/>
          <p:nvPr/>
        </p:nvSpPr>
        <p:spPr>
          <a:xfrm>
            <a:off x="3867191" y="2543175"/>
            <a:ext cx="2265793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026877" y="2600325"/>
            <a:ext cx="20513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姿勢の基礎</a:t>
            </a:r>
          </a:p>
        </p:txBody>
      </p:sp>
      <p:sp>
        <p:nvSpPr>
          <p:cNvPr id="15" name="Shape 13"/>
          <p:cNvSpPr/>
          <p:nvPr/>
        </p:nvSpPr>
        <p:spPr>
          <a:xfrm>
            <a:off x="6209184" y="2543175"/>
            <a:ext cx="1924050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42534" y="2600325"/>
            <a:ext cx="17335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仰向けで実施</a:t>
            </a:r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0818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377820" y="3898680"/>
            <a:ext cx="7523318" cy="667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仰向けに寝て、両膝を立てます。足は腰幅に開きます。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676776"/>
            <a:ext cx="7712943" cy="834926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56285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374666" y="4814546"/>
            <a:ext cx="7093818" cy="742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息を吐きながら、腰を床に押しつけ骨盤を後ろに傾けます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639898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46382" y="580182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4" name="Text 31"/>
          <p:cNvSpPr/>
          <p:nvPr/>
        </p:nvSpPr>
        <p:spPr>
          <a:xfrm>
            <a:off x="9708282" y="574906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374666" y="5714266"/>
            <a:ext cx="6688555" cy="639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5秒キープしたら、ゆっくり力を抜きます。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91038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7" name="Shape 34"/>
          <p:cNvSpPr/>
          <p:nvPr/>
        </p:nvSpPr>
        <p:spPr>
          <a:xfrm>
            <a:off x="9736857" y="718467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8" name="Text 35"/>
          <p:cNvSpPr/>
          <p:nvPr/>
        </p:nvSpPr>
        <p:spPr>
          <a:xfrm>
            <a:off x="9716342" y="716709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374666" y="6895082"/>
            <a:ext cx="6786663" cy="109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お腹の奥の筋肉(腹横筋)を使う感覚です。</a:t>
            </a:r>
            <a:endParaRPr lang="en-US" altLang="ja-JP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腰を守る筋肉のスイッチを入れる運動です。</a:t>
            </a:r>
          </a:p>
        </p:txBody>
      </p:sp>
      <p:sp>
        <p:nvSpPr>
          <p:cNvPr id="40" name="Shape 37"/>
          <p:cNvSpPr/>
          <p:nvPr/>
        </p:nvSpPr>
        <p:spPr>
          <a:xfrm>
            <a:off x="9527307" y="8068568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</p:sp>
      <p:sp>
        <p:nvSpPr>
          <p:cNvPr id="41" name="Shape 38"/>
          <p:cNvSpPr/>
          <p:nvPr/>
        </p:nvSpPr>
        <p:spPr>
          <a:xfrm>
            <a:off x="9527307" y="8068568"/>
            <a:ext cx="57150" cy="9906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42" name="Shape 39"/>
          <p:cNvSpPr/>
          <p:nvPr/>
        </p:nvSpPr>
        <p:spPr>
          <a:xfrm>
            <a:off x="9794007" y="8335268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43" name="Text 40"/>
          <p:cNvSpPr/>
          <p:nvPr/>
        </p:nvSpPr>
        <p:spPr>
          <a:xfrm>
            <a:off x="9755907" y="833526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374666" y="8248650"/>
            <a:ext cx="6688555" cy="764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勢いをつけず、痛みのない範囲で行ってください。</a:t>
            </a:r>
          </a:p>
        </p:txBody>
      </p:sp>
      <p:sp>
        <p:nvSpPr>
          <p:cNvPr id="45" name="Shape 42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7" name="Text 44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P.03 / 12</a:t>
            </a:r>
            <a:endParaRPr lang="en-US" sz="180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C6E4B84C-5892-BF4F-A8F5-083384C955C2}"/>
              </a:ext>
            </a:extLst>
          </p:cNvPr>
          <p:cNvSpPr/>
          <p:nvPr/>
        </p:nvSpPr>
        <p:spPr>
          <a:xfrm>
            <a:off x="1047750" y="9610725"/>
            <a:ext cx="379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① 骨盤傾斜</a:t>
            </a: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B48C5DB4-C065-5B49-972C-A5F5B9F4BF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727"/>
          <a:stretch/>
        </p:blipFill>
        <p:spPr>
          <a:xfrm>
            <a:off x="1299696" y="4219575"/>
            <a:ext cx="7669924" cy="36046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両膝抱え</a:t>
            </a:r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853894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20463" y="2567034"/>
            <a:ext cx="1902049" cy="44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腰部ストレッチ</a:t>
            </a:r>
          </a:p>
        </p:txBody>
      </p:sp>
      <p:sp>
        <p:nvSpPr>
          <p:cNvPr id="13" name="Shape 11"/>
          <p:cNvSpPr/>
          <p:nvPr/>
        </p:nvSpPr>
        <p:spPr>
          <a:xfrm>
            <a:off x="4437163" y="2525590"/>
            <a:ext cx="1767483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552927" y="2564607"/>
            <a:ext cx="1634133" cy="352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仰向けで実施</a:t>
            </a:r>
          </a:p>
        </p:txBody>
      </p:sp>
      <p:sp>
        <p:nvSpPr>
          <p:cNvPr id="15" name="Shape 13"/>
          <p:cNvSpPr/>
          <p:nvPr/>
        </p:nvSpPr>
        <p:spPr>
          <a:xfrm>
            <a:off x="6330465" y="2525590"/>
            <a:ext cx="917377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30465" y="2595563"/>
            <a:ext cx="89832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朝晩に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 × 3回</a:t>
            </a:r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60935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396688" y="3926316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676776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9708282" y="48211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396688" y="4838700"/>
            <a:ext cx="7093818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両膝を抱えて、ゆっくり胸に近づけます。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675063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46382" y="5836988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1"/>
          <p:cNvSpPr/>
          <p:nvPr/>
        </p:nvSpPr>
        <p:spPr>
          <a:xfrm>
            <a:off x="9708282" y="580181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396687" y="5819041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30秒キープしたら、ゆっくり戻します。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F9B30FD-2694-0044-B45F-F85377902FD1}"/>
              </a:ext>
            </a:extLst>
          </p:cNvPr>
          <p:cNvGrpSpPr/>
          <p:nvPr/>
        </p:nvGrpSpPr>
        <p:grpSpPr>
          <a:xfrm>
            <a:off x="9527307" y="6910388"/>
            <a:ext cx="7712943" cy="990600"/>
            <a:chOff x="9527307" y="6910388"/>
            <a:chExt cx="7712943" cy="990600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90600"/>
            </a:xfrm>
            <a:prstGeom prst="roundRect">
              <a:avLst>
                <a:gd name="adj" fmla="val 7692"/>
              </a:avLst>
            </a:prstGeom>
            <a:solidFill>
              <a:srgbClr val="FDECE8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527307" y="6910388"/>
              <a:ext cx="57150" cy="990600"/>
            </a:xfrm>
            <a:prstGeom prst="rect">
              <a:avLst/>
            </a:prstGeom>
            <a:solidFill>
              <a:srgbClr val="E87362"/>
            </a:solidFill>
            <a:ln/>
          </p:spPr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D2EC8C07-4157-904C-9CC9-1A754141C2D3}"/>
              </a:ext>
            </a:extLst>
          </p:cNvPr>
          <p:cNvGrpSpPr/>
          <p:nvPr/>
        </p:nvGrpSpPr>
        <p:grpSpPr>
          <a:xfrm>
            <a:off x="9738322" y="7177088"/>
            <a:ext cx="533400" cy="495300"/>
            <a:chOff x="9738322" y="7159503"/>
            <a:chExt cx="533400" cy="495300"/>
          </a:xfrm>
        </p:grpSpPr>
        <p:sp>
          <p:nvSpPr>
            <p:cNvPr id="38" name="Shape 35"/>
            <p:cNvSpPr/>
            <p:nvPr/>
          </p:nvSpPr>
          <p:spPr>
            <a:xfrm>
              <a:off x="9776422" y="7159503"/>
              <a:ext cx="457200" cy="457200"/>
            </a:xfrm>
            <a:prstGeom prst="ellipse">
              <a:avLst/>
            </a:prstGeom>
            <a:solidFill>
              <a:srgbClr val="E87362"/>
            </a:solidFill>
            <a:ln/>
          </p:spPr>
        </p:sp>
        <p:sp>
          <p:nvSpPr>
            <p:cNvPr id="39" name="Text 36"/>
            <p:cNvSpPr/>
            <p:nvPr/>
          </p:nvSpPr>
          <p:spPr>
            <a:xfrm>
              <a:off x="9738322" y="715950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!</a:t>
              </a:r>
              <a:endParaRPr lang="en-US" sz="2100" dirty="0"/>
            </a:p>
          </p:txBody>
        </p:sp>
      </p:grpSp>
      <p:sp>
        <p:nvSpPr>
          <p:cNvPr id="40" name="Text 37"/>
          <p:cNvSpPr/>
          <p:nvPr/>
        </p:nvSpPr>
        <p:spPr>
          <a:xfrm>
            <a:off x="10527431" y="6882731"/>
            <a:ext cx="6522319" cy="1084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強い痛みがある時は無理せず、片膝抱えに</a:t>
            </a:r>
            <a:endParaRPr lang="en-US" altLang="ja-JP" sz="2000" b="1" dirty="0">
              <a:solidFill>
                <a:srgbClr val="5A1F1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切り替えましょう。</a:t>
            </a:r>
          </a:p>
        </p:txBody>
      </p:sp>
      <p:sp>
        <p:nvSpPr>
          <p:cNvPr id="41" name="Shape 38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047750" y="9610725"/>
            <a:ext cx="379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② 両膝抱え</a:t>
            </a:r>
          </a:p>
        </p:txBody>
      </p:sp>
      <p:sp>
        <p:nvSpPr>
          <p:cNvPr id="43" name="Text 40"/>
          <p:cNvSpPr/>
          <p:nvPr/>
        </p:nvSpPr>
        <p:spPr>
          <a:xfrm>
            <a:off x="16272346" y="9646444"/>
            <a:ext cx="119929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P.04 / 12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anose="02040502050405020303" pitchFamily="18" charset="0"/>
              </a:rPr>
              <a:t>３</a:t>
            </a:r>
            <a:endParaRPr lang="en-US" sz="6750" b="1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片膝抱え</a:t>
            </a:r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742534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409498" y="2600325"/>
            <a:ext cx="17426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腰部ストレッチ</a:t>
            </a:r>
          </a:p>
        </p:txBody>
      </p:sp>
      <p:sp>
        <p:nvSpPr>
          <p:cNvPr id="13" name="Shape 11"/>
          <p:cNvSpPr/>
          <p:nvPr/>
        </p:nvSpPr>
        <p:spPr>
          <a:xfrm>
            <a:off x="4257134" y="2543175"/>
            <a:ext cx="1706089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262537" y="2582740"/>
            <a:ext cx="1590323" cy="317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仰向けで実施</a:t>
            </a:r>
          </a:p>
        </p:txBody>
      </p:sp>
      <p:sp>
        <p:nvSpPr>
          <p:cNvPr id="15" name="Shape 13"/>
          <p:cNvSpPr/>
          <p:nvPr/>
        </p:nvSpPr>
        <p:spPr>
          <a:xfrm>
            <a:off x="5980299" y="2543175"/>
            <a:ext cx="145546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6113649" y="2600325"/>
            <a:ext cx="12649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片側ずつ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各30秒</a:t>
            </a:r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仰向けに寝て、片方の膝を立てます。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1153523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両手で膝を抱えてゆっくり胸に近づけ、30秒キープ。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反対側も同様に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55882" y="5954123"/>
            <a:ext cx="7760568" cy="703459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3" name="Shape 30"/>
          <p:cNvSpPr/>
          <p:nvPr/>
        </p:nvSpPr>
        <p:spPr>
          <a:xfrm>
            <a:off x="9736857" y="606028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4" name="Text 31"/>
          <p:cNvSpPr/>
          <p:nvPr/>
        </p:nvSpPr>
        <p:spPr>
          <a:xfrm>
            <a:off x="9698757" y="606028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53137" y="6011729"/>
            <a:ext cx="6982376" cy="693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腰の筋肉・お尻の筋肉が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緩み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ます。朝起きた時や寝る前に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AB395CD1-E90D-6942-93B1-960382CEBC01}"/>
              </a:ext>
            </a:extLst>
          </p:cNvPr>
          <p:cNvGrpSpPr/>
          <p:nvPr/>
        </p:nvGrpSpPr>
        <p:grpSpPr>
          <a:xfrm>
            <a:off x="9527307" y="6774998"/>
            <a:ext cx="7789143" cy="990600"/>
            <a:chOff x="9527307" y="7197030"/>
            <a:chExt cx="7789143" cy="990600"/>
          </a:xfrm>
        </p:grpSpPr>
        <p:sp>
          <p:nvSpPr>
            <p:cNvPr id="36" name="Shape 33"/>
            <p:cNvSpPr/>
            <p:nvPr/>
          </p:nvSpPr>
          <p:spPr>
            <a:xfrm>
              <a:off x="9527307" y="7197030"/>
              <a:ext cx="7789143" cy="990600"/>
            </a:xfrm>
            <a:prstGeom prst="roundRect">
              <a:avLst>
                <a:gd name="adj" fmla="val 7692"/>
              </a:avLst>
            </a:prstGeom>
            <a:solidFill>
              <a:srgbClr val="FDECE8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527307" y="7197030"/>
              <a:ext cx="57150" cy="990600"/>
            </a:xfrm>
            <a:prstGeom prst="rect">
              <a:avLst/>
            </a:prstGeom>
            <a:solidFill>
              <a:srgbClr val="E87362"/>
            </a:solidFill>
            <a:ln/>
          </p:spPr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2C5CCDB5-8BAA-1649-842C-DB71C58C4792}"/>
              </a:ext>
            </a:extLst>
          </p:cNvPr>
          <p:cNvGrpSpPr/>
          <p:nvPr/>
        </p:nvGrpSpPr>
        <p:grpSpPr>
          <a:xfrm>
            <a:off x="9708282" y="7038515"/>
            <a:ext cx="533400" cy="495300"/>
            <a:chOff x="9755907" y="7463730"/>
            <a:chExt cx="533400" cy="495300"/>
          </a:xfrm>
        </p:grpSpPr>
        <p:sp>
          <p:nvSpPr>
            <p:cNvPr id="38" name="Shape 35"/>
            <p:cNvSpPr/>
            <p:nvPr/>
          </p:nvSpPr>
          <p:spPr>
            <a:xfrm>
              <a:off x="9794007" y="7463730"/>
              <a:ext cx="457200" cy="457200"/>
            </a:xfrm>
            <a:prstGeom prst="ellipse">
              <a:avLst/>
            </a:prstGeom>
            <a:solidFill>
              <a:srgbClr val="E87362"/>
            </a:solidFill>
            <a:ln/>
          </p:spPr>
        </p:sp>
        <p:sp>
          <p:nvSpPr>
            <p:cNvPr id="39" name="Text 36"/>
            <p:cNvSpPr/>
            <p:nvPr/>
          </p:nvSpPr>
          <p:spPr>
            <a:xfrm>
              <a:off x="9755907" y="7463730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!</a:t>
              </a:r>
              <a:endParaRPr lang="en-US" sz="2100" dirty="0"/>
            </a:p>
          </p:txBody>
        </p:sp>
      </p:grpSp>
      <p:sp>
        <p:nvSpPr>
          <p:cNvPr id="40" name="Text 37"/>
          <p:cNvSpPr/>
          <p:nvPr/>
        </p:nvSpPr>
        <p:spPr>
          <a:xfrm>
            <a:off x="10453137" y="6980308"/>
            <a:ext cx="6772375" cy="716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痛みがある時は軽く引き寄せる程度で大丈夫です。</a:t>
            </a:r>
          </a:p>
        </p:txBody>
      </p:sp>
      <p:sp>
        <p:nvSpPr>
          <p:cNvPr id="41" name="Shape 38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047750" y="9610725"/>
            <a:ext cx="42768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③ 片膝抱え</a:t>
            </a:r>
          </a:p>
        </p:txBody>
      </p:sp>
      <p:sp>
        <p:nvSpPr>
          <p:cNvPr id="43" name="Text 40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P.05 / 12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４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ストレッチポールで胸を開く</a:t>
            </a:r>
          </a:p>
        </p:txBody>
      </p:sp>
      <p:sp>
        <p:nvSpPr>
          <p:cNvPr id="11" name="Shape 9"/>
          <p:cNvSpPr/>
          <p:nvPr/>
        </p:nvSpPr>
        <p:spPr>
          <a:xfrm>
            <a:off x="2457449" y="2543175"/>
            <a:ext cx="1487347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314432" cy="321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胸椎伸展</a:t>
            </a:r>
          </a:p>
        </p:txBody>
      </p:sp>
      <p:sp>
        <p:nvSpPr>
          <p:cNvPr id="13" name="Shape 11"/>
          <p:cNvSpPr/>
          <p:nvPr/>
        </p:nvSpPr>
        <p:spPr>
          <a:xfrm>
            <a:off x="3944797" y="2543175"/>
            <a:ext cx="1487338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3962382" y="2600325"/>
            <a:ext cx="14301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円背予防</a:t>
            </a:r>
          </a:p>
        </p:txBody>
      </p:sp>
      <p:sp>
        <p:nvSpPr>
          <p:cNvPr id="15" name="Shape 13"/>
          <p:cNvSpPr/>
          <p:nvPr/>
        </p:nvSpPr>
        <p:spPr>
          <a:xfrm>
            <a:off x="5499337" y="2549531"/>
            <a:ext cx="1721270" cy="447675"/>
          </a:xfrm>
          <a:prstGeom prst="roundRect">
            <a:avLst>
              <a:gd name="adj" fmla="val 50000"/>
            </a:avLst>
          </a:prstGeom>
          <a:solidFill>
            <a:srgbClr val="FDECE8"/>
          </a:solidFill>
          <a:ln/>
        </p:spPr>
      </p:sp>
      <p:sp>
        <p:nvSpPr>
          <p:cNvPr id="16" name="Text 14"/>
          <p:cNvSpPr/>
          <p:nvPr/>
        </p:nvSpPr>
        <p:spPr>
          <a:xfrm>
            <a:off x="5583070" y="2582740"/>
            <a:ext cx="1503825" cy="40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72" dirty="0">
                <a:solidFill>
                  <a:srgbClr val="A04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仰向けで実施</a:t>
            </a:r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1〜2分</a:t>
            </a:r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24494" r="25804" b="28715"/>
          <a:stretch/>
        </p:blipFill>
        <p:spPr>
          <a:xfrm>
            <a:off x="1883903" y="3627008"/>
            <a:ext cx="6631672" cy="534755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108783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0818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0818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ストレッチポール(または丸めたバスタオル)を背中の</a:t>
            </a:r>
            <a:endParaRPr lang="en-US" altLang="ja-JP" sz="2000" b="1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縦に敷き、仰向けになります。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947691"/>
            <a:ext cx="7712943" cy="603001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5012126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97695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950621"/>
            <a:ext cx="6688555" cy="597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両腕をゆっくり横に広げ、手の甲を床に近づけます。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686582"/>
            <a:ext cx="7712943" cy="9334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46382" y="5848507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4" name="Text 31"/>
          <p:cNvSpPr/>
          <p:nvPr/>
        </p:nvSpPr>
        <p:spPr>
          <a:xfrm>
            <a:off x="9708282" y="581333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656278"/>
            <a:ext cx="6688555" cy="907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自然な呼吸で1〜2分キープし、横に転がるように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ゆっくり起き上がります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91038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7" name="Shape 34"/>
          <p:cNvSpPr/>
          <p:nvPr/>
        </p:nvSpPr>
        <p:spPr>
          <a:xfrm>
            <a:off x="9736857" y="718467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8" name="Text 35"/>
          <p:cNvSpPr/>
          <p:nvPr/>
        </p:nvSpPr>
        <p:spPr>
          <a:xfrm>
            <a:off x="9698757" y="718467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910388"/>
            <a:ext cx="6786663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丸まった背中がリセットされる感覚を。</a:t>
            </a:r>
            <a:endParaRPr lang="en-US" altLang="ja-JP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めまい・しびれが出たら中止しましょう。</a:t>
            </a:r>
          </a:p>
        </p:txBody>
      </p:sp>
      <p:sp>
        <p:nvSpPr>
          <p:cNvPr id="40" name="Shape 37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6272346" y="9646444"/>
            <a:ext cx="119929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P.06 / 12</a:t>
            </a:r>
            <a:endParaRPr lang="en-US" sz="1800" dirty="0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BECCFEA7-E0A4-A14D-AC37-05B9787F2003}"/>
              </a:ext>
            </a:extLst>
          </p:cNvPr>
          <p:cNvSpPr/>
          <p:nvPr/>
        </p:nvSpPr>
        <p:spPr>
          <a:xfrm>
            <a:off x="1047750" y="9610725"/>
            <a:ext cx="42768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④ ストレッチポール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５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座って開脚ストレッチ</a:t>
            </a:r>
          </a:p>
        </p:txBody>
      </p:sp>
      <p:sp>
        <p:nvSpPr>
          <p:cNvPr id="11" name="Shape 9"/>
          <p:cNvSpPr/>
          <p:nvPr/>
        </p:nvSpPr>
        <p:spPr>
          <a:xfrm>
            <a:off x="2504747" y="2543175"/>
            <a:ext cx="2311464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799" y="2600325"/>
            <a:ext cx="2244130" cy="428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ハムストリングス</a:t>
            </a:r>
          </a:p>
        </p:txBody>
      </p:sp>
      <p:sp>
        <p:nvSpPr>
          <p:cNvPr id="13" name="Shape 11"/>
          <p:cNvSpPr/>
          <p:nvPr/>
        </p:nvSpPr>
        <p:spPr>
          <a:xfrm>
            <a:off x="4870728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5004078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72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もも</a:t>
            </a:r>
            <a:r>
              <a:rPr lang="ja-JP" altLang="en-US" sz="1800" b="1" kern="0" spc="72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裏</a:t>
            </a:r>
            <a:endParaRPr lang="en-US" sz="1800" b="1" kern="0" spc="72" dirty="0">
              <a:solidFill>
                <a:srgbClr val="264A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33104" y="2527409"/>
            <a:ext cx="201788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255" y="2584559"/>
            <a:ext cx="1960731" cy="463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床に座って実施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各30秒</a:t>
            </a:r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床に座り、両足を無理のない範囲で開きます。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背筋を伸ばしたまま少しだけ前に倒し、30秒キープ。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648325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3" name="Shape 30"/>
          <p:cNvSpPr/>
          <p:nvPr/>
        </p:nvSpPr>
        <p:spPr>
          <a:xfrm>
            <a:off x="9784482" y="5878710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4" name="Text 31"/>
          <p:cNvSpPr/>
          <p:nvPr/>
        </p:nvSpPr>
        <p:spPr>
          <a:xfrm>
            <a:off x="9746382" y="587871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690362"/>
            <a:ext cx="6786663" cy="908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ももの裏が固いと腰に負担がかかります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柔らかくすることで腰がラクに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806504"/>
            <a:ext cx="7712943" cy="1118295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4"/>
          <p:cNvSpPr/>
          <p:nvPr/>
        </p:nvSpPr>
        <p:spPr>
          <a:xfrm>
            <a:off x="9527307" y="6806505"/>
            <a:ext cx="57150" cy="1118294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38" name="Shape 35"/>
          <p:cNvSpPr/>
          <p:nvPr/>
        </p:nvSpPr>
        <p:spPr>
          <a:xfrm>
            <a:off x="9746382" y="7048202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39" name="Text 36"/>
          <p:cNvSpPr/>
          <p:nvPr/>
        </p:nvSpPr>
        <p:spPr>
          <a:xfrm>
            <a:off x="9708282" y="704820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460757" y="6830412"/>
            <a:ext cx="6688555" cy="1018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背中を丸めない・無理に倒さない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呼吸を止めずに行ってください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41" name="Shape 38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⑤ 座って開脚ストレッチ</a:t>
            </a:r>
          </a:p>
        </p:txBody>
      </p:sp>
      <p:sp>
        <p:nvSpPr>
          <p:cNvPr id="43" name="Text 40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P.07 / 12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６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肩甲骨寄せ運動</a:t>
            </a:r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278978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5027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姿勢改善</a:t>
            </a:r>
          </a:p>
        </p:txBody>
      </p:sp>
      <p:sp>
        <p:nvSpPr>
          <p:cNvPr id="13" name="Shape 11"/>
          <p:cNvSpPr/>
          <p:nvPr/>
        </p:nvSpPr>
        <p:spPr>
          <a:xfrm>
            <a:off x="3927323" y="2543175"/>
            <a:ext cx="159152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060673" y="2600325"/>
            <a:ext cx="17335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座って実施</a:t>
            </a:r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18" name="Shape 16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sp>
        <p:nvSpPr>
          <p:cNvPr id="20" name="Text 17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4" name="Text 21"/>
          <p:cNvSpPr/>
          <p:nvPr/>
        </p:nvSpPr>
        <p:spPr>
          <a:xfrm>
            <a:off x="9708282" y="390818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377820" y="389390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椅子に深く座り、背筋を伸ばします。</a:t>
            </a:r>
          </a:p>
        </p:txBody>
      </p:sp>
      <p:sp>
        <p:nvSpPr>
          <p:cNvPr id="26" name="Shape 23"/>
          <p:cNvSpPr/>
          <p:nvPr/>
        </p:nvSpPr>
        <p:spPr>
          <a:xfrm>
            <a:off x="9527307" y="4676776"/>
            <a:ext cx="7712943" cy="704849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8" name="Text 25"/>
          <p:cNvSpPr/>
          <p:nvPr/>
        </p:nvSpPr>
        <p:spPr>
          <a:xfrm>
            <a:off x="9708282" y="480353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377820" y="4769644"/>
            <a:ext cx="7093818" cy="604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両肩甲骨を背中の中央に寄せるように動かします。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B03C15D3-1373-B649-BB5E-93E867AFF31B}"/>
              </a:ext>
            </a:extLst>
          </p:cNvPr>
          <p:cNvGrpSpPr/>
          <p:nvPr/>
        </p:nvGrpSpPr>
        <p:grpSpPr>
          <a:xfrm>
            <a:off x="9527307" y="5516798"/>
            <a:ext cx="7712943" cy="781050"/>
            <a:chOff x="9527307" y="5938838"/>
            <a:chExt cx="7712943" cy="781050"/>
          </a:xfrm>
        </p:grpSpPr>
        <p:sp>
          <p:nvSpPr>
            <p:cNvPr id="30" name="Shape 27"/>
            <p:cNvSpPr/>
            <p:nvPr/>
          </p:nvSpPr>
          <p:spPr>
            <a:xfrm>
              <a:off x="9527307" y="5938838"/>
              <a:ext cx="7712943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9525">
              <a:solidFill>
                <a:srgbClr val="E3E6EA"/>
              </a:solidFill>
              <a:prstDash val="solid"/>
            </a:ln>
          </p:spPr>
        </p:sp>
        <p:sp>
          <p:nvSpPr>
            <p:cNvPr id="31" name="Shape 28"/>
            <p:cNvSpPr/>
            <p:nvPr/>
          </p:nvSpPr>
          <p:spPr>
            <a:xfrm>
              <a:off x="9746382" y="6100763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</p:sp>
        <p:sp>
          <p:nvSpPr>
            <p:cNvPr id="32" name="Text 29"/>
            <p:cNvSpPr/>
            <p:nvPr/>
          </p:nvSpPr>
          <p:spPr>
            <a:xfrm>
              <a:off x="9708282" y="606559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</a:rPr>
                <a:t>３</a:t>
              </a:r>
              <a:endParaRPr lang="en-US" sz="1950" dirty="0"/>
            </a:p>
          </p:txBody>
        </p:sp>
      </p:grpSp>
      <p:sp>
        <p:nvSpPr>
          <p:cNvPr id="33" name="Text 30"/>
          <p:cNvSpPr/>
          <p:nvPr/>
        </p:nvSpPr>
        <p:spPr>
          <a:xfrm>
            <a:off x="10527432" y="564719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5秒キープしたら、ゆっくり力を抜きます。</a:t>
            </a:r>
          </a:p>
        </p:txBody>
      </p:sp>
      <p:sp>
        <p:nvSpPr>
          <p:cNvPr id="34" name="Shape 31"/>
          <p:cNvSpPr/>
          <p:nvPr/>
        </p:nvSpPr>
        <p:spPr>
          <a:xfrm>
            <a:off x="9527307" y="691038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5" name="Shape 32"/>
          <p:cNvSpPr/>
          <p:nvPr/>
        </p:nvSpPr>
        <p:spPr>
          <a:xfrm>
            <a:off x="9752622" y="712161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6" name="Text 33"/>
          <p:cNvSpPr/>
          <p:nvPr/>
        </p:nvSpPr>
        <p:spPr>
          <a:xfrm>
            <a:off x="9714522" y="712161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41707" y="6922108"/>
            <a:ext cx="6786663" cy="1003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胸を張る姿勢をつくる筋肉です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猫背の改善・腰の負担軽減に。日常でも意識</a:t>
            </a: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しましょう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8" name="Shape 35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0" name="Text 37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P.08 / 12</a:t>
            </a:r>
            <a:endParaRPr lang="en-US" sz="18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19B5F538-2AEB-B240-9AC8-9CCC9483CE58}"/>
              </a:ext>
            </a:extLst>
          </p:cNvPr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⑥ 肩甲骨寄せ運動</a:t>
            </a:r>
          </a:p>
        </p:txBody>
      </p:sp>
      <p:pic>
        <p:nvPicPr>
          <p:cNvPr id="39" name="図 38">
            <a:extLst>
              <a:ext uri="{FF2B5EF4-FFF2-40B4-BE49-F238E27FC236}">
                <a16:creationId xmlns:a16="http://schemas.microsoft.com/office/drawing/2014/main" id="{7B6E2DA7-B7EA-244D-B714-02128BE5DF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58" r="11747" b="21004"/>
          <a:stretch/>
        </p:blipFill>
        <p:spPr>
          <a:xfrm>
            <a:off x="1562100" y="3988172"/>
            <a:ext cx="7195562" cy="4156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７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膝つきプランク</a:t>
            </a:r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45546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2649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コア安定性</a:t>
            </a:r>
          </a:p>
        </p:txBody>
      </p:sp>
      <p:sp>
        <p:nvSpPr>
          <p:cNvPr id="13" name="Shape 11"/>
          <p:cNvSpPr/>
          <p:nvPr/>
        </p:nvSpPr>
        <p:spPr>
          <a:xfrm>
            <a:off x="3989115" y="2543175"/>
            <a:ext cx="2254030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122465" y="2600325"/>
            <a:ext cx="2120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マットの上で実施</a:t>
            </a:r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20秒 × 3セット</a:t>
            </a:r>
          </a:p>
        </p:txBody>
      </p:sp>
      <p:sp>
        <p:nvSpPr>
          <p:cNvPr id="18" name="Shape 16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4" name="Text 21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マットの上で両肘と両膝をつきます。</a:t>
            </a:r>
          </a:p>
        </p:txBody>
      </p:sp>
      <p:sp>
        <p:nvSpPr>
          <p:cNvPr id="26" name="Shape 23"/>
          <p:cNvSpPr/>
          <p:nvPr/>
        </p:nvSpPr>
        <p:spPr>
          <a:xfrm>
            <a:off x="9527307" y="4676775"/>
            <a:ext cx="7712943" cy="110207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1" y="4734670"/>
            <a:ext cx="6688555" cy="936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頭からお尻まで一直線になるよう姿勢を保ち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20秒キープします。</a:t>
            </a:r>
          </a:p>
        </p:txBody>
      </p:sp>
      <p:sp>
        <p:nvSpPr>
          <p:cNvPr id="30" name="Shape 27"/>
          <p:cNvSpPr/>
          <p:nvPr/>
        </p:nvSpPr>
        <p:spPr>
          <a:xfrm>
            <a:off x="9527307" y="601503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1" name="Shape 28"/>
          <p:cNvSpPr/>
          <p:nvPr/>
        </p:nvSpPr>
        <p:spPr>
          <a:xfrm>
            <a:off x="9736857" y="628932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2" name="Text 29"/>
          <p:cNvSpPr/>
          <p:nvPr/>
        </p:nvSpPr>
        <p:spPr>
          <a:xfrm>
            <a:off x="9698757" y="628932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441707" y="6057075"/>
            <a:ext cx="6786663" cy="908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お腹全体に力を入れる感覚で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腰が反ったり丸まったりしないことが大事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4" name="Shape 31"/>
          <p:cNvSpPr/>
          <p:nvPr/>
        </p:nvSpPr>
        <p:spPr>
          <a:xfrm>
            <a:off x="9527307" y="7173218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</p:sp>
      <p:sp>
        <p:nvSpPr>
          <p:cNvPr id="35" name="Shape 32"/>
          <p:cNvSpPr/>
          <p:nvPr/>
        </p:nvSpPr>
        <p:spPr>
          <a:xfrm>
            <a:off x="9527307" y="7173218"/>
            <a:ext cx="57150" cy="9906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36" name="Shape 33"/>
          <p:cNvSpPr/>
          <p:nvPr/>
        </p:nvSpPr>
        <p:spPr>
          <a:xfrm>
            <a:off x="9746710" y="7455683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37" name="Text 34"/>
          <p:cNvSpPr/>
          <p:nvPr/>
        </p:nvSpPr>
        <p:spPr>
          <a:xfrm>
            <a:off x="9708610" y="745568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36957" y="7388682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腰に痛みが出たらすぐに中止しましょう。</a:t>
            </a:r>
          </a:p>
        </p:txBody>
      </p:sp>
      <p:sp>
        <p:nvSpPr>
          <p:cNvPr id="39" name="Shape 36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1" name="Text 38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P.09 / 12</a:t>
            </a:r>
            <a:endParaRPr lang="en-US" sz="18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CE90F204-FB8D-4B43-84A8-966BDDC99970}"/>
              </a:ext>
            </a:extLst>
          </p:cNvPr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⑦ 膝つきプランク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８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サイドブリッジ</a:t>
            </a:r>
            <a:endParaRPr lang="en-US" sz="4500" b="1" dirty="0">
              <a:solidFill>
                <a:srgbClr val="111418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720413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344461" y="2616994"/>
            <a:ext cx="1790530" cy="409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体側の安定性</a:t>
            </a:r>
          </a:p>
        </p:txBody>
      </p:sp>
      <p:sp>
        <p:nvSpPr>
          <p:cNvPr id="13" name="Shape 11"/>
          <p:cNvSpPr/>
          <p:nvPr/>
        </p:nvSpPr>
        <p:spPr>
          <a:xfrm>
            <a:off x="4272453" y="2527409"/>
            <a:ext cx="967176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272453" y="2601227"/>
            <a:ext cx="967176" cy="409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腹斜筋</a:t>
            </a:r>
          </a:p>
        </p:txBody>
      </p:sp>
      <p:sp>
        <p:nvSpPr>
          <p:cNvPr id="15" name="Shape 13"/>
          <p:cNvSpPr/>
          <p:nvPr/>
        </p:nvSpPr>
        <p:spPr>
          <a:xfrm>
            <a:off x="5413318" y="2543174"/>
            <a:ext cx="2091068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5534751" y="2588311"/>
            <a:ext cx="1796215" cy="469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マット上で実施</a:t>
            </a:r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各20秒 × 2</a:t>
            </a:r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21728" r="24623" b="26332"/>
          <a:stretch/>
        </p:blipFill>
        <p:spPr>
          <a:xfrm>
            <a:off x="1733550" y="3519889"/>
            <a:ext cx="6835062" cy="52767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横向きになり、下の肘と膝をつきます。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お尻を持ち上げ、体が一直線になるよう保ちます。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572125"/>
            <a:ext cx="7712943" cy="86677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46382" y="578054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4" name="Text 31"/>
          <p:cNvSpPr/>
          <p:nvPr/>
        </p:nvSpPr>
        <p:spPr>
          <a:xfrm>
            <a:off x="9708282" y="57340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734050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20秒キープしたら、反対側も同じように行います。</a:t>
            </a: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702972"/>
            <a:ext cx="8461755" cy="1113938"/>
            <a:chOff x="9527307" y="6878822"/>
            <a:chExt cx="8461755" cy="1113938"/>
          </a:xfrm>
        </p:grpSpPr>
        <p:sp>
          <p:nvSpPr>
            <p:cNvPr id="36" name="Shape 33"/>
            <p:cNvSpPr/>
            <p:nvPr/>
          </p:nvSpPr>
          <p:spPr>
            <a:xfrm>
              <a:off x="9527307" y="6878822"/>
              <a:ext cx="7712943" cy="1113299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241682" y="6896377"/>
              <a:ext cx="7747380" cy="109638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腰の横の筋肉が腰椎を守ります。</a:t>
              </a:r>
              <a:endParaRPr lang="en-US" altLang="ja-JP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膝をついて行うことで、負荷量を軽減できます。</a:t>
              </a:r>
            </a:p>
          </p:txBody>
        </p:sp>
      </p:grpSp>
      <p:sp>
        <p:nvSpPr>
          <p:cNvPr id="40" name="Shape 37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/ 12</a:t>
            </a:r>
            <a:endParaRPr lang="en-US" sz="1800" dirty="0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19EAA2F0-3E2E-5B47-BB23-F41D286A0F40}"/>
              </a:ext>
            </a:extLst>
          </p:cNvPr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⑧ サイドブリッジ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９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棒を使ってヒップヒンジ</a:t>
            </a:r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247447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2559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動作学習</a:t>
            </a:r>
          </a:p>
        </p:txBody>
      </p:sp>
      <p:sp>
        <p:nvSpPr>
          <p:cNvPr id="13" name="Shape 11"/>
          <p:cNvSpPr/>
          <p:nvPr/>
        </p:nvSpPr>
        <p:spPr>
          <a:xfrm>
            <a:off x="3848492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3981842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腰を守る</a:t>
            </a:r>
          </a:p>
        </p:txBody>
      </p:sp>
      <p:sp>
        <p:nvSpPr>
          <p:cNvPr id="15" name="Shape 13"/>
          <p:cNvSpPr/>
          <p:nvPr/>
        </p:nvSpPr>
        <p:spPr>
          <a:xfrm>
            <a:off x="5256705" y="2543175"/>
            <a:ext cx="137567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5318459" y="2600325"/>
            <a:ext cx="13139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立位で実施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4"/>
            <a:ext cx="7712943" cy="926307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7488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7488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1" y="3754374"/>
            <a:ext cx="6688555" cy="893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傘や物干し竿でOK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を背中に沿わせ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後頭部・背中・お尻の3点に当てます。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818669"/>
            <a:ext cx="7712943" cy="101194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505942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505942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930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棒が背中から離れないよう、お尻を後ろに突き出して</a:t>
            </a:r>
            <a:endParaRPr lang="en-US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上体を倒し、ゆっくり戻ります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916342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3" name="Shape 30"/>
          <p:cNvSpPr/>
          <p:nvPr/>
        </p:nvSpPr>
        <p:spPr>
          <a:xfrm>
            <a:off x="9736857" y="6190632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4" name="Text 31"/>
          <p:cNvSpPr/>
          <p:nvPr/>
        </p:nvSpPr>
        <p:spPr>
          <a:xfrm>
            <a:off x="9698757" y="619063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527432" y="5930629"/>
            <a:ext cx="6939063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物を拾う・床の物を取る時の「腰を守る動作」の練習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棒が離れる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腰を丸めているサイン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720064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</p:sp>
      <p:sp>
        <p:nvSpPr>
          <p:cNvPr id="37" name="Shape 34"/>
          <p:cNvSpPr/>
          <p:nvPr/>
        </p:nvSpPr>
        <p:spPr>
          <a:xfrm>
            <a:off x="9527307" y="720064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38" name="Shape 35"/>
          <p:cNvSpPr/>
          <p:nvPr/>
        </p:nvSpPr>
        <p:spPr>
          <a:xfrm>
            <a:off x="9746382" y="7491160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39" name="Text 36"/>
          <p:cNvSpPr/>
          <p:nvPr/>
        </p:nvSpPr>
        <p:spPr>
          <a:xfrm>
            <a:off x="9708282" y="749116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7200647"/>
            <a:ext cx="668855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背中を丸めないことが大切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痛みが出たらすぐに中止しましょう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41" name="Shape 38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3" name="Text 40"/>
          <p:cNvSpPr/>
          <p:nvPr/>
        </p:nvSpPr>
        <p:spPr>
          <a:xfrm>
            <a:off x="16289313" y="9646444"/>
            <a:ext cx="10271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/ 12</a:t>
            </a:r>
            <a:endParaRPr lang="en-US" sz="1800" dirty="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FAB5AE34-F39D-6C4F-B8A7-62B0974E9414}"/>
              </a:ext>
            </a:extLst>
          </p:cNvPr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 ⑨ 棒でヒップヒンジ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5071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続けるコツ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1771650"/>
            <a:ext cx="16678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3B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2238375"/>
            <a:ext cx="16678275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腰痛を遠ざける、４つの習慣</a:t>
            </a:r>
          </a:p>
        </p:txBody>
      </p:sp>
      <p:sp>
        <p:nvSpPr>
          <p:cNvPr id="10" name="Shape 8"/>
          <p:cNvSpPr/>
          <p:nvPr/>
        </p:nvSpPr>
        <p:spPr>
          <a:xfrm>
            <a:off x="1047750" y="3358455"/>
            <a:ext cx="7962900" cy="2001143"/>
          </a:xfrm>
          <a:prstGeom prst="roundRect">
            <a:avLst>
              <a:gd name="adj" fmla="val 8568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0175" y="3691830"/>
            <a:ext cx="685800" cy="685800"/>
          </a:xfrm>
          <a:prstGeom prst="ellipse">
            <a:avLst/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1362075" y="36918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486025" y="3691830"/>
            <a:ext cx="635736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毎日少しずつ動かす</a:t>
            </a:r>
          </a:p>
        </p:txBody>
      </p:sp>
      <p:sp>
        <p:nvSpPr>
          <p:cNvPr id="14" name="Text 12"/>
          <p:cNvSpPr/>
          <p:nvPr/>
        </p:nvSpPr>
        <p:spPr>
          <a:xfrm>
            <a:off x="2486025" y="4258568"/>
            <a:ext cx="6429375" cy="107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長く安静にすると悪化することも。痛くない範囲で</a:t>
            </a:r>
            <a:endParaRPr lang="en-US" sz="2000" dirty="0">
              <a:solidFill>
                <a:srgbClr val="3A41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毎日続けるのが回復の近道</a:t>
            </a:r>
            <a:r>
              <a:rPr lang="en-US" sz="200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15" name="Shape 13"/>
          <p:cNvSpPr/>
          <p:nvPr/>
        </p:nvSpPr>
        <p:spPr>
          <a:xfrm>
            <a:off x="9277350" y="3358455"/>
            <a:ext cx="7962900" cy="2001143"/>
          </a:xfrm>
          <a:prstGeom prst="roundRect">
            <a:avLst>
              <a:gd name="adj" fmla="val 8568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29775" y="3691830"/>
            <a:ext cx="685800" cy="685800"/>
          </a:xfrm>
          <a:prstGeom prst="ellipse">
            <a:avLst/>
          </a:prstGeom>
          <a:solidFill>
            <a:srgbClr val="FAF1DE"/>
          </a:solidFill>
          <a:ln/>
        </p:spPr>
      </p:sp>
      <p:sp>
        <p:nvSpPr>
          <p:cNvPr id="17" name="Text 15"/>
          <p:cNvSpPr/>
          <p:nvPr/>
        </p:nvSpPr>
        <p:spPr>
          <a:xfrm>
            <a:off x="9591675" y="36918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7D57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715625" y="3691830"/>
            <a:ext cx="635736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前屈・ねじりに注意</a:t>
            </a:r>
          </a:p>
        </p:txBody>
      </p:sp>
      <p:sp>
        <p:nvSpPr>
          <p:cNvPr id="19" name="Text 17"/>
          <p:cNvSpPr/>
          <p:nvPr/>
        </p:nvSpPr>
        <p:spPr>
          <a:xfrm>
            <a:off x="10715625" y="4258568"/>
            <a:ext cx="6357366" cy="102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物を拾う時は膝を曲げ、振り返る時は足ごと向きを</a:t>
            </a:r>
            <a:endParaRPr lang="en-US" sz="2000" dirty="0">
              <a:solidFill>
                <a:srgbClr val="3A41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変える。腰を丸めない・ひねらない</a:t>
            </a:r>
            <a:r>
              <a:rPr lang="en-US" sz="200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20" name="Shape 18"/>
          <p:cNvSpPr/>
          <p:nvPr/>
        </p:nvSpPr>
        <p:spPr>
          <a:xfrm>
            <a:off x="1047750" y="5626298"/>
            <a:ext cx="7962900" cy="2001143"/>
          </a:xfrm>
          <a:prstGeom prst="roundRect">
            <a:avLst>
              <a:gd name="adj" fmla="val 8568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00175" y="5959673"/>
            <a:ext cx="685800" cy="685800"/>
          </a:xfrm>
          <a:prstGeom prst="ellipse">
            <a:avLst/>
          </a:prstGeom>
          <a:solidFill>
            <a:srgbClr val="FDECE8"/>
          </a:solidFill>
          <a:ln/>
        </p:spPr>
      </p:sp>
      <p:sp>
        <p:nvSpPr>
          <p:cNvPr id="22" name="Text 20"/>
          <p:cNvSpPr/>
          <p:nvPr/>
        </p:nvSpPr>
        <p:spPr>
          <a:xfrm>
            <a:off x="1362075" y="5959673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2486025" y="5959673"/>
            <a:ext cx="635736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痛い日は一度休む</a:t>
            </a:r>
          </a:p>
        </p:txBody>
      </p:sp>
      <p:sp>
        <p:nvSpPr>
          <p:cNvPr id="24" name="Text 22"/>
          <p:cNvSpPr/>
          <p:nvPr/>
        </p:nvSpPr>
        <p:spPr>
          <a:xfrm>
            <a:off x="2486025" y="6526411"/>
            <a:ext cx="6357366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強い痛みが出たら中止し、翌日以降に回数を減らして再開。我慢して続けると悪化することも。</a:t>
            </a:r>
          </a:p>
        </p:txBody>
      </p:sp>
      <p:sp>
        <p:nvSpPr>
          <p:cNvPr id="25" name="Shape 23"/>
          <p:cNvSpPr/>
          <p:nvPr/>
        </p:nvSpPr>
        <p:spPr>
          <a:xfrm>
            <a:off x="9277350" y="5626298"/>
            <a:ext cx="7962900" cy="2001143"/>
          </a:xfrm>
          <a:prstGeom prst="roundRect">
            <a:avLst>
              <a:gd name="adj" fmla="val 8568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9775" y="5959673"/>
            <a:ext cx="685800" cy="685800"/>
          </a:xfrm>
          <a:prstGeom prst="ellipse">
            <a:avLst/>
          </a:prstGeom>
          <a:solidFill>
            <a:srgbClr val="E8EFE6"/>
          </a:solidFill>
          <a:ln/>
        </p:spPr>
      </p:sp>
      <p:sp>
        <p:nvSpPr>
          <p:cNvPr id="27" name="Text 25"/>
          <p:cNvSpPr/>
          <p:nvPr/>
        </p:nvSpPr>
        <p:spPr>
          <a:xfrm>
            <a:off x="9591675" y="5959673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3D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0715625" y="5959673"/>
            <a:ext cx="635736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姿勢を整える</a:t>
            </a:r>
          </a:p>
        </p:txBody>
      </p:sp>
      <p:sp>
        <p:nvSpPr>
          <p:cNvPr id="29" name="Text 27"/>
          <p:cNvSpPr/>
          <p:nvPr/>
        </p:nvSpPr>
        <p:spPr>
          <a:xfrm>
            <a:off x="10715625" y="6526411"/>
            <a:ext cx="635736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立つ・座る・歩く時に「骨盤を立てる」意識を</a:t>
            </a:r>
            <a:r>
              <a:rPr lang="en-US" sz="200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日常の姿勢が腰を守ります</a:t>
            </a:r>
            <a:r>
              <a:rPr lang="en-US" sz="200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0" name="Shape 28"/>
          <p:cNvSpPr/>
          <p:nvPr/>
        </p:nvSpPr>
        <p:spPr>
          <a:xfrm>
            <a:off x="1047750" y="8046541"/>
            <a:ext cx="16192500" cy="1342058"/>
          </a:xfrm>
          <a:prstGeom prst="roundRect">
            <a:avLst>
              <a:gd name="adj" fmla="val 11356"/>
            </a:avLst>
          </a:prstGeom>
          <a:solidFill>
            <a:srgbClr val="3B6EA8"/>
          </a:solidFill>
          <a:ln/>
        </p:spPr>
      </p:sp>
      <p:sp>
        <p:nvSpPr>
          <p:cNvPr id="31" name="Text 29"/>
          <p:cNvSpPr/>
          <p:nvPr/>
        </p:nvSpPr>
        <p:spPr>
          <a:xfrm>
            <a:off x="1262063" y="8427541"/>
            <a:ext cx="15763875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3150" b="1" kern="0" spc="6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「動かす」「守る」「休む」のバランスが、腰痛を遠ざける近道です。</a:t>
            </a:r>
          </a:p>
        </p:txBody>
      </p:sp>
      <p:sp>
        <p:nvSpPr>
          <p:cNvPr id="32" name="Shape 30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10725"/>
            <a:ext cx="3309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腰痛 自主トレメニュー</a:t>
            </a:r>
          </a:p>
        </p:txBody>
      </p:sp>
      <p:sp>
        <p:nvSpPr>
          <p:cNvPr id="34" name="Text 32"/>
          <p:cNvSpPr/>
          <p:nvPr/>
        </p:nvSpPr>
        <p:spPr>
          <a:xfrm>
            <a:off x="14845829" y="9610725"/>
            <a:ext cx="24706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/ 12 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860</Words>
  <Application>Microsoft Macintosh PowerPoint</Application>
  <PresentationFormat>ユーザー設定</PresentationFormat>
  <Paragraphs>315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17</cp:revision>
  <dcterms:created xsi:type="dcterms:W3CDTF">2026-04-19T20:11:14Z</dcterms:created>
  <dcterms:modified xsi:type="dcterms:W3CDTF">2026-05-04T15:47:37Z</dcterms:modified>
</cp:coreProperties>
</file>