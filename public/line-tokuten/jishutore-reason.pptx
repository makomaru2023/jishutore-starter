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74"/>
    <p:restoredTop sz="92784"/>
  </p:normalViewPr>
  <p:slideViewPr>
    <p:cSldViewPr snapToGrid="0" snapToObjects="1">
      <p:cViewPr varScale="1">
        <p:scale>
          <a:sx n="163" d="100"/>
          <a:sy n="163" d="100"/>
        </p:scale>
        <p:origin x="91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25603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1667" y="740212"/>
            <a:ext cx="688066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800" b="1">
                <a:solidFill>
                  <a:srgbClr val="FFFFFF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自主トレを続ける理由</a:t>
            </a:r>
            <a:endParaRPr sz="3800" b="1" dirty="0">
              <a:solidFill>
                <a:srgbClr val="FFFFFF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57399" y="170301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b="1">
                <a:solidFill>
                  <a:srgbClr val="E3F2FD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退院後の毎日をもっと自分らしく</a:t>
            </a:r>
            <a:endParaRPr sz="2000" b="1" dirty="0">
              <a:solidFill>
                <a:srgbClr val="E3F2FD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20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この資料でわかること</a:t>
            </a:r>
            <a:endParaRPr sz="20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3500510"/>
            <a:ext cx="731520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1. </a:t>
            </a:r>
            <a:r>
              <a:rPr lang="ja-JP" altLang="en-US" b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リハビリ以外の時間がなぜ大切なのか？</a:t>
            </a:r>
            <a:endParaRPr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>
              <a:spcBef>
                <a:spcPts val="400"/>
              </a:spcBef>
            </a:pPr>
            <a:r>
              <a:rPr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2. 自主トレを続ける3つの</a:t>
            </a:r>
            <a:r>
              <a:rPr lang="ja-JP" altLang="en-US" b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理由</a:t>
            </a:r>
            <a:endParaRPr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>
              <a:spcBef>
                <a:spcPts val="400"/>
              </a:spcBef>
            </a:pPr>
            <a:r>
              <a:rPr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3. </a:t>
            </a:r>
            <a:r>
              <a:rPr lang="ja-JP" altLang="en-US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安全に続けるためのポイント</a:t>
            </a:r>
            <a:endParaRPr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400" b="1">
                <a:solidFill>
                  <a:srgbClr val="1565C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こんな不安はありませんか</a:t>
            </a:r>
            <a:r>
              <a:rPr sz="3400" b="1" dirty="0">
                <a:solidFill>
                  <a:srgbClr val="1565C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28600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退院したら体が</a:t>
            </a:r>
            <a:endParaRPr lang="en-US" altLang="ja-JP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ctr"/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弱くなりそう</a:t>
            </a:r>
            <a:r>
              <a:rPr sz="18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188720"/>
            <a:ext cx="228600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何をすればいいかわからない</a:t>
            </a:r>
            <a:r>
              <a:rPr lang="en-US" altLang="ja-JP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…</a:t>
            </a:r>
            <a:endParaRPr sz="18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228600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b="1">
                <a:solidFill>
                  <a:srgbClr val="0D47A1"/>
                </a:solidFill>
                <a:latin typeface="Calibri"/>
              </a:rPr>
              <a:t>継続できるか</a:t>
            </a:r>
            <a:r>
              <a:rPr sz="1800" b="1" dirty="0">
                <a:solidFill>
                  <a:srgbClr val="0D47A1"/>
                </a:solidFill>
                <a:latin typeface="Calibri"/>
              </a:rPr>
              <a:t>
</a:t>
            </a:r>
            <a:r>
              <a:rPr lang="ja-JP" altLang="en-US" b="1">
                <a:solidFill>
                  <a:srgbClr val="0D47A1"/>
                </a:solidFill>
                <a:latin typeface="Calibri"/>
              </a:rPr>
              <a:t>心配</a:t>
            </a:r>
            <a:r>
              <a:rPr lang="en-US" altLang="ja-JP" b="1" dirty="0">
                <a:solidFill>
                  <a:srgbClr val="0D47A1"/>
                </a:solidFill>
                <a:latin typeface="Calibri"/>
              </a:rPr>
              <a:t>…</a:t>
            </a:r>
            <a:endParaRPr sz="1800" b="1" dirty="0">
              <a:solidFill>
                <a:srgbClr val="0D47A1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804672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2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その不安、とてもわかります</a:t>
            </a:r>
            <a:r>
              <a:rPr sz="22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。</a:t>
            </a:r>
          </a:p>
          <a:p>
            <a:pPr algn="ctr">
              <a:spcBef>
                <a:spcPts val="600"/>
              </a:spcBef>
            </a:pPr>
            <a:r>
              <a:rPr lang="ja-JP" altLang="en-US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でも大丈夫。自主トレを続けることで、少しづつ自信が取り戻せます。</a:t>
            </a:r>
            <a:endParaRPr sz="1800"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7579360" cy="4572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担当セラピストがあなたに合った自主トレメニューを作ります。</a:t>
            </a:r>
            <a:endParaRPr sz="16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47109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1565C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リハビリは1日のほんの一部です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81650"/>
            <a:ext cx="4114800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病院でのリハビリは</a:t>
            </a:r>
            <a:r>
              <a:rPr sz="1800"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、</a:t>
            </a:r>
          </a:p>
          <a:p>
            <a:pPr algn="l">
              <a:spcBef>
                <a:spcPts val="400"/>
              </a:spcBef>
            </a:pPr>
            <a:r>
              <a:rPr sz="18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1日のうち たった40分〜1時間 </a:t>
            </a:r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です</a:t>
            </a:r>
            <a:r>
              <a:rPr sz="18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39" y="2121095"/>
            <a:ext cx="4414129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残りの23時間をどう過ごすかが</a:t>
            </a:r>
          </a:p>
          <a:p>
            <a:pPr algn="l">
              <a:spcBef>
                <a:spcPts val="200"/>
              </a:spcBef>
            </a:pPr>
            <a:r>
              <a:rPr lang="ja-JP" altLang="en-US" sz="1800" b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回復の鍵になります</a:t>
            </a:r>
            <a:r>
              <a:rPr sz="1800"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。</a:t>
            </a:r>
          </a:p>
          <a:p>
            <a:pPr algn="l">
              <a:spcBef>
                <a:spcPts val="600"/>
              </a:spcBef>
            </a:pPr>
            <a:endParaRPr sz="1800"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>
              <a:spcBef>
                <a:spcPts val="400"/>
              </a:spcBef>
            </a:pPr>
            <a:r>
              <a:rPr lang="ja-JP" altLang="en-US" sz="18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自主トレは</a:t>
            </a:r>
            <a:r>
              <a:rPr sz="18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「</a:t>
            </a:r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毎日の小さなリハビリ</a:t>
            </a:r>
            <a:r>
              <a:rPr sz="18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」</a:t>
            </a:r>
          </a:p>
          <a:p>
            <a:pPr algn="l">
              <a:spcBef>
                <a:spcPts val="200"/>
              </a:spcBef>
            </a:pPr>
            <a:r>
              <a:rPr sz="1800" b="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1日5分からでOKです。</a:t>
            </a:r>
          </a:p>
        </p:txBody>
      </p:sp>
      <p:sp>
        <p:nvSpPr>
          <p:cNvPr id="6" name="Oval 5"/>
          <p:cNvSpPr/>
          <p:nvPr/>
        </p:nvSpPr>
        <p:spPr>
          <a:xfrm>
            <a:off x="5303520" y="914400"/>
            <a:ext cx="2926080" cy="2926080"/>
          </a:xfrm>
          <a:prstGeom prst="ellipse">
            <a:avLst/>
          </a:prstGeom>
          <a:solidFill>
            <a:srgbClr val="E3F2FD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23時間</a:t>
            </a:r>
          </a:p>
          <a:p>
            <a:pPr algn="ctr">
              <a:spcBef>
                <a:spcPts val="200"/>
              </a:spcBef>
            </a:pPr>
            <a:r>
              <a:rPr lang="ja-JP" altLang="en-US" sz="1600" b="1">
                <a:solidFill>
                  <a:srgbClr val="1565C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ここが勝負！</a:t>
            </a:r>
            <a:endParaRPr sz="1600" b="1" dirty="0">
              <a:solidFill>
                <a:srgbClr val="1565C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29200" y="3017520"/>
            <a:ext cx="1097280" cy="109728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
リハビリ
1時間</a:t>
            </a:r>
          </a:p>
        </p:txBody>
      </p: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3C2BD9F4-8B95-DC40-A8E1-8057199A3172}"/>
              </a:ext>
            </a:extLst>
          </p:cNvPr>
          <p:cNvSpPr/>
          <p:nvPr/>
        </p:nvSpPr>
        <p:spPr>
          <a:xfrm>
            <a:off x="548639" y="4391140"/>
            <a:ext cx="7579360" cy="4572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まずは「毎日やること」を</a:t>
            </a:r>
            <a:r>
              <a:rPr lang="en-US" altLang="ja-JP" sz="1600" dirty="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</a:t>
            </a:r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つ決めてみましょう。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463040" cy="41148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理由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28600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2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「体」を守る</a:t>
            </a:r>
            <a:endParaRPr sz="32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39" y="3088813"/>
            <a:ext cx="4572000" cy="759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でも、毎日5分の運動で防げます。</a:t>
            </a:r>
            <a:endParaRPr lang="en-US" altLang="ja-JP" sz="20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>
              <a:spcBef>
                <a:spcPts val="400"/>
              </a:spcBef>
            </a:pPr>
            <a:r>
              <a:rPr lang="ja-JP" altLang="en-US" sz="2000">
                <a:latin typeface="Yu Gothic" panose="020B0400000000000000" pitchFamily="34" charset="-128"/>
                <a:ea typeface="Yu Gothic" panose="020B0400000000000000" pitchFamily="34" charset="-128"/>
              </a:rPr>
              <a:t>軽い体操やストレッチでも十分です</a:t>
            </a:r>
            <a:r>
              <a:rPr sz="1800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。</a:t>
            </a:r>
          </a:p>
        </p:txBody>
      </p: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8E4F7561-C457-8B44-B306-E3D8C91462A3}"/>
              </a:ext>
            </a:extLst>
          </p:cNvPr>
          <p:cNvSpPr/>
          <p:nvPr/>
        </p:nvSpPr>
        <p:spPr>
          <a:xfrm>
            <a:off x="548639" y="4391140"/>
            <a:ext cx="7579360" cy="4572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朝起きたら、まずストレッチが続けやすいです。</a:t>
            </a: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F5036563-B26C-2647-A863-5D88B6EA7533}"/>
              </a:ext>
            </a:extLst>
          </p:cNvPr>
          <p:cNvSpPr txBox="1"/>
          <p:nvPr/>
        </p:nvSpPr>
        <p:spPr>
          <a:xfrm>
            <a:off x="548640" y="1081650"/>
            <a:ext cx="411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筋肉は使わないと弱くなります。</a:t>
            </a:r>
            <a:endParaRPr lang="en-US" altLang="ja-JP"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関節は動かさないと硬くなります。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FEB07946-0E7B-A245-B46B-17424E351500}"/>
              </a:ext>
            </a:extLst>
          </p:cNvPr>
          <p:cNvSpPr txBox="1"/>
          <p:nvPr/>
        </p:nvSpPr>
        <p:spPr>
          <a:xfrm>
            <a:off x="548640" y="2077747"/>
            <a:ext cx="411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 b="1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ベッド上で過ごす時間が長い</a:t>
            </a:r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ほど、</a:t>
            </a:r>
            <a:endParaRPr lang="en-US" altLang="ja-JP"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歩く力・立ち上がる力は低下します。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0707295-C259-BF48-A1C2-01243306CD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7" t="9154" r="3713" b="22811"/>
          <a:stretch/>
        </p:blipFill>
        <p:spPr>
          <a:xfrm>
            <a:off x="4663440" y="1658020"/>
            <a:ext cx="4312610" cy="1775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463040" cy="41148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理由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726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D47A1"/>
                </a:solidFill>
                <a:latin typeface="Calibri"/>
              </a:rPr>
              <a:t>「生活」を取り戻す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39" y="3155729"/>
            <a:ext cx="4883052" cy="759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lang="ja-JP" altLang="en-US" sz="20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「これならできる」が増えると、</a:t>
            </a:r>
            <a:endParaRPr lang="en-US" altLang="ja-JP" sz="20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>
              <a:spcBef>
                <a:spcPts val="400"/>
              </a:spcBef>
            </a:pPr>
            <a:r>
              <a:rPr lang="ja-JP" altLang="en-US" sz="20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活動の幅がどんどん広がります。</a:t>
            </a:r>
            <a:endParaRPr sz="20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521FDD3F-D7CB-5142-A467-0E4A2CE6849D}"/>
              </a:ext>
            </a:extLst>
          </p:cNvPr>
          <p:cNvSpPr/>
          <p:nvPr/>
        </p:nvSpPr>
        <p:spPr>
          <a:xfrm>
            <a:off x="548639" y="4391140"/>
            <a:ext cx="7579360" cy="4572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昨日より「少しできた」を感じながら行いましょう。</a:t>
            </a:r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93690350-6F5A-134F-A007-D7B0321A408A}"/>
              </a:ext>
            </a:extLst>
          </p:cNvPr>
          <p:cNvSpPr txBox="1"/>
          <p:nvPr/>
        </p:nvSpPr>
        <p:spPr>
          <a:xfrm>
            <a:off x="548640" y="1081650"/>
            <a:ext cx="411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・自分でトイレに行ける。</a:t>
            </a:r>
            <a:endParaRPr lang="en-US" altLang="ja-JP"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・着替えを</a:t>
            </a:r>
            <a:r>
              <a:rPr lang="en-US" altLang="ja-JP" dirty="0">
                <a:latin typeface="Yu Gothic" panose="020B0400000000000000" pitchFamily="34" charset="-128"/>
                <a:ea typeface="Yu Gothic" panose="020B0400000000000000" pitchFamily="34" charset="-128"/>
              </a:rPr>
              <a:t>1</a:t>
            </a:r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人でできる。</a:t>
            </a:r>
            <a:endParaRPr lang="en-US" altLang="ja-JP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・近所を散歩できる。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AA6A6765-033A-F145-849D-864AA012C7C6}"/>
              </a:ext>
            </a:extLst>
          </p:cNvPr>
          <p:cNvSpPr txBox="1"/>
          <p:nvPr/>
        </p:nvSpPr>
        <p:spPr>
          <a:xfrm>
            <a:off x="548640" y="2245027"/>
            <a:ext cx="411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小さな「できた」の積み重ねが自信と自立に繋がります。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0F86732-66F5-9047-A033-042D27390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420" y="1081650"/>
            <a:ext cx="4248020" cy="2368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463040" cy="41148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理由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728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2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「安全」をつくる</a:t>
            </a:r>
            <a:endParaRPr sz="3200"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39" y="3399391"/>
            <a:ext cx="4906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lang="ja-JP" altLang="en-US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「転ばない体」は自分で作ることができます。</a:t>
            </a:r>
            <a:endParaRPr b="1" dirty="0">
              <a:solidFill>
                <a:srgbClr val="0D47A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6BA325D6-4A2A-D442-8E62-A1E02CE479B2}"/>
              </a:ext>
            </a:extLst>
          </p:cNvPr>
          <p:cNvSpPr/>
          <p:nvPr/>
        </p:nvSpPr>
        <p:spPr>
          <a:xfrm>
            <a:off x="548639" y="4391140"/>
            <a:ext cx="7579360" cy="4572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ja-JP" altLang="en-US" sz="1600">
                <a:solidFill>
                  <a:schemeClr val="tx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片足立ちは、テレビを見ながらでも出来ます。</a:t>
            </a:r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1A9096C2-AE6E-4240-9B4E-31490651EAF7}"/>
              </a:ext>
            </a:extLst>
          </p:cNvPr>
          <p:cNvSpPr txBox="1"/>
          <p:nvPr/>
        </p:nvSpPr>
        <p:spPr>
          <a:xfrm>
            <a:off x="548640" y="1081650"/>
            <a:ext cx="411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転倒は、骨折や寝たきりにつながる</a:t>
            </a:r>
            <a:endParaRPr lang="en-US" altLang="ja-JP"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大きなリスクです。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905C3B8E-0326-FF49-9581-2B9AF446594B}"/>
              </a:ext>
            </a:extLst>
          </p:cNvPr>
          <p:cNvSpPr txBox="1"/>
          <p:nvPr/>
        </p:nvSpPr>
        <p:spPr>
          <a:xfrm>
            <a:off x="548640" y="2077747"/>
            <a:ext cx="411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しかし、バランス訓練</a:t>
            </a:r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や筋トレを</a:t>
            </a:r>
            <a:endParaRPr lang="en-US" altLang="ja-JP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 sz="1800">
                <a:latin typeface="Yu Gothic" panose="020B0400000000000000" pitchFamily="34" charset="-128"/>
                <a:ea typeface="Yu Gothic" panose="020B0400000000000000" pitchFamily="34" charset="-128"/>
              </a:rPr>
              <a:t>継続することで、転びにくい体を</a:t>
            </a:r>
            <a:endParaRPr lang="en-US" altLang="ja-JP"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algn="l"/>
            <a:r>
              <a:rPr lang="ja-JP" altLang="en-US">
                <a:latin typeface="Yu Gothic" panose="020B0400000000000000" pitchFamily="34" charset="-128"/>
                <a:ea typeface="Yu Gothic" panose="020B0400000000000000" pitchFamily="34" charset="-128"/>
              </a:rPr>
              <a:t>作ることができます。</a:t>
            </a:r>
            <a:endParaRPr sz="18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1F84D9F-F73C-944D-A63E-D3943511DE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183" r="33000" b="26763"/>
          <a:stretch/>
        </p:blipFill>
        <p:spPr>
          <a:xfrm>
            <a:off x="5839673" y="928299"/>
            <a:ext cx="2288326" cy="24915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 b="1">
                <a:solidFill>
                  <a:srgbClr val="FFFFFF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無理せず、続けることが大切です</a:t>
            </a:r>
            <a:endParaRPr sz="3200" b="1" dirty="0">
              <a:solidFill>
                <a:srgbClr val="FFFFFF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Oval 3"/>
          <p:cNvSpPr/>
          <p:nvPr/>
        </p:nvSpPr>
        <p:spPr>
          <a:xfrm>
            <a:off x="1371600" y="1371600"/>
            <a:ext cx="320040" cy="32004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b="1">
                <a:solidFill>
                  <a:srgbClr val="E651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痛みが強い時には無理をしない。</a:t>
            </a:r>
            <a:endParaRPr sz="1800" b="1" dirty="0">
              <a:solidFill>
                <a:srgbClr val="E651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Oval 5"/>
          <p:cNvSpPr/>
          <p:nvPr/>
        </p:nvSpPr>
        <p:spPr>
          <a:xfrm>
            <a:off x="1371600" y="1874520"/>
            <a:ext cx="320040" cy="32004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74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51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めまいやふらつきを感じたら中止する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377440"/>
            <a:ext cx="320040" cy="32004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377440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回数や強さはセラピストの指示に従う</a:t>
            </a:r>
            <a:endParaRPr sz="1800"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Oval 9"/>
          <p:cNvSpPr/>
          <p:nvPr/>
        </p:nvSpPr>
        <p:spPr>
          <a:xfrm>
            <a:off x="1371600" y="2880360"/>
            <a:ext cx="320040" cy="32004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体調がすぐれない時には休んで</a:t>
            </a:r>
            <a:r>
              <a:rPr lang="en-US" altLang="ja-JP" dirty="0">
                <a:solidFill>
                  <a:srgbClr val="21212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OK</a:t>
            </a:r>
            <a:endParaRPr sz="1800" b="0" dirty="0">
              <a:solidFill>
                <a:srgbClr val="21212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91846" y="4096512"/>
            <a:ext cx="6400800" cy="182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8305" y="3657600"/>
            <a:ext cx="8046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200" b="1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毎日の小さな一歩が、あなたの体を変えていきます</a:t>
            </a:r>
            <a:r>
              <a:rPr sz="2200" b="1" dirty="0">
                <a:solidFill>
                  <a:srgbClr val="0D47A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600">
                <a:latin typeface="Yu Gothic" panose="020B0400000000000000" pitchFamily="34" charset="-128"/>
                <a:ea typeface="Yu Gothic" panose="020B0400000000000000" pitchFamily="34" charset="-128"/>
              </a:rPr>
              <a:t>一緒に頑張りましょう！応援しています！！</a:t>
            </a:r>
            <a:endParaRPr sz="1600" b="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421</Words>
  <Application>Microsoft Macintosh PowerPoint</Application>
  <PresentationFormat>ユーザー設定</PresentationFormat>
  <Paragraphs>64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誠 安宅</cp:lastModifiedBy>
  <cp:revision>7</cp:revision>
  <dcterms:created xsi:type="dcterms:W3CDTF">2013-01-27T09:14:16Z</dcterms:created>
  <dcterms:modified xsi:type="dcterms:W3CDTF">2026-04-16T19:32:16Z</dcterms:modified>
  <cp:category/>
</cp:coreProperties>
</file>