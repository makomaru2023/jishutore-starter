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/>
    <p:restoredTop sz="89410"/>
  </p:normalViewPr>
  <p:slideViewPr>
    <p:cSldViewPr snapToGrid="0" snapToObjects="1">
      <p:cViewPr varScale="1">
        <p:scale>
          <a:sx n="33" d="100"/>
          <a:sy n="33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3B6EA8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333500"/>
            <a:ext cx="1608963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720" dirty="0">
                <a:solidFill>
                  <a:srgbClr val="3B6EA8"/>
                </a:solidFill>
                <a:ea typeface="Arial" pitchFamily="34" charset="-122"/>
                <a:cs typeface="Arial" pitchFamily="34" charset="-120"/>
              </a:rPr>
              <a:t>WHY SELF-TRAINING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333500" y="2385509"/>
            <a:ext cx="16089630" cy="309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ja-JP" altLang="en-US" sz="8800" kern="0" spc="105">
                <a:solidFill>
                  <a:srgbClr val="111418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Georgia" pitchFamily="34" charset="-120"/>
              </a:rPr>
              <a:t>自主トレを</a:t>
            </a:r>
            <a:endParaRPr lang="en-US" altLang="ja-JP" sz="8800" kern="0" spc="105" dirty="0">
              <a:solidFill>
                <a:srgbClr val="111418"/>
              </a:solidFill>
              <a:latin typeface="Yu Gothic" panose="020B0400000000000000" pitchFamily="34" charset="-128"/>
              <a:ea typeface="Yu Gothic" panose="020B0400000000000000" pitchFamily="34" charset="-128"/>
              <a:cs typeface="Georgia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ja-JP" altLang="en-US" sz="8800" kern="0" spc="105">
                <a:solidFill>
                  <a:srgbClr val="111418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Georgia" pitchFamily="34" charset="-120"/>
              </a:rPr>
              <a:t>続ける理由</a:t>
            </a:r>
            <a:endParaRPr lang="en-US" sz="88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6080692"/>
            <a:ext cx="118364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退院後の毎日を自分らしく取り戻すための9つの話。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「</a:t>
            </a:r>
            <a:r>
              <a:rPr lang="ja-JP" altLang="en-US" sz="300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なぜ続けるの？</a:t>
            </a: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」「</a:t>
            </a:r>
            <a:r>
              <a:rPr lang="ja-JP" altLang="en-US" sz="300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どう続けるの？</a:t>
            </a:r>
            <a:r>
              <a:rPr 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」</a:t>
            </a:r>
            <a:r>
              <a:rPr lang="ja-JP" altLang="en-US" sz="3000">
                <a:latin typeface="Yu Gothic" panose="020B0400000000000000" pitchFamily="34" charset="-128"/>
                <a:ea typeface="Yu Gothic" panose="020B0400000000000000" pitchFamily="34" charset="-128"/>
                <a:cs typeface="Arial" pitchFamily="34" charset="-120"/>
              </a:rPr>
              <a:t>に図解で答えます。</a:t>
            </a:r>
            <a:endParaRPr lang="en-US" sz="3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7BA8319-DBD4-F04E-9E9E-6323B15E2586}"/>
              </a:ext>
            </a:extLst>
          </p:cNvPr>
          <p:cNvGrpSpPr/>
          <p:nvPr/>
        </p:nvGrpSpPr>
        <p:grpSpPr>
          <a:xfrm>
            <a:off x="1333500" y="7877175"/>
            <a:ext cx="3406140" cy="942975"/>
            <a:chOff x="1333500" y="8577263"/>
            <a:chExt cx="3406140" cy="942975"/>
          </a:xfrm>
        </p:grpSpPr>
        <p:sp>
          <p:nvSpPr>
            <p:cNvPr id="6" name="Shape 4"/>
            <p:cNvSpPr/>
            <p:nvPr/>
          </p:nvSpPr>
          <p:spPr>
            <a:xfrm>
              <a:off x="1333500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600200" y="8634413"/>
              <a:ext cx="3139440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00200" y="9024938"/>
              <a:ext cx="313944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自宅療養中の方へ</a:t>
              </a:r>
              <a:endParaRPr lang="en-US" sz="24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A25D08E-FF02-1842-95A1-36C61C380605}"/>
              </a:ext>
            </a:extLst>
          </p:cNvPr>
          <p:cNvGrpSpPr/>
          <p:nvPr/>
        </p:nvGrpSpPr>
        <p:grpSpPr>
          <a:xfrm>
            <a:off x="5206622" y="7877175"/>
            <a:ext cx="4304130" cy="1293595"/>
            <a:chOff x="5219700" y="8577263"/>
            <a:chExt cx="4304130" cy="1293595"/>
          </a:xfrm>
        </p:grpSpPr>
        <p:sp>
          <p:nvSpPr>
            <p:cNvPr id="9" name="Shape 7"/>
            <p:cNvSpPr/>
            <p:nvPr/>
          </p:nvSpPr>
          <p:spPr>
            <a:xfrm>
              <a:off x="5219700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486400" y="8634413"/>
              <a:ext cx="4037430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CONTENT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0" y="9024937"/>
              <a:ext cx="4037430" cy="8459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5つの理由 + 続けるコツ3種 + 注意点</a:t>
              </a:r>
              <a:endParaRPr lang="en-US" sz="2400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76A7285-4551-454F-B8E9-753C4A6D20AA}"/>
              </a:ext>
            </a:extLst>
          </p:cNvPr>
          <p:cNvGrpSpPr/>
          <p:nvPr/>
        </p:nvGrpSpPr>
        <p:grpSpPr>
          <a:xfrm>
            <a:off x="9932963" y="7861363"/>
            <a:ext cx="2529929" cy="942975"/>
            <a:chOff x="9977735" y="8577263"/>
            <a:chExt cx="2529929" cy="942975"/>
          </a:xfrm>
        </p:grpSpPr>
        <p:sp>
          <p:nvSpPr>
            <p:cNvPr id="12" name="Shape 10"/>
            <p:cNvSpPr/>
            <p:nvPr/>
          </p:nvSpPr>
          <p:spPr>
            <a:xfrm>
              <a:off x="9977735" y="8577263"/>
              <a:ext cx="38100" cy="942975"/>
            </a:xfrm>
            <a:prstGeom prst="rect">
              <a:avLst/>
            </a:prstGeom>
            <a:solidFill>
              <a:srgbClr val="3B6EA8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0244435" y="8634413"/>
              <a:ext cx="2263229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kern="0" spc="252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</a:t>
              </a:r>
              <a:endParaRPr lang="en-US" sz="1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244435" y="9024938"/>
              <a:ext cx="2263229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1日 約5〜10分</a:t>
              </a:r>
              <a:endParaRPr lang="en-US" sz="24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3491518" y="8431429"/>
            <a:ext cx="4580597" cy="73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9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担当療法士 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(配布日: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180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ja-JP" altLang="en-US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</a:t>
            </a: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F9070600-DA6D-D940-B036-DC006DE2BC8F}"/>
              </a:ext>
            </a:extLst>
          </p:cNvPr>
          <p:cNvGrpSpPr/>
          <p:nvPr/>
        </p:nvGrpSpPr>
        <p:grpSpPr>
          <a:xfrm>
            <a:off x="1009650" y="762000"/>
            <a:ext cx="5330577" cy="552450"/>
            <a:chOff x="1009650" y="762000"/>
            <a:chExt cx="5330577" cy="552450"/>
          </a:xfrm>
        </p:grpSpPr>
        <p:sp>
          <p:nvSpPr>
            <p:cNvPr id="4" name="Text 2"/>
            <p:cNvSpPr/>
            <p:nvPr/>
          </p:nvSpPr>
          <p:spPr>
            <a:xfrm>
              <a:off x="1009650" y="762000"/>
              <a:ext cx="590550" cy="552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続</a:t>
              </a:r>
              <a:endParaRPr lang="en-US" sz="2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733550" y="840581"/>
              <a:ext cx="3584909" cy="3952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950" b="1" kern="0" spc="78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自主トレを続ける理由</a:t>
              </a:r>
              <a:endParaRPr lang="en-US" sz="19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518845" y="852488"/>
              <a:ext cx="821382" cy="371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6B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| 目次</a:t>
              </a:r>
              <a:endParaRPr lang="en-US" sz="18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1771650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3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2238375"/>
            <a:ext cx="16678275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全９トピックで図解します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047750" y="438239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360372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１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095499" y="3453705"/>
            <a:ext cx="4244727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病院のリハは1日のほんの一部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095500" y="3877568"/>
            <a:ext cx="51432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退院後の時間の使い方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7507" y="3589437"/>
            <a:ext cx="1540743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93707" y="3665637"/>
            <a:ext cx="13121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23時間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72600" y="438239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0" y="360372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420350" y="3453705"/>
            <a:ext cx="3288211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理由1:「体」を守る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20350" y="3877568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動かさないと衰える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12926" y="3589437"/>
            <a:ext cx="127017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21" name="Text 19"/>
          <p:cNvSpPr/>
          <p:nvPr/>
        </p:nvSpPr>
        <p:spPr>
          <a:xfrm>
            <a:off x="15989126" y="3665637"/>
            <a:ext cx="1041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 5分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5682555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4903887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３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95500" y="4753868"/>
            <a:ext cx="383209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理由2:「生活」を取り戻す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095500" y="5177730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ADL・自立した暮らし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88076" y="4889599"/>
            <a:ext cx="127017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27" name="Text 25"/>
          <p:cNvSpPr/>
          <p:nvPr/>
        </p:nvSpPr>
        <p:spPr>
          <a:xfrm>
            <a:off x="7664276" y="4965799"/>
            <a:ext cx="1041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小さな一歩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72600" y="5682555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29" name="Text 27"/>
          <p:cNvSpPr/>
          <p:nvPr/>
        </p:nvSpPr>
        <p:spPr>
          <a:xfrm>
            <a:off x="9429750" y="4903887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４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0420349" y="4753868"/>
            <a:ext cx="32882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理由3:「安全」をつくる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420350" y="5177730"/>
            <a:ext cx="46732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転倒予防・バランス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186124" y="4889599"/>
            <a:ext cx="1996976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33" name="Text 31"/>
          <p:cNvSpPr/>
          <p:nvPr/>
        </p:nvSpPr>
        <p:spPr>
          <a:xfrm>
            <a:off x="15262324" y="4965799"/>
            <a:ext cx="17683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片脚 30秒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7750" y="6982718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" y="6204049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５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2095500" y="6054030"/>
            <a:ext cx="3282692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理由4:「心」を元気にする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2095500" y="6477893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自信・達成感・意欲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588076" y="6189762"/>
            <a:ext cx="127017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39" name="Text 37"/>
          <p:cNvSpPr/>
          <p:nvPr/>
        </p:nvSpPr>
        <p:spPr>
          <a:xfrm>
            <a:off x="7664276" y="6265962"/>
            <a:ext cx="1041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毎日の達成感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372600" y="6982718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1" name="Text 39"/>
          <p:cNvSpPr/>
          <p:nvPr/>
        </p:nvSpPr>
        <p:spPr>
          <a:xfrm>
            <a:off x="9429750" y="6204049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６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0420350" y="6054030"/>
            <a:ext cx="328821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コツ①:5分から始める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420350" y="6477893"/>
            <a:ext cx="50897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ハードルを下げるコツ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590490" y="6189762"/>
            <a:ext cx="1592610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45" name="Text 43"/>
          <p:cNvSpPr/>
          <p:nvPr/>
        </p:nvSpPr>
        <p:spPr>
          <a:xfrm>
            <a:off x="15666690" y="6265962"/>
            <a:ext cx="13640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 5分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47750" y="8282880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7" name="Text 45"/>
          <p:cNvSpPr/>
          <p:nvPr/>
        </p:nvSpPr>
        <p:spPr>
          <a:xfrm>
            <a:off x="1104900" y="7504212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７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2095500" y="7354193"/>
            <a:ext cx="3832094" cy="431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コツ②:タイミングを決める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2095500" y="7778055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習慣化のテクニック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588076" y="7489924"/>
            <a:ext cx="127017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51" name="Text 49"/>
          <p:cNvSpPr/>
          <p:nvPr/>
        </p:nvSpPr>
        <p:spPr>
          <a:xfrm>
            <a:off x="7664276" y="7566124"/>
            <a:ext cx="1041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毎日同じ時間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372600" y="8282880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3" name="Text 51"/>
          <p:cNvSpPr/>
          <p:nvPr/>
        </p:nvSpPr>
        <p:spPr>
          <a:xfrm>
            <a:off x="9429750" y="7504212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８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10420350" y="7354193"/>
            <a:ext cx="3288210" cy="431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コツ③:記録で見える化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10420350" y="7778055"/>
            <a:ext cx="54640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可視化でモチベ維持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53854" y="7489924"/>
            <a:ext cx="1229246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57" name="Text 55"/>
          <p:cNvSpPr/>
          <p:nvPr/>
        </p:nvSpPr>
        <p:spPr>
          <a:xfrm>
            <a:off x="16030054" y="7566124"/>
            <a:ext cx="10006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○×記録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47750" y="9583043"/>
            <a:ext cx="786765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59" name="Text 57"/>
          <p:cNvSpPr/>
          <p:nvPr/>
        </p:nvSpPr>
        <p:spPr>
          <a:xfrm>
            <a:off x="1104900" y="8804374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3B6EA8"/>
                </a:solidFill>
                <a:latin typeface="Georgia" pitchFamily="34" charset="0"/>
              </a:rPr>
              <a:t>９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2095500" y="8654355"/>
            <a:ext cx="3832094" cy="583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痛み・疲労との付き合い方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2095500" y="9078218"/>
            <a:ext cx="54218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無理せず休む勇気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7588076" y="8790087"/>
            <a:ext cx="1270174" cy="4857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63" name="Text 61"/>
          <p:cNvSpPr/>
          <p:nvPr/>
        </p:nvSpPr>
        <p:spPr>
          <a:xfrm>
            <a:off x="7664276" y="8866287"/>
            <a:ext cx="1041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休む日もOK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610725"/>
            <a:ext cx="3309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5559088" y="9610725"/>
            <a:ext cx="1757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P.02 / 12 目次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病院のリハビリは１日のほんの一部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979959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7894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回復の土台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13609" y="2543175"/>
            <a:ext cx="261937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646959" y="2600325"/>
            <a:ext cx="24312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時間の使い方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09184" y="2543175"/>
            <a:ext cx="1924050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42534" y="2600325"/>
            <a:ext cx="1733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驚きの事実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23時間が勝負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病院でのリハビリは、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 約40分〜1時間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ほどです。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残りの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23時間の過ごし方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が、実は勝負の時間です。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562600"/>
            <a:ext cx="8156536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72520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569254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708879"/>
            <a:ext cx="72870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自主トレは毎日の小さなリハビリ。1日5分でも効果あります。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7" name="Shape 34"/>
          <p:cNvSpPr/>
          <p:nvPr/>
        </p:nvSpPr>
        <p:spPr>
          <a:xfrm>
            <a:off x="9736857" y="718467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8" name="Text 35"/>
          <p:cNvSpPr/>
          <p:nvPr/>
        </p:nvSpPr>
        <p:spPr>
          <a:xfrm>
            <a:off x="9698757" y="71846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947595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「毎日少しずつ」が、回復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への最短距離です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まずは「毎日やること」を1つ決めてみましょう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8068568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41" name="Shape 38"/>
          <p:cNvSpPr/>
          <p:nvPr/>
        </p:nvSpPr>
        <p:spPr>
          <a:xfrm>
            <a:off x="9527307" y="8068568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42" name="Shape 39"/>
          <p:cNvSpPr/>
          <p:nvPr/>
        </p:nvSpPr>
        <p:spPr>
          <a:xfrm>
            <a:off x="9794007" y="833526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43" name="Text 40"/>
          <p:cNvSpPr/>
          <p:nvPr/>
        </p:nvSpPr>
        <p:spPr>
          <a:xfrm>
            <a:off x="9755907" y="833526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426739" y="8106668"/>
            <a:ext cx="68747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「リハビリ=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病院だけ」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という考えは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、もったいない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23時間を味方に。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7" name="Text 44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 / 12</a:t>
            </a:r>
            <a:endParaRPr lang="en-US" sz="18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A27D5F82-70B7-3D4F-BA46-EAA047F31A65}"/>
              </a:ext>
            </a:extLst>
          </p:cNvPr>
          <p:cNvSpPr/>
          <p:nvPr/>
        </p:nvSpPr>
        <p:spPr>
          <a:xfrm>
            <a:off x="1047750" y="9610725"/>
            <a:ext cx="4270709" cy="465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病院のリハビリは</a:t>
            </a:r>
            <a:r>
              <a:rPr lang="en-US" altLang="ja-JP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日のほんの一部</a:t>
            </a:r>
            <a:endParaRPr lang="en-US" sz="1800" b="1" kern="0" spc="72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理由１:「体」を守る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筋力維持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51362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884712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関節可動域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5273" y="2543175"/>
            <a:ext cx="144400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178623" y="2600325"/>
            <a:ext cx="12535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基礎体力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 5分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1</a:t>
            </a:r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筋肉は使わないと、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1週間で約5%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弱くなると言われます。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060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2</a:t>
            </a:r>
          </a:p>
        </p:txBody>
      </p:sp>
      <p:sp>
        <p:nvSpPr>
          <p:cNvPr id="31" name="Text 28"/>
          <p:cNvSpPr/>
          <p:nvPr/>
        </p:nvSpPr>
        <p:spPr>
          <a:xfrm>
            <a:off x="10527432" y="4789713"/>
            <a:ext cx="6688555" cy="53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関節も動かさないと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硬くなっていき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46375BF0-0719-EF48-96AA-C96E3AE09975}"/>
              </a:ext>
            </a:extLst>
          </p:cNvPr>
          <p:cNvGrpSpPr/>
          <p:nvPr/>
        </p:nvGrpSpPr>
        <p:grpSpPr>
          <a:xfrm>
            <a:off x="9527307" y="5563274"/>
            <a:ext cx="9220405" cy="781050"/>
            <a:chOff x="9527307" y="5938838"/>
            <a:chExt cx="9220405" cy="781050"/>
          </a:xfrm>
        </p:grpSpPr>
        <p:sp>
          <p:nvSpPr>
            <p:cNvPr id="32" name="Shape 29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3" name="Shape 30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Text 31"/>
            <p:cNvSpPr/>
            <p:nvPr/>
          </p:nvSpPr>
          <p:spPr>
            <a:xfrm>
              <a:off x="9708282" y="6051776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195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10527432" y="6100763"/>
              <a:ext cx="8220280" cy="438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毎日5分のストレッチや体操で体力低下は十分防げます。</a:t>
              </a:r>
              <a:endParaRPr lang="en-US" sz="2000" dirty="0"/>
            </a:p>
          </p:txBody>
        </p:sp>
      </p:grpSp>
      <p:sp>
        <p:nvSpPr>
          <p:cNvPr id="36" name="Shape 33"/>
          <p:cNvSpPr/>
          <p:nvPr/>
        </p:nvSpPr>
        <p:spPr>
          <a:xfrm>
            <a:off x="9527307" y="6910388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7307" y="6910388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94007" y="717708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55907" y="71770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910388"/>
            <a:ext cx="668855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無理せず、痛みや不調がある日は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お休みしましょう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「体と相談する」感覚が大切です。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379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理由1:「体」を守る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19929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P.04 /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理由２:「生活」を取り戻す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ADLの自立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89115" y="2543175"/>
            <a:ext cx="979959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122465" y="2600325"/>
            <a:ext cx="7894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自分らしい暮らし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5273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178623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小さな「できた」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小さな一歩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自分でトイレに行く。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自分で着替える。散歩に出る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1171575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789018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「家族に頼らずできる」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場面が増えていきます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6038850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6857" y="6313140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698757" y="631314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6191250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昨日より「少しできた」</a:t>
            </a: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を積み重ねる </a:t>
            </a:r>
            <a:r>
              <a:rPr lang="en-US" sz="18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のがコツ。自信と自立が</a:t>
            </a:r>
            <a:endParaRPr lang="en-US" sz="1800" b="1" dirty="0">
              <a:solidFill>
                <a:srgbClr val="5A3D1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じわじわ育っていきます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527307" y="7197030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7307" y="7197030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94007" y="7463730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55907" y="746373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7349430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他の人と比べず、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あなた自身のペースを大切に。焦りは禁物、マイペースが最強です。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4276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理由2:「生活」を取り戻す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 / 12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４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理由３:「安全」をつくる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転倒予防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51362" y="2543175"/>
            <a:ext cx="1547006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852054" y="2600325"/>
            <a:ext cx="14136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バランス強化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55518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FD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8868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A04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事故を防ぐ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片脚 30秒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転倒は、骨折や寝たきりに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つながる大きなリスク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バランス訓練や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下肢の筋トレを続けると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転びにくい体が</a:t>
            </a:r>
            <a:endParaRPr lang="en-US" sz="21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1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つく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れます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938838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610076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610076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6100763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片脚立ちは、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テレビを見ながらでもOK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。スキマ時間の活用を。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7" name="Shape 34"/>
          <p:cNvSpPr/>
          <p:nvPr/>
        </p:nvSpPr>
        <p:spPr>
          <a:xfrm>
            <a:off x="9736857" y="718467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8" name="Text 35"/>
          <p:cNvSpPr/>
          <p:nvPr/>
        </p:nvSpPr>
        <p:spPr>
          <a:xfrm>
            <a:off x="9698757" y="71846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29324" y="6915937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転ばない体」は自分で作れます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将来の骨折・入院リスクを減らす、最強の自主トレです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6272346" y="9646444"/>
            <a:ext cx="119929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P.06 / 12</a:t>
            </a:r>
            <a:endParaRPr lang="en-US" sz="180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0D8600E2-7D02-1041-816F-341A3DECB34B}"/>
              </a:ext>
            </a:extLst>
          </p:cNvPr>
          <p:cNvSpPr/>
          <p:nvPr/>
        </p:nvSpPr>
        <p:spPr>
          <a:xfrm>
            <a:off x="1047750" y="9610725"/>
            <a:ext cx="42768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理由3:「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r>
              <a:rPr lang="en-US" sz="1800" b="1" kern="0" spc="72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つくる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５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理由４:「心」を元気にする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51362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3884712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意欲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5273" y="2543175"/>
            <a:ext cx="144400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178623" y="2600325"/>
            <a:ext cx="12535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毎日の達成感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体を動かすと、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脳も活性化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「続けられた」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という経験が、自信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につながります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648325"/>
            <a:ext cx="7712943" cy="830164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6857" y="5922615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698757" y="592261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800725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外に出て歩くだけで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気分が軽くなる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ことがあります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806505"/>
            <a:ext cx="7712943" cy="76200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7307" y="6806505"/>
            <a:ext cx="57150" cy="7620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94007" y="6958905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55907" y="69589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9815" y="6928912"/>
            <a:ext cx="6688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体が動かない日は、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深呼吸や意識だけ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でも大丈夫です。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理由4:「心」を元気にする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 / 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６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コツ１:５分から始める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693218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502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ハードル下げ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26868" y="2543175"/>
            <a:ext cx="1924050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360218" y="2600325"/>
            <a:ext cx="1733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習慣化の第一歩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 5分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4" name="Text 21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943351"/>
            <a:ext cx="694420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「30分やらなきゃ」</a:t>
            </a:r>
            <a:r>
              <a:rPr lang="en-US" sz="24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と思うと続きません </a:t>
            </a:r>
            <a:r>
              <a:rPr lang="en-US" sz="24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(完璧主義の罠)。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527307" y="4676776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8" name="Text 25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838700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まずは5分。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テレビのCMの間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でもOKです。</a:t>
            </a:r>
            <a:endParaRPr lang="en-US" sz="2000" dirty="0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C6D05B51-CE3C-C94B-B412-8CC797E975F5}"/>
              </a:ext>
            </a:extLst>
          </p:cNvPr>
          <p:cNvGrpSpPr/>
          <p:nvPr/>
        </p:nvGrpSpPr>
        <p:grpSpPr>
          <a:xfrm>
            <a:off x="9527307" y="5694998"/>
            <a:ext cx="7944331" cy="781050"/>
            <a:chOff x="9527307" y="5938838"/>
            <a:chExt cx="7944331" cy="781050"/>
          </a:xfrm>
        </p:grpSpPr>
        <p:sp>
          <p:nvSpPr>
            <p:cNvPr id="30" name="Shape 27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1" name="Shape 28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708282" y="610076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10527432" y="6100763"/>
              <a:ext cx="6944206" cy="5831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5分が習慣になったら、</a:t>
              </a:r>
              <a:r>
                <a:rPr lang="en-US" sz="2000" b="1" dirty="0">
                  <a:solidFill>
                    <a:srgbClr val="264A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少しずつ時間</a:t>
              </a: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を増やしていけます。</a:t>
              </a:r>
              <a:endParaRPr lang="en-US" sz="20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9527307" y="691038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5" name="Shape 32"/>
          <p:cNvSpPr/>
          <p:nvPr/>
        </p:nvSpPr>
        <p:spPr>
          <a:xfrm>
            <a:off x="9736857" y="718467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6" name="Text 33"/>
          <p:cNvSpPr/>
          <p:nvPr/>
        </p:nvSpPr>
        <p:spPr>
          <a:xfrm>
            <a:off x="9698757" y="71846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908244"/>
            <a:ext cx="6786663" cy="969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やった」という事実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が明日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のやる気につなが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量より、続けた日数が財産です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0" name="Text 37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 / 12</a:t>
            </a:r>
            <a:endParaRPr lang="en-US" sz="18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0F46713-C8FB-E346-A7AA-00DF39B261FC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ja-JP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</a:t>
            </a:r>
            <a:r>
              <a:rPr lang="en-US" altLang="ja-JP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altLang="ja-JP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分から始める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</a:rPr>
              <a:t>７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コツ２:タイミングを決める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89115" y="2543175"/>
            <a:ext cx="1930971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122465" y="2600325"/>
            <a:ext cx="17404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時間の固定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毎日同じ時間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4" name="Text 21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943350"/>
            <a:ext cx="790124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時間を決め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て行い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ましょう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676776"/>
            <a:ext cx="7712943" cy="889100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8" name="Text 25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838700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生活の中の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「決まった動作」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と紐づけると続きやすいです。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527307" y="601503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1" name="Shape 28"/>
          <p:cNvSpPr/>
          <p:nvPr/>
        </p:nvSpPr>
        <p:spPr>
          <a:xfrm>
            <a:off x="9736857" y="628932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2" name="Text 29"/>
          <p:cNvSpPr/>
          <p:nvPr/>
        </p:nvSpPr>
        <p:spPr>
          <a:xfrm>
            <a:off x="9698757" y="62893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8" y="6167438"/>
            <a:ext cx="677428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3週間、同じ時間にやってみると体が自然に動きます。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7173218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5" name="Shape 32"/>
          <p:cNvSpPr/>
          <p:nvPr/>
        </p:nvSpPr>
        <p:spPr>
          <a:xfrm>
            <a:off x="9527307" y="7173218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6" name="Shape 33"/>
          <p:cNvSpPr/>
          <p:nvPr/>
        </p:nvSpPr>
        <p:spPr>
          <a:xfrm>
            <a:off x="9794007" y="743991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7" name="Text 34"/>
          <p:cNvSpPr/>
          <p:nvPr/>
        </p:nvSpPr>
        <p:spPr>
          <a:xfrm>
            <a:off x="9755907" y="743991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7173218"/>
            <a:ext cx="693468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忘れた日は気にせず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翌日から再開すればOK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3日坊主を何度も繰り返せば続けられます。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1" name="Text 38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P.09 / 12</a:t>
            </a:r>
            <a:endParaRPr lang="en-US" sz="18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6D1FFF30-E09A-1542-B226-4ACC67D39980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</a:t>
            </a: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</a:t>
            </a:r>
            <a:r>
              <a:rPr lang="en-US" altLang="ja-JP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タイミングを決める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コツ３:記録で見える化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455465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2649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可視化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89115" y="2543175"/>
            <a:ext cx="979959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122465" y="2600325"/>
            <a:ext cx="7894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モチベ維持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5273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178623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成長の実感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○×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カレンダーに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「できた日=◯」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を付けるだけ。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歩数計アプリで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歩数を可視化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するのもおすすめ。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572125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46382" y="578054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4" name="Text 31"/>
          <p:cNvSpPr/>
          <p:nvPr/>
        </p:nvSpPr>
        <p:spPr>
          <a:xfrm>
            <a:off x="9708282" y="57340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734050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「続けた日数」が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自信と励み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になっていきます。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910388"/>
            <a:ext cx="7737733" cy="1023387"/>
            <a:chOff x="9527307" y="6910388"/>
            <a:chExt cx="7737733" cy="1023387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78377" y="6957462"/>
              <a:ext cx="6786663" cy="976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記録は完璧を求めず楽し</a:t>
              </a: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みながら行いましょう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休んだ日も立派な一歩です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40" name="Shape 37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2" name="Text 39"/>
          <p:cNvSpPr/>
          <p:nvPr/>
        </p:nvSpPr>
        <p:spPr>
          <a:xfrm>
            <a:off x="16272346" y="9646444"/>
            <a:ext cx="10441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/ 12</a:t>
            </a:r>
            <a:endParaRPr lang="en-US" sz="18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02980671-D451-FC41-9796-435771554422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コツ</a:t>
            </a:r>
            <a:r>
              <a:rPr lang="en-US" altLang="ja-JP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記録で見える化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1135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運動 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1809750"/>
            <a:ext cx="1143000" cy="1143000"/>
          </a:xfrm>
          <a:prstGeom prst="roundRect">
            <a:avLst>
              <a:gd name="adj" fmla="val 15000"/>
            </a:avLst>
          </a:prstGeom>
          <a:solidFill>
            <a:srgbClr val="3B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09650" y="180975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2457450" y="1771650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痛み・疲労との付き合い方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2457450" y="2543175"/>
            <a:ext cx="1693218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800" y="2600325"/>
            <a:ext cx="1502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安全第一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26868" y="2543175"/>
            <a:ext cx="1217712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4" name="Text 12"/>
          <p:cNvSpPr/>
          <p:nvPr/>
        </p:nvSpPr>
        <p:spPr>
          <a:xfrm>
            <a:off x="4360218" y="2600325"/>
            <a:ext cx="1027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療法士相談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20779" y="2543175"/>
            <a:ext cx="979959" cy="447675"/>
          </a:xfrm>
          <a:prstGeom prst="roundRect">
            <a:avLst>
              <a:gd name="adj" fmla="val 50000"/>
            </a:avLst>
          </a:prstGeom>
          <a:solidFill>
            <a:srgbClr val="EAF1F9"/>
          </a:solidFill>
          <a:ln/>
        </p:spPr>
      </p:sp>
      <p:sp>
        <p:nvSpPr>
          <p:cNvPr id="16" name="Text 14"/>
          <p:cNvSpPr/>
          <p:nvPr/>
        </p:nvSpPr>
        <p:spPr>
          <a:xfrm>
            <a:off x="5654129" y="2600325"/>
            <a:ext cx="7894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休む勇気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休む日もOK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7750" y="3257550"/>
            <a:ext cx="8098557" cy="6267450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350" y="4242122"/>
            <a:ext cx="7641357" cy="42982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091613"/>
            <a:ext cx="1215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7307" y="3257550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 ─ STEPS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78142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82" y="394335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26" name="Text 23"/>
          <p:cNvSpPr/>
          <p:nvPr/>
        </p:nvSpPr>
        <p:spPr>
          <a:xfrm>
            <a:off x="9708282" y="3943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94335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痛みが強い日・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めまいがある日は迷わず中止を。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67677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46382" y="483870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</p:sp>
      <p:sp>
        <p:nvSpPr>
          <p:cNvPr id="30" name="Text 27"/>
          <p:cNvSpPr/>
          <p:nvPr/>
        </p:nvSpPr>
        <p:spPr>
          <a:xfrm>
            <a:off x="9708282" y="48387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83870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回数や強さは、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担当セラピストの指示に従って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648325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6857" y="5922615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4" name="Text 31"/>
          <p:cNvSpPr/>
          <p:nvPr/>
        </p:nvSpPr>
        <p:spPr>
          <a:xfrm>
            <a:off x="9698757" y="592261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29324" y="5659785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「休む」も続けるための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大切な戦略です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違和感が続く時は、遠慮なく療法士に相談を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806505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7307" y="6806505"/>
            <a:ext cx="57150" cy="990600"/>
          </a:xfrm>
          <a:prstGeom prst="rect">
            <a:avLst/>
          </a:prstGeom>
          <a:solidFill>
            <a:srgbClr val="E87362"/>
          </a:solidFill>
          <a:ln/>
        </p:spPr>
      </p:sp>
      <p:sp>
        <p:nvSpPr>
          <p:cNvPr id="38" name="Shape 35"/>
          <p:cNvSpPr/>
          <p:nvPr/>
        </p:nvSpPr>
        <p:spPr>
          <a:xfrm>
            <a:off x="9794007" y="7073205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</p:sp>
      <p:sp>
        <p:nvSpPr>
          <p:cNvPr id="39" name="Text 36"/>
          <p:cNvSpPr/>
          <p:nvPr/>
        </p:nvSpPr>
        <p:spPr>
          <a:xfrm>
            <a:off x="9755907" y="70732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2" y="6801010"/>
            <a:ext cx="693468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急な強い痛み・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胸の痛み・息苦しさ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は自主トレを中止し、すぐに医療機関を受診してください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43" name="Text 40"/>
          <p:cNvSpPr/>
          <p:nvPr/>
        </p:nvSpPr>
        <p:spPr>
          <a:xfrm>
            <a:off x="16289313" y="9646444"/>
            <a:ext cx="10271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/ 12</a:t>
            </a:r>
            <a:endParaRPr lang="en-US" sz="180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EFECEE98-12DA-7247-9F76-BC40C43F8783}"/>
              </a:ext>
            </a:extLst>
          </p:cNvPr>
          <p:cNvSpPr/>
          <p:nvPr/>
        </p:nvSpPr>
        <p:spPr>
          <a:xfrm>
            <a:off x="1047750" y="9610725"/>
            <a:ext cx="37871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</a:t>
            </a:r>
            <a:r>
              <a:rPr lang="ja-JP" altLang="en-US" sz="1800" b="1" kern="0" spc="72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痛み・疲労との付き合い方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485900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620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B6EA8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" y="7620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3550" y="840581"/>
            <a:ext cx="35849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18845" y="852488"/>
            <a:ext cx="15071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続けるコツ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20877" y="852488"/>
            <a:ext cx="8955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r>
              <a:rPr lang="en-US" sz="1800" kern="0" spc="10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1771650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3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2238375"/>
            <a:ext cx="16678275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続けるあなたへ、4つの応援メッセージ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047750" y="3358455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0175" y="3691830"/>
            <a:ext cx="685800" cy="685800"/>
          </a:xfrm>
          <a:prstGeom prst="ellipse">
            <a:avLst/>
          </a:prstGeom>
          <a:solidFill>
            <a:srgbClr val="EAF1F9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36918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486025" y="3691830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毎日の5分が、未来を変える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486025" y="4258568"/>
            <a:ext cx="635736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小さな一歩の積み重ねが、半年後・1年後の体を作る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財産になります</a:t>
            </a:r>
            <a:r>
              <a:rPr lang="en-US" sz="195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77350" y="3358455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9775" y="3691830"/>
            <a:ext cx="685800" cy="685800"/>
          </a:xfrm>
          <a:prstGeom prst="ellipse">
            <a:avLst/>
          </a:prstGeom>
          <a:solidFill>
            <a:srgbClr val="FAF1DE"/>
          </a:solidFill>
          <a:ln/>
        </p:spPr>
      </p:sp>
      <p:sp>
        <p:nvSpPr>
          <p:cNvPr id="17" name="Text 15"/>
          <p:cNvSpPr/>
          <p:nvPr/>
        </p:nvSpPr>
        <p:spPr>
          <a:xfrm>
            <a:off x="9591675" y="36918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D57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715625" y="3691830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完璧じゃなくていい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15625" y="4258568"/>
            <a:ext cx="635736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続かない日があって当たり前。3日坊主を何度も繰り返せば、立派な習慣です。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626298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00175" y="5959673"/>
            <a:ext cx="685800" cy="685800"/>
          </a:xfrm>
          <a:prstGeom prst="ellipse">
            <a:avLst/>
          </a:prstGeom>
          <a:solidFill>
            <a:srgbClr val="FDECE8"/>
          </a:solidFill>
          <a:ln/>
        </p:spPr>
      </p:sp>
      <p:sp>
        <p:nvSpPr>
          <p:cNvPr id="22" name="Text 20"/>
          <p:cNvSpPr/>
          <p:nvPr/>
        </p:nvSpPr>
        <p:spPr>
          <a:xfrm>
            <a:off x="1362075" y="595967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2486025" y="5959673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休む日も、続けるうち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2486025" y="6526411"/>
            <a:ext cx="635736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体に向き合って休む判断ができるのは、リハビリの熟練者の証。安心して休んでください。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277350" y="5626298"/>
            <a:ext cx="7962900" cy="2001143"/>
          </a:xfrm>
          <a:prstGeom prst="roundRect">
            <a:avLst>
              <a:gd name="adj" fmla="val 8568"/>
            </a:avLst>
          </a:prstGeom>
          <a:ln w="9525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9775" y="5959673"/>
            <a:ext cx="685800" cy="685800"/>
          </a:xfrm>
          <a:prstGeom prst="ellipse">
            <a:avLst/>
          </a:prstGeom>
          <a:solidFill>
            <a:srgbClr val="E8EFE6"/>
          </a:solidFill>
          <a:ln/>
        </p:spPr>
      </p:sp>
      <p:sp>
        <p:nvSpPr>
          <p:cNvPr id="27" name="Text 25"/>
          <p:cNvSpPr/>
          <p:nvPr/>
        </p:nvSpPr>
        <p:spPr>
          <a:xfrm>
            <a:off x="9591675" y="595967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3D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715625" y="5959673"/>
            <a:ext cx="635736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あなたは独りじゃない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0715625" y="6526411"/>
            <a:ext cx="635736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不安や迷いがあれば、いつでも担当の療法士・医師</a:t>
            </a:r>
            <a:endParaRPr lang="en-US" sz="1950" dirty="0">
              <a:solidFill>
                <a:srgbClr val="3A41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 err="1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に相談してください</a:t>
            </a:r>
            <a:r>
              <a:rPr lang="en-US" sz="1950" dirty="0">
                <a:solidFill>
                  <a:srgbClr val="3A4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47750" y="8046541"/>
            <a:ext cx="16192500" cy="1342058"/>
          </a:xfrm>
          <a:prstGeom prst="roundRect">
            <a:avLst>
              <a:gd name="adj" fmla="val 11356"/>
            </a:avLst>
          </a:prstGeom>
          <a:solidFill>
            <a:srgbClr val="3B6EA8"/>
          </a:solidFill>
          <a:ln/>
        </p:spPr>
      </p:sp>
      <p:sp>
        <p:nvSpPr>
          <p:cNvPr id="31" name="Text 29"/>
          <p:cNvSpPr/>
          <p:nvPr/>
        </p:nvSpPr>
        <p:spPr>
          <a:xfrm>
            <a:off x="1262063" y="8366581"/>
            <a:ext cx="15763875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3150" b="1" kern="0" spc="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「続ける力」が、自分らしい毎日を取り戻す一番の近道です。一緒に頑張りましょう!</a:t>
            </a:r>
            <a:endParaRPr lang="en-US" sz="3150" dirty="0"/>
          </a:p>
        </p:txBody>
      </p:sp>
      <p:sp>
        <p:nvSpPr>
          <p:cNvPr id="32" name="Shape 30"/>
          <p:cNvSpPr/>
          <p:nvPr/>
        </p:nvSpPr>
        <p:spPr>
          <a:xfrm>
            <a:off x="1047750" y="9429750"/>
            <a:ext cx="16192500" cy="9525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10725"/>
            <a:ext cx="3309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自主トレを続ける理由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845829" y="9610725"/>
            <a:ext cx="24706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/ 12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882</Words>
  <Application>Microsoft Macintosh PowerPoint</Application>
  <PresentationFormat>ユーザー設定</PresentationFormat>
  <Paragraphs>308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10</cp:revision>
  <dcterms:created xsi:type="dcterms:W3CDTF">2026-04-19T20:11:14Z</dcterms:created>
  <dcterms:modified xsi:type="dcterms:W3CDTF">2026-04-28T13:37:08Z</dcterms:modified>
</cp:coreProperties>
</file>