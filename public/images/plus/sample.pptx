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6cf38b27a74c54" /><Relationship Type="http://schemas.openxmlformats.org/officeDocument/2006/relationships/extended-properties" Target="/docProps/app.xml" Id="R5a46e668b0b343e4" /><Relationship Type="http://schemas.openxmlformats.org/officeDocument/2006/relationships/officeDocument" Target="/ppt/presentation.xml" Id="R746dafb067b64e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79b87d945f49b6"/>
  </p:sldMasterIdLst>
  <p:notesMasterIdLst>
    <p:notesMasterId xmlns:r="http://schemas.openxmlformats.org/officeDocument/2006/relationships" r:id="R3b48614d97a54a58"/>
  </p:notesMasterIdLst>
  <p:sldIdLst>
    <p:sldId xmlns:r="http://schemas.openxmlformats.org/officeDocument/2006/relationships" id="256" r:id="R98c2ada673f842ea"/>
    <p:sldId xmlns:r="http://schemas.openxmlformats.org/officeDocument/2006/relationships" id="257" r:id="Ra5a75c05ed864d62"/>
    <p:sldId xmlns:r="http://schemas.openxmlformats.org/officeDocument/2006/relationships" id="258" r:id="Rf6edd65d4ab7478f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be040221ba4f7f" /><Relationship Type="http://schemas.openxmlformats.org/officeDocument/2006/relationships/slideMaster" Target="/ppt/slideMasters/slideMaster1.xml" Id="R6e79b87d945f49b6" /><Relationship Type="http://schemas.openxmlformats.org/officeDocument/2006/relationships/notesMaster" Target="/ppt/notesMasters/notesMaster1.xml" Id="R3b48614d97a54a58" /><Relationship Type="http://schemas.openxmlformats.org/officeDocument/2006/relationships/presProps" Target="/ppt/presProps.xml" Id="R18dde1e1fac549cc" /><Relationship Type="http://schemas.openxmlformats.org/officeDocument/2006/relationships/viewProps" Target="/ppt/viewProps.xml" Id="R8ce2f39279984809" /><Relationship Type="http://schemas.openxmlformats.org/officeDocument/2006/relationships/tableStyles" Target="/ppt/tableStyles.xml" Id="Rc912d3ae55ea4b82" /><Relationship Type="http://schemas.openxmlformats.org/officeDocument/2006/relationships/slide" Target="/ppt/slides/slide1.xml" Id="R98c2ada673f842ea" /><Relationship Type="http://schemas.openxmlformats.org/officeDocument/2006/relationships/slide" Target="/ppt/slides/slide2.xml" Id="Ra5a75c05ed864d62" /><Relationship Type="http://schemas.openxmlformats.org/officeDocument/2006/relationships/slide" Target="/ppt/slides/slide3.xml" Id="Rf6edd65d4ab747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21577cf7e548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fc746b16d741d0" /><Relationship Type="http://schemas.openxmlformats.org/officeDocument/2006/relationships/notesMaster" Target="/ppt/notesMasters/notesMaster1.xml" Id="Re0499b6d0ee34e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124d4398a347b8" /><Relationship Type="http://schemas.openxmlformats.org/officeDocument/2006/relationships/notesMaster" Target="/ppt/notesMasters/notesMaster1.xml" Id="Rdf34186f949148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965223b7254138" /><Relationship Type="http://schemas.openxmlformats.org/officeDocument/2006/relationships/notesMaster" Target="/ppt/notesMasters/notesMaster1.xml" Id="Rfa794f582de543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「最初は両手の上げ下げ運動です。胸の前で両手を組んで、ゆっくり頭の上まで持ち上げます。これからの運動の準備として、肩まわりをほぐしましょう。腕が真っ直ぐ上まで届かなくても大丈夫。今日上がるところまでで十分です。」
【注意点】
・反動を使わずゆっくり
・無理に上げない、痛みのない範囲で
・腕を上げる時に息を止めない
・肩に鋭い痛みが出る場合はすぐ休む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「座位足踏みと腕振りです。手と足を一緒に動かすことで、体の協調性も保てます。歩いているイメージで、リズムよく動かしましょう。」
【注意点】
・息切れしたら休む
・無理に速く動かない
・椅子に深く座って安定させる
・体調に合わせて時間を調整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「椅子から立つ・座る練習です。家の中で何度も行う動作ですが、これ自体がとても良いトレーニングになります。ゆっくり行うほど筋肉に効きます。」
【注意点】
・安定した椅子を使う
・ふらつく時は支えを使う
・勢いを使わず丁寧に
・膝や腰が痛い日は中止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17f71858e74733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d681d2d51d482f" /><Relationship Type="http://schemas.openxmlformats.org/officeDocument/2006/relationships/slideLayout" Target="/ppt/slideLayouts/slideLayout1.xml" Id="R0f091837096846d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091837096846d0"/>
  </p:sldLayoutIdLst>
  <p:hf sldNum="0" hdr="0" ftr="0" dt="0"/>
  <p:txStyles>
    <p:titleStyle>
      <a:lvl1pPr xmlns:a="http://schemas.openxmlformats.org/drawingml/2006/main"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bb8fe082554366" /><Relationship Type="http://schemas.openxmlformats.org/officeDocument/2006/relationships/image" Target="/ppt/media/image.png" Id="R771a0b69fa424038" /><Relationship Type="http://schemas.openxmlformats.org/officeDocument/2006/relationships/notesSlide" Target="/ppt/notesSlides/notesSlide1.xml" Id="R697c7dff8a2c41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c6a2871a354548" /><Relationship Type="http://schemas.openxmlformats.org/officeDocument/2006/relationships/image" Target="/ppt/media/image2.png" Id="R643cad390a864b23" /><Relationship Type="http://schemas.openxmlformats.org/officeDocument/2006/relationships/notesSlide" Target="/ppt/notesSlides/notesSlide2.xml" Id="Rb764da1e229a4c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b4dfb3210a4439" /><Relationship Type="http://schemas.openxmlformats.org/officeDocument/2006/relationships/image" Target="/ppt/media/image3.png" Id="Ra9039e8b12fc4394" /><Relationship Type="http://schemas.openxmlformats.org/officeDocument/2006/relationships/notesSlide" Target="/ppt/notesSlides/notesSlide3.xml" Id="R7725837751064b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A2B5CC1-5B4C-460C-B190-5A42D540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687068"/>
            <a:ext cx="16194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1114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1BBC2EB-3670-4A14-A067-905D43AD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603" y="727023"/>
            <a:ext cx="100584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500" b="1">
                <a:solidFill>
                  <a:srgbClr val="111418"/>
                </a:solidFill>
                <a:latin typeface="Yu Gothic"/>
                <a:ea typeface="Yu Gothic"/>
                <a:cs typeface="Yu Gothic"/>
              </a:rPr>
              <a:t>両手の上げ下げ運動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039B3F9F-F500-474B-9463-7B83B669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2384" y="1810512"/>
            <a:ext cx="2743200" cy="1152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EDC1332-A57C-478C-8E01-EEA2F9F2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6976" y="1938528"/>
            <a:ext cx="241401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50">
                <a:solidFill>
                  <a:srgbClr val="6B7480"/>
                </a:solidFill>
                <a:latin typeface="Georgia"/>
                <a:ea typeface="Georgia"/>
                <a:cs typeface="Georgia"/>
              </a:rPr>
              <a:t>回数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C135B38-DF3C-4A54-BAD6-B1FA0F43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2384" y="2313432"/>
            <a:ext cx="27432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5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10回 × 2セット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A45C255D-3615-4E15-8E7D-E83FBEFF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718" y="2674620"/>
            <a:ext cx="8791001" cy="5765292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EAF1F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AB1E257-C194-44DA-B065-B48F0E5E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2678049"/>
            <a:ext cx="782726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>
                <a:solidFill>
                  <a:srgbClr val="6B7480"/>
                </a:solidFill>
                <a:latin typeface="Yu Gothic"/>
                <a:ea typeface="Yu Gothic"/>
                <a:cs typeface="Yu Gothic"/>
              </a:rPr>
              <a:t>手順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9C415978-F084-4481-9311-7C31AD09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3345561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6E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F7CC7012-36D5-4166-B75B-CBE9D5E2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3345561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8A251620-BFBB-438C-89A6-350FDF7B6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120" y="3226689"/>
            <a:ext cx="7141464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>
                <a:solidFill>
                  <a:srgbClr val="111418"/>
                </a:solidFill>
                <a:latin typeface="Yu Gothic"/>
                <a:ea typeface="Yu Gothic"/>
                <a:cs typeface="Yu Gothic"/>
              </a:rPr>
              <a:t>椅子に座り、両手の指を</a:t>
            </a:r>
            <a:r>
              <a:rPr sz="2100" b="1">
                <a:solidFill>
                  <a:srgbClr val="264A75"/>
                </a:solidFill>
                <a:latin typeface="Yu Gothic"/>
                <a:ea typeface="Yu Gothic"/>
                <a:cs typeface="Yu Gothic"/>
              </a:rPr>
              <a:t>胸の前で組みます</a:t>
            </a:r>
            <a:r>
              <a:rPr sz="2100">
                <a:solidFill>
                  <a:srgbClr val="111418"/>
                </a:solidFill>
                <a:latin typeface="Yu Gothic"/>
                <a:ea typeface="Yu Gothic"/>
                <a:cs typeface="Yu Gothic"/>
              </a:rPr>
              <a:t>。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68FBE7C1-E941-4243-AE64-A4C88E5E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4122801"/>
            <a:ext cx="78272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3E6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35280EF1-0BC8-4A7D-AA2F-1A6FDA88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4305681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6E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73DFA9E2-21BE-42E2-9C82-221752386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4305681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19E36749-C0FC-4C42-87E9-83700CDE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120" y="4186809"/>
            <a:ext cx="7141464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>
                <a:solidFill>
                  <a:srgbClr val="111418"/>
                </a:solidFill>
                <a:latin typeface="Yu Gothic"/>
                <a:ea typeface="Yu Gothic"/>
                <a:cs typeface="Yu Gothic"/>
              </a:rPr>
              <a:t>組んだ両手をゆっくり</a:t>
            </a:r>
            <a:r>
              <a:rPr sz="2100" b="1">
                <a:solidFill>
                  <a:srgbClr val="264A75"/>
                </a:solidFill>
                <a:latin typeface="Yu Gothic"/>
                <a:ea typeface="Yu Gothic"/>
                <a:cs typeface="Yu Gothic"/>
              </a:rPr>
              <a:t>頭の上まで</a:t>
            </a:r>
            <a:r>
              <a:rPr sz="2100">
                <a:solidFill>
                  <a:srgbClr val="111418"/>
                </a:solidFill>
                <a:latin typeface="Yu Gothic"/>
                <a:ea typeface="Yu Gothic"/>
                <a:cs typeface="Yu Gothic"/>
              </a:rPr>
              <a:t>持ち上げます。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27D81563-30E1-4E86-A38C-077CC8DC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5082921"/>
            <a:ext cx="78272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3E6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E1A83D21-0FDE-4665-912B-B7FD2AE6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5265801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6E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6C063C13-7171-4E38-BBA1-61B62A37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5265801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A3185E4F-9472-40D4-8775-A1E9194B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120" y="5146929"/>
            <a:ext cx="7141464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>
                <a:solidFill>
                  <a:srgbClr val="111418"/>
                </a:solidFill>
                <a:latin typeface="Yu Gothic"/>
                <a:ea typeface="Yu Gothic"/>
                <a:cs typeface="Yu Gothic"/>
              </a:rPr>
              <a:t>ゆっくり胸の前に戻します。10回くり返しましょう。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15CF89AB-0DD6-49E9-B7A7-BEA7193D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6043041"/>
            <a:ext cx="78272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3E6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30E27D65-BC47-4FCC-987C-35F1266F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6564249"/>
            <a:ext cx="7827264" cy="1078992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AF1D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3066F104-458E-4BA4-86D4-55E301FC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6893433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A2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54BEF1CF-D095-4AB8-A4E1-A6A89AF3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6893433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◎</a:t>
            </a:r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03033940-04C1-4E56-8BF3-E026B580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704" y="6655689"/>
            <a:ext cx="6858000" cy="896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>
                <a:solidFill>
                  <a:srgbClr val="3D2806"/>
                </a:solidFill>
                <a:latin typeface="Yu Gothic"/>
                <a:ea typeface="Yu Gothic"/>
                <a:cs typeface="Yu Gothic"/>
              </a:rPr>
              <a:t>腕が真っ直ぐ上まで届かなくても大丈夫です</a:t>
            </a:r>
            <a:r>
              <a:rPr sz="2100">
                <a:solidFill>
                  <a:srgbClr val="3D2806"/>
                </a:solidFill>
                <a:latin typeface="Yu Gothic"/>
                <a:ea typeface="Yu Gothic"/>
                <a:cs typeface="Yu Gothic"/>
              </a:rPr>
              <a:t>。</a:t>
            </a:r>
          </a:p>
          <a:p xmlns:a="http://schemas.openxmlformats.org/drawingml/2006/main">
            <a:pPr marL="0" indent="0" algn="l">
              <a:buNone/>
            </a:pPr>
            <a:r>
              <a:rPr sz="2100">
                <a:solidFill>
                  <a:srgbClr val="3D2806"/>
                </a:solidFill>
                <a:latin typeface="Yu Gothic"/>
                <a:ea typeface="Yu Gothic"/>
                <a:cs typeface="Yu Gothic"/>
              </a:rPr>
              <a:t>今日上がるところまでで十分です</a:t>
            </a:r>
            <a:r>
              <a:rPr sz="2100">
                <a:solidFill>
                  <a:srgbClr val="3D2806"/>
                </a:solidFill>
                <a:latin typeface="Yu Gothic"/>
                <a:ea typeface="Yu Gothic"/>
                <a:cs typeface="Yu Gothic"/>
              </a:rPr>
              <a:t>。</a:t>
            </a:r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450386EC-0833-44DD-AB2A-0E1ADB09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7789545"/>
            <a:ext cx="7827264" cy="1078992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DECE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48AE8B95-1ACD-4501-A934-6F9233675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7789545"/>
            <a:ext cx="54864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36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4E422DB5-B0C7-4845-8BAA-7289A85D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8100441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36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9BBFF8E3-EDBF-440D-B869-71718705F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8100441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CCBBE99B-A07F-490D-AA98-DD5E9554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7880985"/>
            <a:ext cx="6821424" cy="896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>
                <a:solidFill>
                  <a:srgbClr val="7A2D1D"/>
                </a:solidFill>
                <a:latin typeface="Yu Gothic"/>
                <a:ea typeface="Yu Gothic"/>
                <a:cs typeface="Yu Gothic"/>
              </a:rPr>
              <a:t>肩に鋭い痛みが出たり、めまいを感じたらすぐ</a:t>
            </a:r>
            <a:r>
              <a:rPr sz="2100">
                <a:solidFill>
                  <a:srgbClr val="7A2D1D"/>
                </a:solidFill>
                <a:latin typeface="Yu Gothic"/>
                <a:ea typeface="Yu Gothic"/>
                <a:cs typeface="Yu Gothic"/>
              </a:rPr>
              <a:t>に</a:t>
            </a:r>
          </a:p>
          <a:p xmlns:a="http://schemas.openxmlformats.org/drawingml/2006/main">
            <a:pPr marL="0" indent="0" algn="l">
              <a:buNone/>
            </a:pPr>
            <a:r>
              <a:rPr sz="2100">
                <a:solidFill>
                  <a:srgbClr val="7A2D1D"/>
                </a:solidFill>
                <a:latin typeface="Yu Gothic"/>
                <a:ea typeface="Yu Gothic"/>
                <a:cs typeface="Yu Gothic"/>
              </a:rPr>
              <a:t>中止しましょう</a:t>
            </a:r>
            <a:r>
              <a:rPr sz="2100">
                <a:solidFill>
                  <a:srgbClr val="7A2D1D"/>
                </a:solidFill>
                <a:latin typeface="Yu Gothic"/>
                <a:ea typeface="Yu Gothic"/>
                <a:cs typeface="Yu Gothic"/>
              </a:rPr>
              <a:t>。</a:t>
            </a:r>
          </a:p>
        </p:txBody>
      </p:sp>
      <p:pic>
        <p:nvPicPr>
          <p:cNvPr id="79" name="図 4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71a0b69fa424038"/>
          <a:srcRect xmlns:a="http://schemas.openxmlformats.org/drawingml/2006/main" l="25894" t="17" r="26967" b="26716"/>
          <a:stretch xmlns:a="http://schemas.openxmlformats.org/drawingml/2006/main"/>
        </p:blipFill>
        <p:spPr>
          <a:xfrm xmlns:a="http://schemas.openxmlformats.org/drawingml/2006/main">
            <a:off x="1660396" y="2818752"/>
            <a:ext cx="6267645" cy="5477027"/>
          </a:xfrm>
          <a:prstGeom xmlns:a="http://schemas.openxmlformats.org/drawingml/2006/main" prst="rect">
            <a:avLst/>
          </a:prstGeom>
        </p:spPr>
      </p:pic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DA69AF7C-0AA7-4D5B-A396-4DC80F42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9052560"/>
            <a:ext cx="1609344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334155"/>
                </a:solidFill>
                <a:latin typeface="Yu Gothic"/>
                <a:ea typeface="Yu Gothic"/>
                <a:cs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  <a:ea typeface="Yu Gothic"/>
                <a:cs typeface="Yu Gothic"/>
              </a:rPr>
              <a:t>肩や背中を動かし、姿勢と呼吸を整えます。</a:t>
            </a:r>
          </a:p>
        </p:txBody>
      </p:sp>
    </p:spTree>
    <p:extLst>
      <p:ext uri="{BB962C8B-B14F-4D97-AF65-F5344CB8AC3E}">
        <p14:creationId xmlns:p14="http://schemas.microsoft.com/office/powerpoint/2010/main" val="5319764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BC042B24-0E4F-437C-846B-BB6649F7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687068"/>
            <a:ext cx="16194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1114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DB020FD-A084-4CA5-A2A6-FC9A3E16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603" y="727023"/>
            <a:ext cx="100584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500" b="1">
                <a:solidFill>
                  <a:srgbClr val="111418"/>
                </a:solidFill>
                <a:latin typeface="Yu Gothic"/>
                <a:ea typeface="Yu Gothic"/>
                <a:cs typeface="Yu Gothic"/>
              </a:rPr>
              <a:t>座位足踏みと腕振り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9407E7AE-77AF-47B7-9622-3E9D2CE8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2384" y="1810512"/>
            <a:ext cx="2743200" cy="1152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5AA9C6A-848F-49B5-B9A8-A23CD749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6976" y="1938528"/>
            <a:ext cx="241401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50">
                <a:solidFill>
                  <a:srgbClr val="6B7480"/>
                </a:solidFill>
                <a:latin typeface="Georgia"/>
                <a:ea typeface="Georgia"/>
                <a:cs typeface="Georgia"/>
              </a:rPr>
              <a:t>回数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ECC661B-93DF-405D-9001-DBAED351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6976" y="2313432"/>
            <a:ext cx="241401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30秒 × 2セット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E83587E4-BCBB-48CA-9EA9-8D23B516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718" y="2674620"/>
            <a:ext cx="8791001" cy="5765292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EAF1F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DC26D78-51AA-4C12-B047-0ECF17FA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2678049"/>
            <a:ext cx="782726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>
                <a:solidFill>
                  <a:srgbClr val="6B7480"/>
                </a:solidFill>
                <a:latin typeface="Yu Gothic"/>
                <a:ea typeface="Yu Gothic"/>
                <a:cs typeface="Yu Gothic"/>
              </a:rPr>
              <a:t>手順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6F35BEBA-5603-47FF-B469-EE0D46EE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3345561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6E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93792A72-81F2-432F-85CB-5818327C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3345561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0F69ED1-16DB-4CD0-A715-3D6124131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120" y="3226689"/>
            <a:ext cx="7141464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>
                <a:solidFill>
                  <a:srgbClr val="111418"/>
                </a:solidFill>
                <a:latin typeface="Yu Gothic"/>
                <a:ea typeface="Yu Gothic"/>
                <a:cs typeface="Yu Gothic"/>
              </a:rPr>
              <a:t>椅子に座り、</a:t>
            </a:r>
            <a:r>
              <a:rPr sz="2100" b="1">
                <a:solidFill>
                  <a:srgbClr val="264A75"/>
                </a:solidFill>
                <a:latin typeface="Yu Gothic"/>
                <a:ea typeface="Yu Gothic"/>
                <a:cs typeface="Yu Gothic"/>
              </a:rPr>
              <a:t>両足を床に</a:t>
            </a:r>
            <a:r>
              <a:rPr sz="2100">
                <a:solidFill>
                  <a:srgbClr val="111418"/>
                </a:solidFill>
                <a:latin typeface="Yu Gothic"/>
                <a:ea typeface="Yu Gothic"/>
                <a:cs typeface="Yu Gothic"/>
              </a:rPr>
              <a:t>つけます。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3A9BDDE9-A15A-4415-BA03-644BAA68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4122801"/>
            <a:ext cx="78272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3E6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D8EC85D4-7EC8-4151-A50C-6F6D7FEF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4305681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6E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E77032DE-A268-4B70-BB3F-D6484B8E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4305681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8690C7E6-A785-466D-BF9A-2AA6074D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119" y="4186809"/>
            <a:ext cx="770490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>
                <a:solidFill>
                  <a:srgbClr val="111418"/>
                </a:solidFill>
                <a:latin typeface="Yu Gothic"/>
                <a:ea typeface="Yu Gothic"/>
                <a:cs typeface="Yu Gothic"/>
              </a:rPr>
              <a:t>左右の足を交互に上げながら、腕も歩く時のように振ります。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D3DB902A-DBC7-4B7D-85D5-4DD1C7B2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5082921"/>
            <a:ext cx="78272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3E6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A32CCF6B-F660-46AA-8939-78D2C6D3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5265801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6E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EEA16F2E-740A-4F19-9F8D-B467B7CC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5265801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DB6EFB2C-09F1-4791-BDCD-C2392838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120" y="5146929"/>
            <a:ext cx="7141464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>
                <a:solidFill>
                  <a:srgbClr val="111418"/>
                </a:solidFill>
                <a:latin typeface="Yu Gothic"/>
                <a:ea typeface="Yu Gothic"/>
                <a:cs typeface="Yu Gothic"/>
              </a:rPr>
              <a:t>30秒間続けます。</a:t>
            </a:r>
            <a:r>
              <a:rPr sz="2100" b="1">
                <a:solidFill>
                  <a:srgbClr val="264A75"/>
                </a:solidFill>
                <a:latin typeface="Yu Gothic"/>
                <a:ea typeface="Yu Gothic"/>
                <a:cs typeface="Yu Gothic"/>
              </a:rPr>
              <a:t>リズムよく</a:t>
            </a:r>
            <a:r>
              <a:rPr sz="2100">
                <a:solidFill>
                  <a:srgbClr val="111418"/>
                </a:solidFill>
                <a:latin typeface="Yu Gothic"/>
                <a:ea typeface="Yu Gothic"/>
                <a:cs typeface="Yu Gothic"/>
              </a:rPr>
              <a:t>動きましょう。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32DC3B31-5D7C-47A8-B758-6E6C9A04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6043041"/>
            <a:ext cx="78272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3E6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81C66E2F-9981-48E6-963A-94C78DCF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6564249"/>
            <a:ext cx="7827264" cy="1078992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AF1D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DEF085A5-BB1E-415B-AD27-1DCA0503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6893433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A2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2710150F-024E-4428-A076-3CDE57C14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6893433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◎</a:t>
            </a:r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BC6CA7A2-714E-4486-8D1D-1D70B5E3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704" y="6655689"/>
            <a:ext cx="6858000" cy="896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>
                <a:solidFill>
                  <a:srgbClr val="3D2806"/>
                </a:solidFill>
                <a:latin typeface="Yu Gothic"/>
                <a:ea typeface="Yu Gothic"/>
                <a:cs typeface="Yu Gothic"/>
              </a:rPr>
              <a:t>歩いている自分をイメージしながら行うと</a:t>
            </a:r>
            <a:r>
              <a:rPr sz="2100">
                <a:solidFill>
                  <a:srgbClr val="3D2806"/>
                </a:solidFill>
                <a:latin typeface="Yu Gothic"/>
                <a:ea typeface="Yu Gothic"/>
                <a:cs typeface="Yu Gothic"/>
              </a:rPr>
              <a:t>、</a:t>
            </a:r>
          </a:p>
          <a:p xmlns:a="http://schemas.openxmlformats.org/drawingml/2006/main">
            <a:pPr marL="0" indent="0" algn="l">
              <a:buNone/>
            </a:pPr>
            <a:r>
              <a:rPr sz="2100">
                <a:solidFill>
                  <a:srgbClr val="3D2806"/>
                </a:solidFill>
                <a:latin typeface="Yu Gothic"/>
                <a:ea typeface="Yu Gothic"/>
                <a:cs typeface="Yu Gothic"/>
              </a:rPr>
              <a:t>自然なリズムになります</a:t>
            </a:r>
            <a:r>
              <a:rPr sz="2100">
                <a:solidFill>
                  <a:srgbClr val="3D2806"/>
                </a:solidFill>
                <a:latin typeface="Yu Gothic"/>
                <a:ea typeface="Yu Gothic"/>
                <a:cs typeface="Yu Gothic"/>
              </a:rPr>
              <a:t>。</a:t>
            </a:r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DA4A4D2F-C7B2-4C7F-A5A3-073EB0ED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7789545"/>
            <a:ext cx="7827264" cy="1078992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DECE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186D9D9C-5C7C-4703-83CB-454FA0E2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7789545"/>
            <a:ext cx="54864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36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F7728F1D-3693-4273-91C6-909F9668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8100441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36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E8D77CF6-F1EE-4FDC-B3D3-4F48E060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8100441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3B8220D5-241B-4ADB-877A-5F594775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7880985"/>
            <a:ext cx="6821424" cy="896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>
                <a:solidFill>
                  <a:srgbClr val="7A2D1D"/>
                </a:solidFill>
                <a:latin typeface="Yu Gothic"/>
                <a:ea typeface="Yu Gothic"/>
                <a:cs typeface="Yu Gothic"/>
              </a:rPr>
              <a:t>息切れやめまいを感じたら中止し、座って深呼吸して休みましょう。</a:t>
            </a:r>
          </a:p>
        </p:txBody>
      </p:sp>
      <p:pic>
        <p:nvPicPr>
          <p:cNvPr id="79" name="図 4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43cad390a864b23"/>
          <a:srcRect xmlns:a="http://schemas.openxmlformats.org/drawingml/2006/main" l="19170" t="0" r="20457" b="24129"/>
          <a:stretch xmlns:a="http://schemas.openxmlformats.org/drawingml/2006/main"/>
        </p:blipFill>
        <p:spPr>
          <a:xfrm xmlns:a="http://schemas.openxmlformats.org/drawingml/2006/main">
            <a:off x="918327" y="2818752"/>
            <a:ext cx="7751782" cy="5477027"/>
          </a:xfrm>
          <a:prstGeom xmlns:a="http://schemas.openxmlformats.org/drawingml/2006/main" prst="rect">
            <a:avLst/>
          </a:prstGeom>
        </p:spPr>
      </p:pic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27F85D4C-3EDE-45EF-91C3-2327563E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9052560"/>
            <a:ext cx="1609344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334155"/>
                </a:solidFill>
                <a:latin typeface="Yu Gothic"/>
                <a:ea typeface="Yu Gothic"/>
                <a:cs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  <a:ea typeface="Yu Gothic"/>
                <a:cs typeface="Yu Gothic"/>
              </a:rPr>
              <a:t>手足を一緒に動かし、歩くリズムと持久力を保ちます。</a:t>
            </a:r>
          </a:p>
        </p:txBody>
      </p:sp>
    </p:spTree>
    <p:extLst>
      <p:ext uri="{BB962C8B-B14F-4D97-AF65-F5344CB8AC3E}">
        <p14:creationId xmlns:p14="http://schemas.microsoft.com/office/powerpoint/2010/main" val="12245394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5D09150-2AB1-4FF2-B367-59A722C1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687068"/>
            <a:ext cx="16194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1114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F2C7DF5-00A1-4AB4-88CE-E6BDB13C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603" y="727023"/>
            <a:ext cx="100584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500" b="1">
                <a:solidFill>
                  <a:srgbClr val="111418"/>
                </a:solidFill>
                <a:latin typeface="Yu Gothic"/>
                <a:ea typeface="Yu Gothic"/>
                <a:cs typeface="Yu Gothic"/>
              </a:rPr>
              <a:t>椅子から立つ・座る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B3600FBE-8302-4146-AC1F-19AA2CF74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2384" y="1810512"/>
            <a:ext cx="2743200" cy="1152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1556D8D-5512-4825-A425-70F6CBD3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6976" y="1938528"/>
            <a:ext cx="241401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50">
                <a:solidFill>
                  <a:srgbClr val="6B7480"/>
                </a:solidFill>
                <a:latin typeface="Georgia"/>
                <a:ea typeface="Georgia"/>
                <a:cs typeface="Georgia"/>
              </a:rPr>
              <a:t>回数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D83F6D0-CA4D-4845-A8C9-77376EE3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6976" y="2313432"/>
            <a:ext cx="241401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10回</a:t>
            </a:r>
            <a:r>
              <a:rPr sz="25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×1</a:t>
            </a:r>
            <a:r>
              <a:rPr sz="25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セット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1E5701DB-5E47-40F2-AF57-F9B59158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718" y="2674620"/>
            <a:ext cx="8791001" cy="5765292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EAF1F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7EE04E6-8233-4ABC-A695-ED8AFAF1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2678049"/>
            <a:ext cx="782726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>
                <a:solidFill>
                  <a:srgbClr val="6B7480"/>
                </a:solidFill>
                <a:latin typeface="Yu Gothic"/>
                <a:ea typeface="Yu Gothic"/>
                <a:cs typeface="Yu Gothic"/>
              </a:rPr>
              <a:t>手順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68996118-EEE0-4D19-8A7B-F8E27388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3345561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6E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F16E21F0-A33A-4CE7-84C6-7F85245E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3345561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6556C53F-F710-4141-9244-9B239E6F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120" y="3226689"/>
            <a:ext cx="7141464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>
                <a:solidFill>
                  <a:srgbClr val="111418"/>
                </a:solidFill>
                <a:latin typeface="Yu Gothic"/>
                <a:ea typeface="Yu Gothic"/>
                <a:cs typeface="Yu Gothic"/>
              </a:rPr>
              <a:t>椅子に浅めに座り、</a:t>
            </a:r>
            <a:r>
              <a:rPr sz="2100" b="1">
                <a:solidFill>
                  <a:srgbClr val="264A75"/>
                </a:solidFill>
                <a:latin typeface="Yu Gothic"/>
                <a:ea typeface="Yu Gothic"/>
                <a:cs typeface="Yu Gothic"/>
              </a:rPr>
              <a:t>両足を肩幅に</a:t>
            </a:r>
            <a:r>
              <a:rPr sz="2100">
                <a:solidFill>
                  <a:srgbClr val="111418"/>
                </a:solidFill>
                <a:latin typeface="Yu Gothic"/>
                <a:ea typeface="Yu Gothic"/>
                <a:cs typeface="Yu Gothic"/>
              </a:rPr>
              <a:t>開きます。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E83B8304-C27D-48C7-B1A6-8F9E4E8F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4122801"/>
            <a:ext cx="78272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3E6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82B7D5C6-376C-4AFB-969E-C511F916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4305681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6E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40B0A9D-37DD-415A-90D3-7121ABCF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4305681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B3ABB988-FF1A-499E-B748-AAB8518A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120" y="4186809"/>
            <a:ext cx="7690394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>
                <a:solidFill>
                  <a:srgbClr val="111418"/>
                </a:solidFill>
                <a:latin typeface="Yu Gothic"/>
                <a:ea typeface="Yu Gothic"/>
                <a:cs typeface="Yu Gothic"/>
              </a:rPr>
              <a:t>お辞儀をするように体を前に傾け、</a:t>
            </a:r>
            <a:r>
              <a:rPr sz="2100" b="1">
                <a:solidFill>
                  <a:srgbClr val="264A75"/>
                </a:solidFill>
                <a:latin typeface="Yu Gothic"/>
                <a:ea typeface="Yu Gothic"/>
                <a:cs typeface="Yu Gothic"/>
              </a:rPr>
              <a:t>ゆっくり立ち上がります</a:t>
            </a:r>
            <a:r>
              <a:rPr sz="2100">
                <a:solidFill>
                  <a:srgbClr val="111418"/>
                </a:solidFill>
                <a:latin typeface="Yu Gothic"/>
                <a:ea typeface="Yu Gothic"/>
                <a:cs typeface="Yu Gothic"/>
              </a:rPr>
              <a:t>。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0B22CAD3-5092-481F-94C6-A50BE1AB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5082921"/>
            <a:ext cx="78272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3E6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E3329CCA-CCEF-4F97-8681-BA0C05E8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5265801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6EA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2853621-5E6C-4AEA-A611-4C116C37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5265801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800F5A5-EBAD-4CDF-920B-7F23C126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120" y="5146929"/>
            <a:ext cx="7141464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 b="1">
                <a:solidFill>
                  <a:srgbClr val="264A75"/>
                </a:solidFill>
                <a:latin typeface="Yu Gothic"/>
                <a:ea typeface="Yu Gothic"/>
                <a:cs typeface="Yu Gothic"/>
              </a:rPr>
              <a:t>ゆっくり座ります</a:t>
            </a:r>
            <a:r>
              <a:rPr sz="2100">
                <a:solidFill>
                  <a:srgbClr val="111418"/>
                </a:solidFill>
                <a:latin typeface="Yu Gothic"/>
                <a:ea typeface="Yu Gothic"/>
                <a:cs typeface="Yu Gothic"/>
              </a:rPr>
              <a:t>。10回くり返しましょう。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87433BFF-DA60-4052-909C-FD6261D4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6043041"/>
            <a:ext cx="78272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3E6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5B8010E0-A7BC-4CEA-8B7D-F39323C8D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6564249"/>
            <a:ext cx="7827264" cy="1078992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AF1D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113B0FC9-CBF9-43D0-B0E5-CB526DF3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6893433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A2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D3F22AC6-D250-4548-9F4B-711D8424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6893433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◎</a:t>
            </a:r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165B543B-4B24-4ADC-AA13-45A663AC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704" y="6655689"/>
            <a:ext cx="6858000" cy="896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>
                <a:solidFill>
                  <a:srgbClr val="3D2806"/>
                </a:solidFill>
                <a:latin typeface="Yu Gothic"/>
                <a:ea typeface="Yu Gothic"/>
                <a:cs typeface="Yu Gothic"/>
              </a:rPr>
              <a:t>勢いをつけずに「ゆっくり立つ・ゆっくり座る」が</a:t>
            </a:r>
            <a:r>
              <a:rPr sz="2100">
                <a:solidFill>
                  <a:srgbClr val="3D2806"/>
                </a:solidFill>
                <a:latin typeface="Yu Gothic"/>
                <a:ea typeface="Yu Gothic"/>
                <a:cs typeface="Yu Gothic"/>
              </a:rPr>
              <a:t>、</a:t>
            </a:r>
          </a:p>
          <a:p xmlns:a="http://schemas.openxmlformats.org/drawingml/2006/main">
            <a:pPr marL="0" indent="0" algn="l">
              <a:buNone/>
            </a:pPr>
            <a:r>
              <a:rPr sz="2100">
                <a:solidFill>
                  <a:srgbClr val="3D2806"/>
                </a:solidFill>
                <a:latin typeface="Yu Gothic"/>
                <a:ea typeface="Yu Gothic"/>
                <a:cs typeface="Yu Gothic"/>
              </a:rPr>
              <a:t>効率の良いトレーニングです</a:t>
            </a:r>
            <a:r>
              <a:rPr sz="2100">
                <a:solidFill>
                  <a:srgbClr val="3D2806"/>
                </a:solidFill>
                <a:latin typeface="Yu Gothic"/>
                <a:ea typeface="Yu Gothic"/>
                <a:cs typeface="Yu Gothic"/>
              </a:rPr>
              <a:t>。</a:t>
            </a:r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6A367C77-932E-401C-96E8-C4909F30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7789545"/>
            <a:ext cx="7827264" cy="1078992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DECE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76D4D0C2-5067-4075-A4F3-4D03ACCD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7789545"/>
            <a:ext cx="54864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36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8A7455C6-4FA3-49F6-AED8-421B3CCF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8100441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36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FE3DE75A-35F5-43D0-977F-744F256F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8100441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6FA5E8DA-E745-49F4-B1BA-60081E1B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7880985"/>
            <a:ext cx="6821424" cy="896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>
                <a:solidFill>
                  <a:srgbClr val="7A2D1D"/>
                </a:solidFill>
                <a:latin typeface="Yu Gothic"/>
                <a:ea typeface="Yu Gothic"/>
                <a:cs typeface="Yu Gothic"/>
              </a:rPr>
              <a:t>ふらつく時は必ずテーブルや手すりにつかまり、安全を確保しましょう。</a:t>
            </a:r>
          </a:p>
        </p:txBody>
      </p:sp>
      <p:pic>
        <p:nvPicPr>
          <p:cNvPr id="79" name="図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039e8b12fc43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8493" y="2818752"/>
            <a:ext cx="8351450" cy="5477027"/>
          </a:xfrm>
          <a:prstGeom xmlns:a="http://schemas.openxmlformats.org/drawingml/2006/main" prst="rect">
            <a:avLst/>
          </a:prstGeom>
        </p:spPr>
      </p:pic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2E101A0C-70C2-435E-82F0-79E9A5F5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9052560"/>
            <a:ext cx="1609344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334155"/>
                </a:solidFill>
                <a:latin typeface="Yu Gothic"/>
                <a:ea typeface="Yu Gothic"/>
                <a:cs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  <a:ea typeface="Yu Gothic"/>
                <a:cs typeface="Yu Gothic"/>
              </a:rPr>
              <a:t>立ち座りの力を高め、生活動作を楽にします。</a:t>
            </a:r>
          </a:p>
        </p:txBody>
      </p:sp>
    </p:spTree>
    <p:extLst>
      <p:ext uri="{BB962C8B-B14F-4D97-AF65-F5344CB8AC3E}">
        <p14:creationId xmlns:p14="http://schemas.microsoft.com/office/powerpoint/2010/main" val="176814779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2026-07-13T22:12:34.5980000Z</dcterms:created>
  <dcterms:modified xsi:type="dcterms:W3CDTF">2026-07-13T22:12:34.5980000Z</dcterms:modified>
</coreProperties>
</file>